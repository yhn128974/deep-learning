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8.xml" ContentType="application/vnd.openxmlformats-officedocument.theme+xml"/>
  <Override PartName="/ppt/slideLayouts/slideLayout60.xml" ContentType="application/vnd.openxmlformats-officedocument.presentationml.slideLayout+xml"/>
  <Override PartName="/ppt/theme/theme9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10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0" r:id="rId3"/>
    <p:sldMasterId id="2147483664" r:id="rId4"/>
    <p:sldMasterId id="2147483666" r:id="rId5"/>
    <p:sldMasterId id="2147483669" r:id="rId6"/>
    <p:sldMasterId id="2147483691" r:id="rId7"/>
    <p:sldMasterId id="2147483703" r:id="rId8"/>
    <p:sldMasterId id="2147483715" r:id="rId9"/>
    <p:sldMasterId id="2147483717" r:id="rId10"/>
    <p:sldMasterId id="2147483736" r:id="rId11"/>
  </p:sldMasterIdLst>
  <p:notesMasterIdLst>
    <p:notesMasterId r:id="rId107"/>
  </p:notesMasterIdLst>
  <p:handoutMasterIdLst>
    <p:handoutMasterId r:id="rId108"/>
  </p:handoutMasterIdLst>
  <p:sldIdLst>
    <p:sldId id="462" r:id="rId12"/>
    <p:sldId id="1678" r:id="rId13"/>
    <p:sldId id="1570" r:id="rId14"/>
    <p:sldId id="1762" r:id="rId15"/>
    <p:sldId id="479" r:id="rId16"/>
    <p:sldId id="1568" r:id="rId17"/>
    <p:sldId id="1814" r:id="rId18"/>
    <p:sldId id="1761" r:id="rId19"/>
    <p:sldId id="1663" r:id="rId20"/>
    <p:sldId id="1572" r:id="rId21"/>
    <p:sldId id="1573" r:id="rId22"/>
    <p:sldId id="1664" r:id="rId23"/>
    <p:sldId id="1574" r:id="rId24"/>
    <p:sldId id="1575" r:id="rId25"/>
    <p:sldId id="1665" r:id="rId26"/>
    <p:sldId id="1576" r:id="rId27"/>
    <p:sldId id="1577" r:id="rId28"/>
    <p:sldId id="1578" r:id="rId29"/>
    <p:sldId id="1666" r:id="rId30"/>
    <p:sldId id="1579" r:id="rId31"/>
    <p:sldId id="1580" r:id="rId32"/>
    <p:sldId id="1582" r:id="rId33"/>
    <p:sldId id="1592" r:id="rId34"/>
    <p:sldId id="1593" r:id="rId35"/>
    <p:sldId id="1594" r:id="rId36"/>
    <p:sldId id="1667" r:id="rId37"/>
    <p:sldId id="1595" r:id="rId38"/>
    <p:sldId id="1668" r:id="rId39"/>
    <p:sldId id="1596" r:id="rId40"/>
    <p:sldId id="1597" r:id="rId41"/>
    <p:sldId id="1598" r:id="rId42"/>
    <p:sldId id="1669" r:id="rId43"/>
    <p:sldId id="1583" r:id="rId44"/>
    <p:sldId id="1584" r:id="rId45"/>
    <p:sldId id="1585" r:id="rId46"/>
    <p:sldId id="1670" r:id="rId47"/>
    <p:sldId id="1586" r:id="rId48"/>
    <p:sldId id="1671" r:id="rId49"/>
    <p:sldId id="1587" r:id="rId50"/>
    <p:sldId id="1588" r:id="rId51"/>
    <p:sldId id="1591" r:id="rId52"/>
    <p:sldId id="1619" r:id="rId53"/>
    <p:sldId id="1620" r:id="rId54"/>
    <p:sldId id="1672" r:id="rId55"/>
    <p:sldId id="1622" r:id="rId56"/>
    <p:sldId id="1623" r:id="rId57"/>
    <p:sldId id="1673" r:id="rId58"/>
    <p:sldId id="1604" r:id="rId59"/>
    <p:sldId id="1605" r:id="rId60"/>
    <p:sldId id="1606" r:id="rId61"/>
    <p:sldId id="1674" r:id="rId62"/>
    <p:sldId id="1607" r:id="rId63"/>
    <p:sldId id="1608" r:id="rId64"/>
    <p:sldId id="1610" r:id="rId65"/>
    <p:sldId id="1675" r:id="rId66"/>
    <p:sldId id="1611" r:id="rId67"/>
    <p:sldId id="1612" r:id="rId68"/>
    <p:sldId id="1614" r:id="rId69"/>
    <p:sldId id="1615" r:id="rId70"/>
    <p:sldId id="1616" r:id="rId71"/>
    <p:sldId id="1617" r:id="rId72"/>
    <p:sldId id="1618" r:id="rId73"/>
    <p:sldId id="1613" r:id="rId74"/>
    <p:sldId id="1599" r:id="rId75"/>
    <p:sldId id="1600" r:id="rId76"/>
    <p:sldId id="1601" r:id="rId77"/>
    <p:sldId id="1846" r:id="rId78"/>
    <p:sldId id="1603" r:id="rId79"/>
    <p:sldId id="1624" r:id="rId80"/>
    <p:sldId id="1625" r:id="rId81"/>
    <p:sldId id="1626" r:id="rId82"/>
    <p:sldId id="1627" r:id="rId83"/>
    <p:sldId id="1874" r:id="rId84"/>
    <p:sldId id="1867" r:id="rId85"/>
    <p:sldId id="1868" r:id="rId86"/>
    <p:sldId id="1869" r:id="rId87"/>
    <p:sldId id="1821" r:id="rId88"/>
    <p:sldId id="1873" r:id="rId89"/>
    <p:sldId id="1870" r:id="rId90"/>
    <p:sldId id="1871" r:id="rId91"/>
    <p:sldId id="1866" r:id="rId92"/>
    <p:sldId id="1621" r:id="rId93"/>
    <p:sldId id="1653" r:id="rId94"/>
    <p:sldId id="1654" r:id="rId95"/>
    <p:sldId id="1661" r:id="rId96"/>
    <p:sldId id="1655" r:id="rId97"/>
    <p:sldId id="1677" r:id="rId98"/>
    <p:sldId id="1656" r:id="rId99"/>
    <p:sldId id="1662" r:id="rId100"/>
    <p:sldId id="1657" r:id="rId101"/>
    <p:sldId id="1658" r:id="rId102"/>
    <p:sldId id="1659" r:id="rId103"/>
    <p:sldId id="1660" r:id="rId104"/>
    <p:sldId id="1872" r:id="rId105"/>
    <p:sldId id="264" r:id="rId106"/>
  </p:sldIdLst>
  <p:sldSz cx="12192000" cy="6858000"/>
  <p:notesSz cx="6858000" cy="9144000"/>
  <p:custDataLst>
    <p:tags r:id="rId10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4" autoAdjust="0"/>
    <p:restoredTop sz="95344" autoAdjust="0"/>
  </p:normalViewPr>
  <p:slideViewPr>
    <p:cSldViewPr snapToGrid="0" showGuides="1">
      <p:cViewPr varScale="1">
        <p:scale>
          <a:sx n="110" d="100"/>
          <a:sy n="110" d="100"/>
        </p:scale>
        <p:origin x="308" y="72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12" Type="http://schemas.openxmlformats.org/officeDocument/2006/relationships/viewProps" Target="viewProps.xml"/><Relationship Id="rId16" Type="http://schemas.openxmlformats.org/officeDocument/2006/relationships/slide" Target="slides/slide5.xml"/><Relationship Id="rId107" Type="http://schemas.openxmlformats.org/officeDocument/2006/relationships/notesMaster" Target="notesMasters/notesMaster1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theme" Target="theme/theme1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6" Type="http://schemas.openxmlformats.org/officeDocument/2006/relationships/slide" Target="slides/slide95.xml"/><Relationship Id="rId114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tags" Target="tags/tag1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commentAuthors" Target="commentAuthors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2026/2/1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6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4.png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tuna.tsinghua.edu.cn/simple" TargetMode="External"/><Relationship Id="rId2" Type="http://schemas.openxmlformats.org/officeDocument/2006/relationships/hyperlink" Target="https://pytorch.org/get-started/locally/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hyperlink" Target="https://download.pytorch.org/whl/cu12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en-US" altLang="zh-CN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PyTorch</a:t>
            </a:r>
            <a:r>
              <a:rPr lang="zh-CN" altLang="en-US" sz="6600" dirty="0" err="1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框架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什么是</a:t>
            </a:r>
            <a:r>
              <a:rPr lang="en-US" altLang="zh-CN" dirty="0" err="1"/>
              <a:t>PyTorch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57271"/>
            <a:ext cx="10699115" cy="4950976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一个基于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语言的深度学习框架，将数据封装成 张量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进行处理。</a:t>
            </a:r>
          </a:p>
          <a:p>
            <a:r>
              <a:rPr lang="en-US" altLang="zh-CN" dirty="0" err="1"/>
              <a:t>PyTorch</a:t>
            </a:r>
            <a:r>
              <a:rPr lang="zh-CN" altLang="en-US" dirty="0"/>
              <a:t>广泛应用于学术研究和工业界，特别是在计算机视觉、自然语言处理、强化学习等领域。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PyTorch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的安装：参考</a:t>
            </a:r>
            <a:r>
              <a:rPr lang="en-US" altLang="zh-CN" dirty="0">
                <a:hlinkClick r:id="rId2"/>
              </a:rPr>
              <a:t>Get Started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CPU:	pip3 install torch -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i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rgbClr val="333333"/>
                </a:solidFill>
                <a:latin typeface="Helvetica Neue"/>
                <a:hlinkClick r:id="rId3"/>
              </a:rPr>
              <a:t>https://pypi.tuna.tsinghua.edu.cn/simple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英伟达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GPU:	pip3 install torch 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torchvision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--index-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url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rgbClr val="333333"/>
                </a:solidFill>
                <a:latin typeface="Helvetica Neue"/>
                <a:hlinkClick r:id="rId4"/>
              </a:rPr>
              <a:t>https://download.pytorch.org/whl/cu126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	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542" y="2443744"/>
            <a:ext cx="5927090" cy="2225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 err="1"/>
              <a:t>发展历史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05" y="2105660"/>
            <a:ext cx="8585200" cy="4538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9460" y="1457325"/>
            <a:ext cx="85852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2016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Facebook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正式发布了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的第一个版本。</a:t>
            </a:r>
          </a:p>
          <a:p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2018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年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PyTorch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发布了</a:t>
            </a:r>
            <a:r>
              <a:rPr lang="en-US" altLang="zh-CN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1.0</a:t>
            </a:r>
            <a:r>
              <a:rPr lang="zh-CN" altLang="en-US" sz="1600"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版本，标志着其正式进入生产级应用阶段。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dirty="0"/>
              <a:t> </a:t>
            </a:r>
            <a:r>
              <a:rPr lang="zh-CN" altLang="en-US" dirty="0"/>
              <a:t>对比 </a:t>
            </a:r>
            <a:r>
              <a:rPr lang="en-US" altLang="zh-CN" dirty="0"/>
              <a:t>TensorFlow</a:t>
            </a:r>
            <a:endParaRPr dirty="0" err="1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482030-CD46-B7BE-DD5C-0BA82F064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915945"/>
              </p:ext>
            </p:extLst>
          </p:nvPr>
        </p:nvGraphicFramePr>
        <p:xfrm>
          <a:off x="2467429" y="1814237"/>
          <a:ext cx="7099768" cy="3916495"/>
        </p:xfrm>
        <a:graphic>
          <a:graphicData uri="http://schemas.openxmlformats.org/drawingml/2006/table">
            <a:tbl>
              <a:tblPr/>
              <a:tblGrid>
                <a:gridCol w="1042168">
                  <a:extLst>
                    <a:ext uri="{9D8B030D-6E8A-4147-A177-3AD203B41FA5}">
                      <a16:colId xmlns:a16="http://schemas.microsoft.com/office/drawing/2014/main" val="4286684207"/>
                    </a:ext>
                  </a:extLst>
                </a:gridCol>
                <a:gridCol w="3321910">
                  <a:extLst>
                    <a:ext uri="{9D8B030D-6E8A-4147-A177-3AD203B41FA5}">
                      <a16:colId xmlns:a16="http://schemas.microsoft.com/office/drawing/2014/main" val="4228006795"/>
                    </a:ext>
                  </a:extLst>
                </a:gridCol>
                <a:gridCol w="2735690">
                  <a:extLst>
                    <a:ext uri="{9D8B030D-6E8A-4147-A177-3AD203B41FA5}">
                      <a16:colId xmlns:a16="http://schemas.microsoft.com/office/drawing/2014/main" val="1971581698"/>
                    </a:ext>
                  </a:extLst>
                </a:gridCol>
              </a:tblGrid>
              <a:tr h="30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1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框架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en-US" sz="1400" b="1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PyTorch</a:t>
                      </a:r>
                      <a:endParaRPr lang="en-US" sz="1400" b="1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TensorFlow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17175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风格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Python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式写法，代码直观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静态图 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en-US" altLang="zh-CN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Keras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，相对复杂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648955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计算模式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动态计算图（即时执行）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静态计算图（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TF1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动态（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TF2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），体系较重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201079"/>
                  </a:ext>
                </a:extLst>
              </a:tr>
              <a:tr h="3093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学习成本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低，初学者更容易上手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  <a:endParaRPr lang="en-US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838741"/>
                  </a:ext>
                </a:extLst>
              </a:tr>
              <a:tr h="934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代码示例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import </a:t>
                      </a:r>
                      <a:r>
                        <a:rPr lang="en-US" altLang="zh-CN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torch.nn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as </a:t>
                      </a:r>
                      <a:r>
                        <a:rPr lang="en-US" altLang="zh-CN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nn</a:t>
                      </a:r>
                      <a:endParaRPr lang="en-US" altLang="zh-CN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linear = </a:t>
                      </a:r>
                      <a:r>
                        <a:rPr lang="en-US" altLang="zh-CN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nn.Linear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(10, 5)</a:t>
                      </a:r>
                      <a:endParaRPr lang="zh-CN" altLang="en-US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import </a:t>
                      </a:r>
                      <a:r>
                        <a:rPr lang="en-US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tensorflow</a:t>
                      </a: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as </a:t>
                      </a:r>
                      <a:r>
                        <a:rPr lang="en-US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</a:t>
                      </a:r>
                      <a:endParaRPr lang="en-US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dense = </a:t>
                      </a:r>
                      <a:r>
                        <a:rPr lang="en-US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tf.keras.layers.Dense</a:t>
                      </a: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(5, </a:t>
                      </a:r>
                      <a:r>
                        <a:rPr lang="en-US" sz="1400" b="0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input_shape</a:t>
                      </a: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=(10,))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149139"/>
                  </a:ext>
                </a:extLst>
              </a:tr>
              <a:tr h="12624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特点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类似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NumPy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的张量计算</a:t>
                      </a:r>
                    </a:p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自动微分系统</a:t>
                      </a:r>
                    </a:p>
                    <a:p>
                      <a:pPr algn="l">
                        <a:buNone/>
                      </a:pPr>
                      <a:r>
                        <a:rPr lang="zh-CN" altLang="en-US" sz="1400" b="1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动态计算图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GPU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加速（</a:t>
                      </a:r>
                      <a:r>
                        <a:rPr lang="en-US" altLang="zh-CN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CUDA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支持）</a:t>
                      </a:r>
                    </a:p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跨平台支持</a:t>
                      </a:r>
                      <a:endParaRPr lang="en-US" altLang="zh-CN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400" b="1" i="0" baseline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huggingface</a:t>
                      </a:r>
                      <a:r>
                        <a:rPr lang="zh-CN" altLang="en-US" sz="1400" b="1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原生支持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传统工业部署体系成熟</a:t>
                      </a:r>
                      <a:endParaRPr lang="en-US" altLang="zh-CN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API</a:t>
                      </a:r>
                      <a:r>
                        <a:rPr lang="zh-CN" altLang="en-US" sz="1400" b="0" i="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相对复杂</a:t>
                      </a:r>
                      <a:endParaRPr lang="en-US" sz="1400" b="0" i="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23085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649EF48C-C134-142D-5239-97E37EB00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39" y="1814237"/>
            <a:ext cx="302816" cy="3313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90EFAD-47DC-76F1-4F18-B7731C4B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363" y="1814237"/>
            <a:ext cx="317516" cy="336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1609" y="1261249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知道线性和随机张量的创建方法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</a:t>
            </a:r>
            <a:r>
              <a:rPr lang="en-US" altLang="zh-CN" dirty="0">
                <a:solidFill>
                  <a:schemeClr val="tx1"/>
                </a:solidFill>
              </a:rPr>
              <a:t>0-1</a:t>
            </a:r>
            <a:r>
              <a:rPr lang="zh-CN" altLang="en-US" dirty="0">
                <a:solidFill>
                  <a:schemeClr val="tx1"/>
                </a:solidFill>
              </a:rPr>
              <a:t>张量的创建方法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知道张量元素类型的转换方法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5D92-A9C3-D63C-3E14-43276871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F2AD0E-518F-B7C7-B1AE-4809B53EC7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847" y="794145"/>
            <a:ext cx="11380272" cy="9939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什么是张量？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张量是一种用于存储多维数组的数据结构，类似于 </a:t>
            </a:r>
            <a:r>
              <a:rPr lang="en-US" altLang="zh-CN" dirty="0">
                <a:solidFill>
                  <a:schemeClr val="tx1"/>
                </a:solidFill>
              </a:rPr>
              <a:t>NumPy </a:t>
            </a:r>
            <a:r>
              <a:rPr lang="zh-CN" altLang="en-US" dirty="0">
                <a:solidFill>
                  <a:schemeClr val="tx1"/>
                </a:solidFill>
              </a:rPr>
              <a:t>的多维数组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2B5E71-0909-555B-2AAF-EAE69B106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32" y="2142678"/>
            <a:ext cx="5189268" cy="216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9004317-8606-B775-AD3D-8DA4FACE5D6D}"/>
              </a:ext>
            </a:extLst>
          </p:cNvPr>
          <p:cNvPicPr>
            <a:picLocks/>
          </p:cNvPicPr>
          <p:nvPr/>
        </p:nvPicPr>
        <p:blipFill>
          <a:blip r:embed="rId4"/>
          <a:srcRect l="27667" t="23468" r="48398" b="1823"/>
          <a:stretch>
            <a:fillRect/>
          </a:stretch>
        </p:blipFill>
        <p:spPr>
          <a:xfrm>
            <a:off x="6343618" y="2270039"/>
            <a:ext cx="1736592" cy="17571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E1311FB-6FAE-F051-84CA-E5999B2D9C0D}"/>
              </a:ext>
            </a:extLst>
          </p:cNvPr>
          <p:cNvSpPr txBox="1"/>
          <p:nvPr/>
        </p:nvSpPr>
        <p:spPr>
          <a:xfrm>
            <a:off x="2095120" y="2204862"/>
            <a:ext cx="6805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向量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CE9E98-6EFE-A5F9-4255-F24E4E50AF41}"/>
              </a:ext>
            </a:extLst>
          </p:cNvPr>
          <p:cNvSpPr txBox="1"/>
          <p:nvPr/>
        </p:nvSpPr>
        <p:spPr>
          <a:xfrm>
            <a:off x="525847" y="4384883"/>
            <a:ext cx="12832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- </a:t>
            </a:r>
            <a:r>
              <a:rPr lang="zh-CN" altLang="en-US" sz="1200" dirty="0"/>
              <a:t>气温 </a:t>
            </a:r>
            <a:r>
              <a:rPr lang="en-US" altLang="zh-CN" sz="1200" dirty="0"/>
              <a:t>25℃</a:t>
            </a:r>
          </a:p>
          <a:p>
            <a:r>
              <a:rPr lang="en-US" altLang="zh-CN" sz="1200" dirty="0"/>
              <a:t>- </a:t>
            </a:r>
            <a:r>
              <a:rPr lang="zh-CN" altLang="en-US" sz="1200" dirty="0"/>
              <a:t>体重 </a:t>
            </a:r>
            <a:r>
              <a:rPr lang="en-US" altLang="zh-CN" sz="1200" dirty="0"/>
              <a:t>60 </a:t>
            </a:r>
            <a:r>
              <a:rPr lang="zh-CN" altLang="en-US" sz="1200" dirty="0"/>
              <a:t>公斤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DDF03F-1D1F-637A-A4AF-F1C216419024}"/>
              </a:ext>
            </a:extLst>
          </p:cNvPr>
          <p:cNvSpPr txBox="1"/>
          <p:nvPr/>
        </p:nvSpPr>
        <p:spPr>
          <a:xfrm>
            <a:off x="1544241" y="4397330"/>
            <a:ext cx="1605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-</a:t>
            </a:r>
            <a:r>
              <a:rPr lang="zh-CN" altLang="en-US" sz="1200" dirty="0"/>
              <a:t>数学 </a:t>
            </a:r>
            <a:r>
              <a:rPr lang="en-US" altLang="zh-CN" sz="1200" dirty="0"/>
              <a:t>90,</a:t>
            </a:r>
            <a:r>
              <a:rPr lang="zh-CN" altLang="en-US" sz="1200" dirty="0"/>
              <a:t> 语文 </a:t>
            </a:r>
            <a:r>
              <a:rPr lang="en-US" altLang="zh-CN" sz="1200" dirty="0"/>
              <a:t>85,</a:t>
            </a:r>
            <a:r>
              <a:rPr lang="zh-CN" altLang="en-US" sz="1200" dirty="0"/>
              <a:t> 英语 </a:t>
            </a:r>
            <a:r>
              <a:rPr lang="en-US" altLang="zh-CN" sz="1200" dirty="0"/>
              <a:t>95,</a:t>
            </a:r>
            <a:r>
              <a:rPr lang="zh-CN" altLang="en-US" sz="1200" dirty="0"/>
              <a:t> </a:t>
            </a:r>
            <a:r>
              <a:rPr lang="en-US" altLang="zh-CN" sz="1200" dirty="0"/>
              <a:t>[90, 85, 95]</a:t>
            </a:r>
          </a:p>
          <a:p>
            <a:r>
              <a:rPr lang="en-US" altLang="zh-CN" sz="1200" dirty="0"/>
              <a:t>- </a:t>
            </a:r>
            <a:r>
              <a:rPr lang="zh-CN" altLang="en-US" sz="1200" dirty="0"/>
              <a:t>单支股票价格</a:t>
            </a:r>
            <a:r>
              <a:rPr lang="en-US" altLang="zh-CN" sz="1200" dirty="0"/>
              <a:t>, [10, 9, 8, 7,…]</a:t>
            </a:r>
            <a:endParaRPr lang="zh-CN" altLang="en-US" sz="12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8A4601-CA83-5F66-29B5-120CBD3717AA}"/>
              </a:ext>
            </a:extLst>
          </p:cNvPr>
          <p:cNvPicPr>
            <a:picLocks/>
          </p:cNvPicPr>
          <p:nvPr/>
        </p:nvPicPr>
        <p:blipFill>
          <a:blip r:embed="rId4"/>
          <a:srcRect l="60621" t="23468" b="1823"/>
          <a:stretch>
            <a:fillRect/>
          </a:stretch>
        </p:blipFill>
        <p:spPr>
          <a:xfrm>
            <a:off x="8211712" y="2270039"/>
            <a:ext cx="2857179" cy="175711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C2E7698-CAC4-677B-EB9D-3CD6603D74F8}"/>
              </a:ext>
            </a:extLst>
          </p:cNvPr>
          <p:cNvSpPr txBox="1"/>
          <p:nvPr/>
        </p:nvSpPr>
        <p:spPr>
          <a:xfrm>
            <a:off x="3121930" y="4397330"/>
            <a:ext cx="16059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- </a:t>
            </a:r>
            <a:r>
              <a:rPr lang="zh-CN" altLang="en-US" sz="1200" dirty="0"/>
              <a:t>多个学生成绩</a:t>
            </a:r>
            <a:r>
              <a:rPr lang="en-US" altLang="zh-CN" sz="1200" dirty="0"/>
              <a:t>,</a:t>
            </a:r>
            <a:r>
              <a:rPr lang="zh-CN" altLang="en-US" sz="1200" dirty="0"/>
              <a:t> </a:t>
            </a:r>
            <a:endParaRPr lang="en-US" altLang="zh-CN" sz="1200" dirty="0"/>
          </a:p>
          <a:p>
            <a:r>
              <a:rPr lang="en-US" altLang="zh-CN" sz="1200" dirty="0"/>
              <a:t>[[90, 85, 95], [90, 85, 95],…]</a:t>
            </a:r>
          </a:p>
          <a:p>
            <a:r>
              <a:rPr lang="en-US" altLang="zh-CN" sz="1200" dirty="0"/>
              <a:t>- </a:t>
            </a:r>
            <a:r>
              <a:rPr lang="zh-CN" altLang="en-US" sz="1200" dirty="0"/>
              <a:t>多个股票价格</a:t>
            </a:r>
            <a:r>
              <a:rPr lang="en-US" altLang="zh-CN" sz="1200" dirty="0"/>
              <a:t>, </a:t>
            </a:r>
          </a:p>
          <a:p>
            <a:r>
              <a:rPr lang="en-US" altLang="zh-CN" sz="1200" dirty="0"/>
              <a:t>[[10, 9, 8, 7,…], [10, 9, 8, 7,…], …]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F394B2-BE9C-FDA8-858E-CFDC4E8F4D4B}"/>
              </a:ext>
            </a:extLst>
          </p:cNvPr>
          <p:cNvSpPr txBox="1"/>
          <p:nvPr/>
        </p:nvSpPr>
        <p:spPr>
          <a:xfrm>
            <a:off x="4860111" y="4426437"/>
            <a:ext cx="1445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- </a:t>
            </a:r>
            <a:r>
              <a:rPr lang="zh-CN" altLang="en-US" sz="1200" dirty="0"/>
              <a:t>一张图片</a:t>
            </a:r>
            <a:r>
              <a:rPr lang="en-US" altLang="zh-CN" sz="1200" dirty="0"/>
              <a:t>HWC</a:t>
            </a:r>
            <a:r>
              <a:rPr lang="zh-CN" altLang="en-US" sz="1200" dirty="0"/>
              <a:t>，形状</a:t>
            </a:r>
            <a:r>
              <a:rPr lang="en-US" altLang="zh-CN" sz="1200" dirty="0"/>
              <a:t>(32,32,3)</a:t>
            </a:r>
            <a:endParaRPr lang="zh-CN" alt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C19386-98F2-F70B-9133-CA11DEBF0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153" y="4846548"/>
            <a:ext cx="1355984" cy="141098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28E5A7B-83B6-D8E7-BBC4-4F8993248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349" y="4984180"/>
            <a:ext cx="912239" cy="98780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783121D-5DDE-F443-1994-C510F1B63B4C}"/>
              </a:ext>
            </a:extLst>
          </p:cNvPr>
          <p:cNvSpPr txBox="1"/>
          <p:nvPr/>
        </p:nvSpPr>
        <p:spPr>
          <a:xfrm>
            <a:off x="8145164" y="4305547"/>
            <a:ext cx="1605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zh-CN" altLang="en-US" sz="1200" dirty="0"/>
              <a:t>多张图片</a:t>
            </a:r>
            <a:r>
              <a:rPr lang="en-US" altLang="zh-CN" sz="1200" dirty="0"/>
              <a:t>NHWC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形状</a:t>
            </a:r>
            <a:r>
              <a:rPr lang="en-US" altLang="zh-CN" sz="1200" dirty="0"/>
              <a:t>(9,32,32,3)</a:t>
            </a:r>
            <a:endParaRPr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6DB37F-635C-FE27-EC2A-1905D8592D59}"/>
              </a:ext>
            </a:extLst>
          </p:cNvPr>
          <p:cNvSpPr txBox="1"/>
          <p:nvPr/>
        </p:nvSpPr>
        <p:spPr>
          <a:xfrm>
            <a:off x="1128743" y="2699551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A8C472-C9D7-CE3D-8CA4-A89EC4C4844E}"/>
              </a:ext>
            </a:extLst>
          </p:cNvPr>
          <p:cNvSpPr txBox="1"/>
          <p:nvPr/>
        </p:nvSpPr>
        <p:spPr>
          <a:xfrm>
            <a:off x="2153325" y="2699551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ED2A49-B221-0637-1AE8-3FC3CDF0625D}"/>
              </a:ext>
            </a:extLst>
          </p:cNvPr>
          <p:cNvSpPr txBox="1"/>
          <p:nvPr/>
        </p:nvSpPr>
        <p:spPr>
          <a:xfrm>
            <a:off x="3428548" y="2737971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549F06-7F12-4750-69F2-466231AE22FA}"/>
              </a:ext>
            </a:extLst>
          </p:cNvPr>
          <p:cNvSpPr txBox="1"/>
          <p:nvPr/>
        </p:nvSpPr>
        <p:spPr>
          <a:xfrm>
            <a:off x="5075734" y="2745655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BE8DF1-24CB-5DBD-B872-0C0E4C765E1C}"/>
              </a:ext>
            </a:extLst>
          </p:cNvPr>
          <p:cNvSpPr txBox="1"/>
          <p:nvPr/>
        </p:nvSpPr>
        <p:spPr>
          <a:xfrm>
            <a:off x="8425973" y="2576607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3181A1-05B8-1374-594E-972E20171D4D}"/>
              </a:ext>
            </a:extLst>
          </p:cNvPr>
          <p:cNvSpPr txBox="1"/>
          <p:nvPr/>
        </p:nvSpPr>
        <p:spPr>
          <a:xfrm>
            <a:off x="10162565" y="2576607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5D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95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张量基本创建方式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根据指定数据创建张量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根据形状创建张量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也可用来创建指定数据的张量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torch.IntTensor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torch.FloatTensor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创建指定类型的张量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52945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根据指定数据创建张量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6601" y="1984871"/>
            <a:ext cx="6186860" cy="43999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torch 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需要安装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模块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import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as np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创建张量标量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(10)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数组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由于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float64,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下面代码也使用该类型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np.random.randn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下面代码使用默认元素类型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[[10., 20., 30.], [40., 50., 60.]]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33461" y="4116467"/>
            <a:ext cx="51231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zh-CN" altLang="en-US" dirty="0"/>
              <a:t>tensor(10)</a:t>
            </a:r>
          </a:p>
          <a:p>
            <a:r>
              <a:rPr lang="zh-CN" altLang="en-US" dirty="0"/>
              <a:t>tensor([[ 0.1345,  0.1149,  0.2435],</a:t>
            </a:r>
          </a:p>
          <a:p>
            <a:r>
              <a:rPr lang="zh-CN" altLang="en-US" dirty="0"/>
              <a:t>        [ 0.8026, -0.6744, -1.0918]], dtype=torch.float64)</a:t>
            </a:r>
          </a:p>
          <a:p>
            <a:r>
              <a:rPr lang="zh-CN" altLang="en-US" dirty="0"/>
              <a:t>tensor([[10., 20., 30.],</a:t>
            </a:r>
          </a:p>
          <a:p>
            <a:r>
              <a:rPr lang="zh-CN" altLang="en-US" dirty="0"/>
              <a:t>        [40., 50., 60.]])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2.torch.Tensor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根据指定形状创建张量，也可以用来创建指定数据的张量</a:t>
            </a: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18201" y="1942273"/>
            <a:ext cx="6186860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列的张量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默认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float32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如果传递列表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则创建包含指定元素的张量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([10, 20])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50054" y="5043921"/>
            <a:ext cx="51231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tensor([[0.0000e+00, 3.6893e+19, 2.2018e+05],</a:t>
            </a:r>
          </a:p>
          <a:p>
            <a:r>
              <a:rPr lang="en-US" altLang="zh-CN" dirty="0"/>
              <a:t>        [4.6577e-10, 2.4158e-12, 1.1625e+33]])</a:t>
            </a:r>
          </a:p>
          <a:p>
            <a:r>
              <a:rPr lang="en-US" altLang="zh-CN" dirty="0"/>
              <a:t>tensor([10.])</a:t>
            </a:r>
          </a:p>
          <a:p>
            <a:r>
              <a:rPr lang="en-US" altLang="zh-CN" dirty="0"/>
              <a:t>tensor([10., 20.])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基本创建方式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torch.IntTensor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torch.FloatTensor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torch.DoubleTensor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创建指定类型的张量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51068" y="1974461"/>
            <a:ext cx="6186860" cy="382668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列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dtype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为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int32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的张量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如果传递的元素类型不正确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则会进行类型转换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([2.5, 3.3])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3.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其他的类型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int16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int64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float32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float64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972701" y="5062486"/>
            <a:ext cx="52228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         0, 1610612736, 1213662609],</a:t>
            </a:r>
          </a:p>
          <a:p>
            <a:r>
              <a:rPr lang="en-US" altLang="zh-CN" dirty="0"/>
              <a:t>        [ 805308409,  156041223,          1]],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</a:p>
          <a:p>
            <a:r>
              <a:rPr lang="en-US" altLang="zh-CN" dirty="0"/>
              <a:t>tensor([2, 3], </a:t>
            </a:r>
            <a:r>
              <a:rPr lang="en-US" altLang="zh-CN" dirty="0" err="1"/>
              <a:t>dtype</a:t>
            </a:r>
            <a:r>
              <a:rPr lang="en-US" altLang="zh-CN" dirty="0"/>
              <a:t>=torch.int32)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>
              <a:buClrTx/>
              <a:buSzTx/>
            </a:pPr>
            <a:r>
              <a:rPr sz="1800" dirty="0"/>
              <a:t>创建线性和随机张量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torch.arange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和 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torch.linspace()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创建线性张量</a:t>
            </a:r>
            <a:endParaRPr lang="en-GB" altLang="zh-CN" sz="20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torch.manual_seed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</a:t>
            </a:r>
            <a:r>
              <a:rPr lang="en-GB" altLang="zh-CN" sz="200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随机种子</a:t>
            </a:r>
            <a:endParaRPr lang="en-GB" altLang="zh-CN" sz="200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torch.rand/randn() 创建随机浮点类型张量</a:t>
            </a: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1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torch.randint(low, high, size=()) </a:t>
            </a:r>
            <a:r>
              <a:rPr lang="en-GB" altLang="zh-CN" sz="20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创建随机整数类型张量</a:t>
            </a:r>
            <a:endParaRPr lang="en-GB" altLang="zh-CN" sz="2000" dirty="0" err="1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zh-CN" altLang="en-US" sz="2400" b="0" i="0" dirty="0">
              <a:effectLst/>
              <a:latin typeface="Roboto" panose="02000000000000000000" pitchFamily="2" charset="0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torch.arange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torch.linspace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创建线性张量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52670" y="2195935"/>
            <a:ext cx="6186860" cy="2368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在指定区间按照步长生成元素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torch.arange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在指定区间按照元素个数生成 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[start, end, steps]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(0, 9, 10)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2703" y="4990440"/>
            <a:ext cx="7296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tensor([0, 2, 4, 6, 8])</a:t>
            </a:r>
          </a:p>
          <a:p>
            <a:r>
              <a:rPr lang="en-US" altLang="zh-CN" dirty="0"/>
              <a:t>tensor([ 0.0000,  1.2222,  2.4444,  3.6667,  4.8889,  6.1111,  7.3333,  8.5556,</a:t>
            </a:r>
          </a:p>
          <a:p>
            <a:r>
              <a:rPr lang="en-US" altLang="zh-CN" dirty="0"/>
              <a:t>         9.7778, 11.0000])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创建线性和随机张量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torch.manual_seed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随机数种子设置，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torch.randn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创建随机浮点类型张量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38970" y="2471721"/>
            <a:ext cx="6186860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创建随机张量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查看随机数种子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随机数种子设置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torch.manual_seed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随机数种子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:',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torch.initial_seed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59601" y="4385066"/>
            <a:ext cx="41636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tensor([[-0.5209, -0.2439, -1.1780],</a:t>
            </a:r>
          </a:p>
          <a:p>
            <a:r>
              <a:rPr lang="en-US" altLang="zh-CN" dirty="0"/>
              <a:t>        [ 0.8133,  1.1442,  0.6790]])</a:t>
            </a:r>
          </a:p>
          <a:p>
            <a:r>
              <a:rPr lang="zh-CN" altLang="en-US" dirty="0"/>
              <a:t>随机数种子</a:t>
            </a:r>
            <a:r>
              <a:rPr lang="en-US" altLang="zh-CN" dirty="0"/>
              <a:t>: 4508475192273306739</a:t>
            </a:r>
          </a:p>
          <a:p>
            <a:r>
              <a:rPr lang="en-US" altLang="zh-CN" dirty="0"/>
              <a:t>tensor([[ 0.3607, -0.2859, -0.3938],</a:t>
            </a:r>
          </a:p>
          <a:p>
            <a:r>
              <a:rPr lang="en-US" altLang="zh-CN" dirty="0"/>
              <a:t>        [ 0.2429, -1.3833, -2.3134]])</a:t>
            </a:r>
          </a:p>
          <a:p>
            <a:r>
              <a:rPr lang="zh-CN" altLang="en-US" dirty="0"/>
              <a:t>随机数种子</a:t>
            </a:r>
            <a:r>
              <a:rPr lang="en-US" altLang="zh-CN" dirty="0"/>
              <a:t>: 100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>
                <a:sym typeface="+mn-ea"/>
              </a:rPr>
              <a:t>创建</a:t>
            </a:r>
            <a:r>
              <a:rPr lang="zh-CN" altLang="en-US" dirty="0">
                <a:sym typeface="+mn-ea"/>
              </a:rPr>
              <a:t>全</a:t>
            </a:r>
            <a:r>
              <a:rPr lang="en-US" altLang="zh-CN" dirty="0">
                <a:sym typeface="+mn-ea"/>
              </a:rPr>
              <a:t>0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1</a:t>
            </a:r>
            <a:r>
              <a:rPr dirty="0">
                <a:sym typeface="+mn-ea"/>
              </a:rPr>
              <a:t>、指定值张量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torch.ones 和 torch.ones_like 创建全1张量</a:t>
            </a: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torch.zeros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torch.zeros_like 创建全0张量</a:t>
            </a: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torch.full 和 torch.full_like 创建全为指定值张量</a:t>
            </a: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zh-CN" altLang="en-US" dirty="0">
                <a:sym typeface="+mn-ea"/>
              </a:rPr>
              <a:t>全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zeros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torch.zeros_like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2570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torch.zeros_like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28435" y="4681094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tensor([[0., 0., 0.],</a:t>
            </a:r>
          </a:p>
          <a:p>
            <a:r>
              <a:rPr lang="en-US" altLang="zh-CN" dirty="0"/>
              <a:t>        [0., 0., 0.]])</a:t>
            </a:r>
          </a:p>
          <a:p>
            <a:r>
              <a:rPr lang="en-US" altLang="zh-CN" dirty="0"/>
              <a:t>tensor([[0., 0., 0.],</a:t>
            </a:r>
          </a:p>
          <a:p>
            <a:r>
              <a:rPr lang="en-US" altLang="zh-CN" dirty="0"/>
              <a:t>        [0., 0., 0.]])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zh-CN" altLang="en-US" dirty="0">
                <a:sym typeface="+mn-ea"/>
              </a:rPr>
              <a:t>全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one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torch.ones_like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02294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创建指定形状全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effectLst/>
              <a:latin typeface="宋体" panose="02010600030101010101" pitchFamily="2" charset="-122"/>
              <a:ea typeface="阿里巴巴普惠体" panose="00020600040101010101"/>
              <a:cs typeface="宋体" panose="02010600030101010101" pitchFamily="2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根据张量形状创建全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torch.ones_like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02294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tensor([[1., 1., 1.],</a:t>
            </a:r>
          </a:p>
          <a:p>
            <a:r>
              <a:rPr lang="en-US" altLang="zh-CN" dirty="0"/>
              <a:t>        [1., 1., 1.]])</a:t>
            </a:r>
          </a:p>
          <a:p>
            <a:r>
              <a:rPr lang="en-US" altLang="zh-CN" dirty="0"/>
              <a:t>tensor([[1., 1., 1.],</a:t>
            </a:r>
          </a:p>
          <a:p>
            <a:r>
              <a:rPr lang="en-US" altLang="zh-CN" dirty="0"/>
              <a:t>        [1., 1., 1.]])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zh-CN" altLang="en-US" dirty="0">
                <a:sym typeface="+mn-ea"/>
              </a:rPr>
              <a:t>全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、指定值张量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full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torch.full_like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创建全为指定值张量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4395" y="1974461"/>
            <a:ext cx="6186860" cy="243143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创建指定形状指定值的张量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根据张量形状创建指定值的张量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torch.full_like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20)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44395" y="4793410"/>
            <a:ext cx="4491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tensor([[10, 10, 10],</a:t>
            </a:r>
          </a:p>
          <a:p>
            <a:r>
              <a:rPr lang="en-US" altLang="zh-CN" dirty="0"/>
              <a:t>        [10, 10, 10]])</a:t>
            </a:r>
          </a:p>
          <a:p>
            <a:r>
              <a:rPr lang="en-US" altLang="zh-CN" dirty="0"/>
              <a:t>tensor([[20, 20, 20],</a:t>
            </a:r>
          </a:p>
          <a:p>
            <a:r>
              <a:rPr lang="en-US" altLang="zh-CN" dirty="0"/>
              <a:t>        [20, 20, 20]])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974462"/>
            <a:ext cx="10698800" cy="252305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GB" altLang="zh-CN" sz="20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data.to(torch.float32)</a:t>
            </a: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GB" altLang="zh-CN" sz="2000" b="1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.type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torch.DoubleTensor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half/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double</a:t>
            </a:r>
            <a:r>
              <a:rPr lang="en-US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/float/short/int/long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data.type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torch.DoubleTensor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82977" y="1922854"/>
            <a:ext cx="6328903" cy="3723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torch.DoubleTensor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torch.ShortTensor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torch.IntTensor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torch.LongTensor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torch.FloatTensor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data.type(dtype=torch.float16)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82977" y="5734830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torch.int64</a:t>
            </a:r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张量元素类型转换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data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.half/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double/float/short/int/long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0929" y="1974461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torch.full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3], 10)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元素类型转换为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float64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data.double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data.dtype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转换为其他类型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data.short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data.int()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data.long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data.float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40929" y="5593629"/>
            <a:ext cx="4491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/>
              <a:t>torch.int64</a:t>
            </a:r>
          </a:p>
          <a:p>
            <a:r>
              <a:rPr lang="en-US" altLang="zh-CN" dirty="0"/>
              <a:t>torch.float64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63104" y="570949"/>
            <a:ext cx="7738337" cy="640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创建张量的方式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根据指定数据创建张量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根据形状创建张量, 其也可用来创建指定数据的张量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torch.IntTensor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、torch.FloatTensor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、torch.DoubleTensor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创建指定类型的张量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创建线性和随机张量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torch.arange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torch.linspace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创建线性张量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torch.random.initial_seed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torch.manual_seed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随机种子设置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torch.randn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创建随机张量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创建0、1、指定值张量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torch.ones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torch.ones_like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创建全1张量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torch.zeros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torch.zeros_like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创建全0张量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torch.full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和 torch.full_like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 创建全为指定值张量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张量元素类型转换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data.to()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.type()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阿里巴巴普惠体" panose="00020600040101010101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阿里巴巴普惠体" panose="00020600040101010101"/>
              </a:rPr>
              <a:t>data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.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half/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double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/float/short/int/long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阿里巴巴普惠体" panose="00020600040101010101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张量的类型转换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086" y="18166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掌握张量转换为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en-US" dirty="0">
                <a:solidFill>
                  <a:schemeClr val="tx1"/>
                </a:solidFill>
              </a:rPr>
              <a:t>数组转换为张量的方法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/>
              <a:t>掌握标量张量和数字转换方法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457200" indent="-457200" algn="l">
              <a:buClrTx/>
              <a:buSzTx/>
              <a:buFont typeface="Wingdings" panose="05000000000000000000" pitchFamily="2" charset="2"/>
              <a:buChar char="l"/>
            </a:pP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Tensor.numpy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函数可以将张量转换为 ndarray 数组，但是共享内存，可以使用 copy 函数避免共享。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85069" y="1972675"/>
            <a:ext cx="6328903" cy="406146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将张量转换为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修改其中的一个，另外一个也会发生改变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49692" y="4820448"/>
            <a:ext cx="32599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tensor([100,   3,   4])</a:t>
            </a: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张量转换为</a:t>
            </a:r>
            <a:r>
              <a:rPr lang="en-US" altLang="zh-CN" dirty="0"/>
              <a:t>NumPy</a:t>
            </a:r>
            <a:r>
              <a:rPr lang="zh-CN" altLang="en-US" dirty="0"/>
              <a:t>数组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Tensor.numpy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函数可以将张量转换为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数组，但是共享内存，可以使用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5687" y="1970010"/>
            <a:ext cx="6328903" cy="417550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对象拷贝避免共享内存</a:t>
            </a: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使用张量对象中的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函数进行转换，通过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copy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方法拷贝对象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data_tensor.numpy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().copy()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print(type(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此时不共享内存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修改其中的一个，另外一个不会发生改变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900310" y="4820448"/>
            <a:ext cx="35093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torch.Tensor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</a:p>
          <a:p>
            <a:r>
              <a:rPr lang="en-US" altLang="zh-CN" sz="1600" dirty="0">
                <a:ea typeface="阿里巴巴普惠体" panose="00020600040101010101"/>
              </a:rPr>
              <a:t>&lt;class '</a:t>
            </a:r>
            <a:r>
              <a:rPr lang="en-US" altLang="zh-CN" sz="1600" dirty="0" err="1">
                <a:ea typeface="阿里巴巴普惠体" panose="00020600040101010101"/>
              </a:rPr>
              <a:t>numpy.ndarray</a:t>
            </a:r>
            <a:r>
              <a:rPr lang="en-US" altLang="zh-CN" sz="1600" dirty="0">
                <a:ea typeface="阿里巴巴普惠体" panose="00020600040101010101"/>
              </a:rPr>
              <a:t>'&gt;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tensor([2, 3, 4])</a:t>
            </a: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3744"/>
            <a:ext cx="10698800" cy="220032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from_numpy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默认共享内存，使用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copy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函数避免共享。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GB" altLang="zh-CN" sz="2000" b="1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b="1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可以将 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数组转换为 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默认不共享内存。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from_numpy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，共享内存，使用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copy()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函数避免共享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8091" y="1974461"/>
            <a:ext cx="6328903" cy="304609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数组转换为张量类型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torch.from_numpy(ndarray)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torch.from_numpy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nunpy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共享内存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38091" y="560573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</a:p>
          <a:p>
            <a:r>
              <a:rPr lang="en-US" altLang="zh-CN" sz="1600" dirty="0">
                <a:ea typeface="阿里巴巴普惠体" panose="00020600040101010101"/>
              </a:rPr>
              <a:t>[100   3   4]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数组转换为张量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torch.tensor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可以将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ndarray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数组转换为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Tensor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，不共享内存。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10382" y="2064000"/>
            <a:ext cx="6328903" cy="27070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torch.tensor(ndarray)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np.array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([2, 3, 4])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tensor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不共享内存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 = 100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data_numpy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10382" y="4911581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tensor([100,   3,   4], </a:t>
            </a:r>
            <a:r>
              <a:rPr lang="en-US" altLang="zh-CN" sz="1600" dirty="0" err="1">
                <a:ea typeface="阿里巴巴普惠体" panose="00020600040101010101"/>
              </a:rPr>
              <a:t>dtype</a:t>
            </a:r>
            <a:r>
              <a:rPr lang="en-US" altLang="zh-CN" sz="1600" dirty="0">
                <a:ea typeface="阿里巴巴普惠体" panose="00020600040101010101"/>
              </a:rPr>
              <a:t>=torch.int32)</a:t>
            </a:r>
          </a:p>
          <a:p>
            <a:r>
              <a:rPr lang="en-US" altLang="zh-CN" sz="1600" dirty="0">
                <a:ea typeface="阿里巴巴普惠体" panose="00020600040101010101"/>
              </a:rPr>
              <a:t>[2 3 4]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标量张量和数字转换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对于只有一个元素的张量，使用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item()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函数将该值从张量中提取出来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56645" y="2170064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当张量只包含一个元素时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可以通过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item()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函数提取出该值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([30,])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data.item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51707" y="4247333"/>
            <a:ext cx="49387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</a:p>
          <a:p>
            <a:r>
              <a:rPr lang="en-US" altLang="zh-CN" sz="1400" dirty="0">
                <a:ea typeface="阿里巴巴普惠体" panose="00020600040101010101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640195" y="1351598"/>
            <a:ext cx="6415732" cy="4154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张量转换为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数组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data_tensor.numpy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().copy()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转换为张量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torch.from_numpy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data_numpy</a:t>
            </a:r>
            <a:r>
              <a:rPr lang="en-GB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标量张量和数字转换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GB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en-GB" altLang="zh-CN" sz="20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.item()</a:t>
            </a:r>
            <a:endParaRPr kumimoji="0" lang="en-GB" altLang="zh-CN" sz="2000" b="0" i="0" u="none" strike="noStrike" cap="none" normalizeH="0" baseline="0" dirty="0" err="1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2061" y="235047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掌握张量基本运算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掌握张量按元素相乘运算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掌握张量矩阵乘法运算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8273" y="2054572"/>
            <a:ext cx="10698800" cy="2046374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加减乘除取负号：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add_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sub_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div_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neg_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（其中带下划线的版本会修改原数据）</a:t>
            </a: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张量基本运算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0684" y="1814044"/>
            <a:ext cx="6328903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不修改原数据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= data + 10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直接修改原数据 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带下划线的函数为修改原数据本身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data.add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_(10)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等价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+= 10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其他函数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data.sub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data.div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(100))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data.neg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253223" y="1670602"/>
            <a:ext cx="4938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dirty="0">
                <a:ea typeface="阿里巴巴普惠体" panose="00020600040101010101"/>
              </a:rPr>
              <a:t>tensor([[3, 7, 4],</a:t>
            </a:r>
          </a:p>
          <a:p>
            <a:r>
              <a:rPr lang="en-US" altLang="zh-CN" dirty="0">
                <a:ea typeface="阿里巴巴普惠体" panose="00020600040101010101"/>
              </a:rPr>
              <a:t>        [0, 0, 6]])</a:t>
            </a: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</a:p>
          <a:p>
            <a:r>
              <a:rPr lang="en-US" altLang="zh-CN" dirty="0">
                <a:ea typeface="阿里巴巴普惠体" panose="00020600040101010101"/>
              </a:rPr>
              <a:t>tensor([[13, 17, 14],</a:t>
            </a:r>
          </a:p>
          <a:p>
            <a:r>
              <a:rPr lang="en-US" altLang="zh-CN" dirty="0">
                <a:ea typeface="阿里巴巴普惠体" panose="00020600040101010101"/>
              </a:rPr>
              <a:t>        [10, 10, 16]])</a:t>
            </a:r>
          </a:p>
          <a:p>
            <a:r>
              <a:rPr lang="en-US" altLang="zh-CN" dirty="0">
                <a:ea typeface="阿里巴巴普惠体" panose="00020600040101010101"/>
              </a:rPr>
              <a:t>tensor([[-87, -83, -86],</a:t>
            </a:r>
          </a:p>
          <a:p>
            <a:r>
              <a:rPr lang="en-US" altLang="zh-CN" dirty="0">
                <a:ea typeface="阿里巴巴普惠体" panose="00020600040101010101"/>
              </a:rPr>
              <a:t>        [-90, -90, -84]])</a:t>
            </a:r>
          </a:p>
          <a:p>
            <a:r>
              <a:rPr lang="en-US" altLang="zh-CN" dirty="0">
                <a:ea typeface="阿里巴巴普惠体" panose="00020600040101010101"/>
              </a:rPr>
              <a:t>tensor([[1300, 1700, 1400],</a:t>
            </a:r>
          </a:p>
          <a:p>
            <a:r>
              <a:rPr lang="en-US" altLang="zh-CN" dirty="0">
                <a:ea typeface="阿里巴巴普惠体" panose="00020600040101010101"/>
              </a:rPr>
              <a:t>        [1000, 1000, 1600]])</a:t>
            </a:r>
          </a:p>
          <a:p>
            <a:r>
              <a:rPr lang="en-US" altLang="zh-CN" dirty="0">
                <a:ea typeface="阿里巴巴普惠体" panose="00020600040101010101"/>
              </a:rPr>
              <a:t>tensor([[0.1300, 0.1700, 0.1400],</a:t>
            </a:r>
          </a:p>
          <a:p>
            <a:r>
              <a:rPr lang="en-US" altLang="zh-CN" dirty="0">
                <a:ea typeface="阿里巴巴普惠体" panose="00020600040101010101"/>
              </a:rPr>
              <a:t>        [0.1000, 0.1000, 0.1600]])</a:t>
            </a:r>
          </a:p>
          <a:p>
            <a:r>
              <a:rPr lang="en-US" altLang="zh-CN" dirty="0">
                <a:ea typeface="阿里巴巴普惠体" panose="00020600040101010101"/>
              </a:rPr>
              <a:t>tensor([[-13, -17, -14],</a:t>
            </a:r>
          </a:p>
          <a:p>
            <a:r>
              <a:rPr lang="en-US" altLang="zh-CN" dirty="0">
                <a:ea typeface="阿里巴巴普惠体" panose="00020600040101010101"/>
              </a:rPr>
              <a:t>        [-10, -10, -16]])</a:t>
            </a:r>
            <a:endParaRPr lang="zh-CN" altLang="en-US" dirty="0"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按元素相乘运算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按元素相乘指（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Hadamard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）的是相同形状的张量对应位置的元素相乘，使用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mul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和运算符 * 实现</a:t>
            </a:r>
            <a:r>
              <a:rPr lang="zh-CN" altLang="en-US" sz="2400" b="0" i="0" dirty="0">
                <a:effectLst/>
                <a:latin typeface="Roboto" panose="02000000000000000000" pitchFamily="2" charset="0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47" y="2665152"/>
            <a:ext cx="6546044" cy="247314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按元素相乘运算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10740" y="2051249"/>
            <a:ext cx="6328903" cy="253402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第一种方式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第二种方式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data1 * data2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05804" y="5179255"/>
            <a:ext cx="49387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</a:p>
          <a:p>
            <a:r>
              <a:rPr lang="en-US" altLang="zh-CN" dirty="0">
                <a:ea typeface="阿里巴巴普惠体" panose="00020600040101010101"/>
              </a:rPr>
              <a:t>tensor([[ 5, 12],</a:t>
            </a:r>
          </a:p>
          <a:p>
            <a:r>
              <a:rPr lang="en-US" altLang="zh-CN" dirty="0">
                <a:ea typeface="阿里巴巴普惠体" panose="00020600040101010101"/>
              </a:rPr>
              <a:t>        [21, 32]])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37085"/>
            <a:ext cx="10698800" cy="4345884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乘法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，要求第一个矩阵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(n, m)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，第二个矩阵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shape: (m, p),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两个矩阵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乘法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shape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(n, p)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运算符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torch.matmul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</a:p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二维张量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矩阵：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列 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 B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高维张量</a:t>
            </a:r>
            <a:r>
              <a:rPr lang="en-US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A.shape</a:t>
            </a:r>
            <a:r>
              <a:rPr lang="en-US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[-1]=</a:t>
            </a:r>
            <a:r>
              <a:rPr lang="en-US" altLang="zh-CN" sz="16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B.shape</a:t>
            </a:r>
            <a:r>
              <a:rPr lang="en-US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[-2]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矩阵乘法运算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880" y="2002968"/>
            <a:ext cx="6328903" cy="285206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点积运算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([[1, 2], [3, 4], [5, 6]])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([[5, 6], [7, 8]])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方式一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data3 = data1 @ data2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print("data3--&gt;", data3)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方式二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data4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torch.matmul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(data1, data2)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print("data4--&gt;", data4)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91139" y="1997838"/>
            <a:ext cx="4938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dirty="0">
                <a:ea typeface="阿里巴巴普惠体" panose="00020600040101010101"/>
              </a:rPr>
              <a:t>data3--&gt; tensor([[19, 22],</a:t>
            </a: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</a:p>
          <a:p>
            <a:r>
              <a:rPr lang="en-US" altLang="zh-CN" dirty="0">
                <a:ea typeface="阿里巴巴普惠体" panose="00020600040101010101"/>
              </a:rPr>
              <a:t>data4--&gt; tensor([[19, 22],</a:t>
            </a:r>
          </a:p>
          <a:p>
            <a:r>
              <a:rPr lang="en-US" altLang="zh-CN" dirty="0">
                <a:ea typeface="阿里巴巴普惠体" panose="00020600040101010101"/>
              </a:rPr>
              <a:t>        [43, 50],</a:t>
            </a:r>
          </a:p>
          <a:p>
            <a:r>
              <a:rPr lang="en-US" altLang="zh-CN" dirty="0">
                <a:ea typeface="阿里巴巴普惠体" panose="00020600040101010101"/>
              </a:rPr>
              <a:t>        [67, 78]])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710215"/>
            <a:ext cx="7731240" cy="65333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张量基本运算函数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add</a:t>
            </a:r>
            <a:r>
              <a:rPr lang="zh-CN" altLang="en-US" sz="1600" dirty="0"/>
              <a:t>、</a:t>
            </a:r>
            <a:r>
              <a:rPr lang="en-US" altLang="zh-CN" sz="1600" dirty="0"/>
              <a:t>sub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zh-CN" altLang="en-US" sz="1600" dirty="0"/>
              <a:t>、</a:t>
            </a:r>
            <a:r>
              <a:rPr lang="en-US" altLang="zh-CN" sz="1600" dirty="0"/>
              <a:t>div</a:t>
            </a:r>
            <a:r>
              <a:rPr lang="zh-CN" altLang="en-US" sz="1600" dirty="0"/>
              <a:t>、</a:t>
            </a:r>
            <a:r>
              <a:rPr lang="en-US" altLang="zh-CN" sz="1600" dirty="0"/>
              <a:t>neg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 </a:t>
            </a:r>
            <a:r>
              <a:rPr lang="en-US" altLang="zh-CN" sz="1600" dirty="0"/>
              <a:t>add_</a:t>
            </a:r>
            <a:r>
              <a:rPr lang="zh-CN" altLang="en-US" sz="1600" dirty="0"/>
              <a:t>、</a:t>
            </a:r>
            <a:r>
              <a:rPr lang="en-US" altLang="zh-CN" sz="1600" dirty="0"/>
              <a:t>sub_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mul</a:t>
            </a:r>
            <a:r>
              <a:rPr lang="en-US" altLang="zh-CN" sz="1600" dirty="0"/>
              <a:t>_</a:t>
            </a:r>
            <a:r>
              <a:rPr lang="zh-CN" altLang="en-US" sz="1600" dirty="0"/>
              <a:t>、</a:t>
            </a:r>
            <a:r>
              <a:rPr lang="en-US" altLang="zh-CN" sz="1600" dirty="0"/>
              <a:t>div_</a:t>
            </a:r>
            <a:r>
              <a:rPr lang="zh-CN" altLang="en-US" sz="1600" dirty="0"/>
              <a:t>、</a:t>
            </a:r>
            <a:r>
              <a:rPr lang="en-US" altLang="zh-CN" sz="1600" dirty="0"/>
              <a:t>neg_</a:t>
            </a:r>
            <a:r>
              <a:rPr lang="zh-CN" altLang="en-US" sz="1600" dirty="0"/>
              <a:t>等函数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张量的按元素相乘运算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mul</a:t>
            </a:r>
            <a:r>
              <a:rPr lang="en-US" altLang="zh-CN" sz="1600" dirty="0"/>
              <a:t> </a:t>
            </a:r>
            <a:r>
              <a:rPr lang="zh-CN" altLang="en-US" sz="1600" dirty="0"/>
              <a:t>和 *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3.</a:t>
            </a:r>
            <a:r>
              <a:rPr lang="zh-CN" altLang="en-US" sz="1600" dirty="0"/>
              <a:t> 矩阵乘法运算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@ 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或 </a:t>
            </a:r>
            <a:r>
              <a:rPr lang="en-US" altLang="zh-CN" sz="1600" dirty="0" err="1">
                <a:solidFill>
                  <a:srgbClr val="333333"/>
                </a:solidFill>
                <a:latin typeface="Helvetica Neue"/>
              </a:rPr>
              <a:t>torch.matmul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二维张量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/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矩阵：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A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列 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= B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行。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高维张量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: </a:t>
            </a:r>
            <a:r>
              <a:rPr lang="en-US" altLang="zh-CN" sz="1600" dirty="0" err="1">
                <a:solidFill>
                  <a:srgbClr val="333333"/>
                </a:solidFill>
                <a:latin typeface="Helvetica Neue"/>
              </a:rPr>
              <a:t>A.shape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[-1]=</a:t>
            </a:r>
            <a:r>
              <a:rPr lang="en-US" altLang="zh-CN" sz="1600" dirty="0" err="1">
                <a:solidFill>
                  <a:srgbClr val="333333"/>
                </a:solidFill>
                <a:latin typeface="Helvetica Neue"/>
              </a:rPr>
              <a:t>B.shape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[-2]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9148" y="2444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50580" y="1533698"/>
            <a:ext cx="6298881" cy="25146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掌握张量相关的运算函数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111432" y="2044931"/>
            <a:ext cx="9298247" cy="3083779"/>
          </a:xfrm>
        </p:spPr>
        <p:txBody>
          <a:bodyPr/>
          <a:lstStyle/>
          <a:p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PyTorch 为每个张量封装很多实用的计算函数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：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均值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平方根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求和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指数计算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对数计算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等等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6600" y="1495042"/>
            <a:ext cx="6328903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[2, 3],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=torch.float64)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计算均值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注意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tensor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必须为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Float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或者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Double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按列计算均值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data.mean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按行计算均值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计算总和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(dim=0))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data.sum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(dim=1))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，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2))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075503" y="312589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tensor([[4., 0., 7.],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[6., 3., 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tensor(4.1667,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tensor([5.0000, 1.5000, 6.0000],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tensor([3.6667, 4.6667],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tensor(25.,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tensor([10.,  3., 12.],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tensor([11., 14.],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tensor([[16.,  0., 49.],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[36.,  9., 25.]],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常见运算函数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6600" y="1857432"/>
            <a:ext cx="6328903" cy="317009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计算平方根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data.sqrt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指数计算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e^n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次方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data.exp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6.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对数计算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print(data.log())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以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为底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print(data.log2())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print(data.log10())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075503" y="1857432"/>
            <a:ext cx="51164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tensor([[2.0000, 0.0000, 2.6458],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[2.4495, 1.7321, 2.2361]],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tensor([[5.4598e+01, 1.0000e+00, 1.0966e+03],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[4.0343e+02, 2.0086e+01, 1.4841e+02]],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tensor([[1.3863,   -inf, 1.9459],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[1.7918, 1.0986, 1.6094]],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tensor([[2.0000,   -inf, 2.8074],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[2.5850, 1.5850, 2.3219]],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tensor([[0.6021,   -inf, 0.8451],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[0.7782, 0.4771, 0.6990]], </a:t>
            </a:r>
            <a:r>
              <a:rPr lang="en-US" altLang="zh-CN" sz="1400" dirty="0" err="1">
                <a:ea typeface="阿里巴巴普惠体" panose="00020600040101010101"/>
              </a:rPr>
              <a:t>dtype</a:t>
            </a:r>
            <a:r>
              <a:rPr lang="en-US" altLang="zh-CN" sz="1400" dirty="0">
                <a:ea typeface="阿里巴巴普惠体" panose="00020600040101010101"/>
              </a:rPr>
              <a:t>=torch.float64)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55126" y="1562792"/>
            <a:ext cx="7536873" cy="2975957"/>
          </a:xfrm>
        </p:spPr>
        <p:txBody>
          <a:bodyPr/>
          <a:lstStyle/>
          <a:p>
            <a:r>
              <a:rPr lang="zh-CN" altLang="en-US" sz="1600" dirty="0"/>
              <a:t>张量运算函数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b="1" dirty="0"/>
              <a:t>sum(), mean(), max(), min(),</a:t>
            </a:r>
            <a:r>
              <a:rPr lang="zh-CN" altLang="en-US" sz="1600" b="1" dirty="0"/>
              <a:t> </a:t>
            </a:r>
            <a:endParaRPr lang="en-US" altLang="zh-CN" sz="1600" b="1" dirty="0"/>
          </a:p>
          <a:p>
            <a:pPr marL="0" indent="0">
              <a:buNone/>
            </a:pPr>
            <a:r>
              <a:rPr lang="en-US" altLang="zh-CN" sz="1600" b="1" dirty="0"/>
              <a:t>**</a:t>
            </a:r>
          </a:p>
          <a:p>
            <a:pPr marL="0" indent="0">
              <a:buNone/>
            </a:pPr>
            <a:r>
              <a:rPr lang="en-US" altLang="zh-CN" sz="1600" dirty="0"/>
              <a:t>pow(), sqrt(), exp(), log(), log2()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9148" y="30187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掌握简单行列索引的使用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知道列表索引的使用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掌握范围索引的使用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知道多维索引的使用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229" y="940081"/>
            <a:ext cx="10698800" cy="517190"/>
          </a:xfrm>
        </p:spPr>
        <p:txBody>
          <a:bodyPr/>
          <a:lstStyle/>
          <a:p>
            <a:r>
              <a:rPr lang="zh-CN" altLang="en-US" dirty="0"/>
              <a:t>索引操作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5965" y="4763271"/>
            <a:ext cx="49387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tensor([[0, 7, 6, 5, 9],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[6, 8, 3, 1, 0],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[6, 3, 8, 7, 3],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[4, 9, 5, 3, 1]])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02229" y="1457169"/>
            <a:ext cx="831088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我们在操作张量时，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经常需要去获取某些元素就进行处理或者修改操作，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在这里我们需要了解在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中的索引操作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准备数据：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6600" y="3223301"/>
            <a:ext cx="6328903" cy="13531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随机生成数据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[4, 5])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简单行、列索引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68736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0])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6600" y="3166867"/>
            <a:ext cx="49387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tensor([0, 7, 6, 5, 9])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tensor([0, 6, 6, 4])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列表索引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880" y="1531045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(0, 1)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(1, 2)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两个位置的元素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print(data[[0, 1], [1, 2]])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、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列共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个元素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print(data[[[0], [1]], [1, 2]])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tensor([7, 3])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tensor([[7, 6],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[8, 3]])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范围索引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173380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print(data[:3, :2])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行到最后的前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print(data[2:, :2])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0880" y="3502774"/>
            <a:ext cx="4938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tensor([[0, 7],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[6, 8],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[6, 3]])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tensor([[6, 3],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[4, 9]])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多维索引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0880" y="1539923"/>
            <a:ext cx="6328903" cy="278024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print(data[0, :, :])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0, :])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获取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轴上的第一个数据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print(data[:, :, 0])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39783" y="1523501"/>
            <a:ext cx="493877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tensor([[[2, 4, 1, 2, 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[5, 5, 1, 5, 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[1, 4, 5, 3, 8],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[7, 1, 1, 9, 9]],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[[9, 7, 5, 3, 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[8, 8, 6, 0, 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[6, 9, 0, 2, 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[9, 7, 0, 4, 0]],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        [[0, 7, 3, 5, 6],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[2, 4, 6, 4, 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[2, 0, 3, 7, 9],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 [9, 6, 4, 4, 4]]])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[5, 5, 1, 5, 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[1, 4, 5, 3, 8],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[7, 1, 1, 9, 9]])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tensor([[2, 4, 1, 2, 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[9, 7, 5, 3, 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[0, 7, 3, 5, 6]])</a:t>
            </a:r>
          </a:p>
          <a:p>
            <a:r>
              <a:rPr lang="en-US" altLang="zh-CN" sz="1400" dirty="0">
                <a:ea typeface="阿里巴巴普惠体" panose="00020600040101010101"/>
              </a:rPr>
              <a:t>tensor([[2, 5, 1, 7],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[9, 8, 6, 9],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[0, 2, 2, 9]])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简单行列索引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列表索引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范围索引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多维索引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张量形状操作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6674" y="39511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b="1" dirty="0">
                <a:solidFill>
                  <a:schemeClr val="tx1"/>
                </a:solidFill>
              </a:rPr>
              <a:t>reshape()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squeeze()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b="1" dirty="0" err="1">
                <a:solidFill>
                  <a:schemeClr val="tx1"/>
                </a:solidFill>
              </a:rPr>
              <a:t>unsqueeze</a:t>
            </a:r>
            <a:r>
              <a:rPr lang="en-US" altLang="zh-CN" b="1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transpose()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permute()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view()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contiguous()</a:t>
            </a:r>
            <a:r>
              <a:rPr lang="zh-CN" altLang="en-US" dirty="0">
                <a:solidFill>
                  <a:schemeClr val="tx1"/>
                </a:solidFill>
              </a:rPr>
              <a:t>等函数使用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reshape()</a:t>
            </a:r>
            <a:r>
              <a:rPr lang="zh-CN" altLang="en-US" dirty="0"/>
              <a:t>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reshape 函数可以在保证张量数据不变的前提下改变数据的维度，将其转换成指定的形状。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359003"/>
            <a:ext cx="6328903" cy="3477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([[10, 20, 30], [40, 50, 60]])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属性或者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方法都可以获得张量的形状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[0],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[1])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(0),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reshape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函数修改张量形状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data.reshape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(1, 6)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796329" y="3620886"/>
            <a:ext cx="4938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2 3</a:t>
            </a:r>
          </a:p>
          <a:p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6])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squeeze()</a:t>
            </a:r>
            <a:r>
              <a:rPr lang="zh-CN" altLang="en-US" dirty="0"/>
              <a:t>和</a:t>
            </a:r>
            <a:r>
              <a:rPr lang="en-US" altLang="zh-CN" dirty="0" err="1"/>
              <a:t>unsqueeze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squeeze 函数删除形状为 1 的维度（降维），unsqueeze 函数添加形状为1的维度（升维）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72473"/>
            <a:ext cx="6328903" cy="372409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mydata1 = </a:t>
            </a:r>
            <a:r>
              <a:rPr lang="en-US" altLang="zh-CN" sz="16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3, 4, 5])            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print('mydata1---&gt;', mydata1.shape, mydata1)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一个普通的数组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mydata1.unsqueeze(dim=0)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mydata2, mydata2.shape)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mydata1.unsqueeze(dim=1)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mydata3, mydata3.shape)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#5*1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mydata1.unsqueeze(dim=-1)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在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-1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维度上 拓展维度：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mydata4, mydata4.shape) </a:t>
            </a:r>
            <a:r>
              <a:rPr lang="en-US" altLang="zh-CN" sz="16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5*1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mydata4.squeeze()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</a:t>
            </a:r>
            <a:r>
              <a:rPr lang="zh-CN" altLang="en-US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压缩维度：</a:t>
            </a:r>
            <a:r>
              <a:rPr lang="en-US" altLang="zh-CN" sz="16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', mydata5, mydata5.shape)  </a:t>
            </a:r>
            <a:r>
              <a:rPr lang="en-US" altLang="zh-CN" sz="16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#1*5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75503" y="1826342"/>
            <a:ext cx="4938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mydata1---&gt;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 tensor([1, 2, 3, 4, 5])</a:t>
            </a: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0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tensor([[1, 2, 3, 4, 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([1, 5])</a:t>
            </a: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</a:p>
          <a:p>
            <a:r>
              <a:rPr lang="zh-CN" altLang="en-US" sz="1400" dirty="0">
                <a:ea typeface="阿里巴巴普惠体" panose="00020600040101010101"/>
              </a:rPr>
              <a:t>在</a:t>
            </a:r>
            <a:r>
              <a:rPr lang="en-US" altLang="zh-CN" sz="1400" dirty="0">
                <a:ea typeface="阿里巴巴普惠体" panose="00020600040101010101"/>
              </a:rPr>
              <a:t>-1</a:t>
            </a:r>
            <a:r>
              <a:rPr lang="zh-CN" altLang="en-US" sz="1400" dirty="0">
                <a:ea typeface="阿里巴巴普惠体" panose="00020600040101010101"/>
              </a:rPr>
              <a:t>维度上 拓展维度： </a:t>
            </a:r>
            <a:r>
              <a:rPr lang="en-US" altLang="zh-CN" sz="1400" dirty="0">
                <a:ea typeface="阿里巴巴普惠体" panose="00020600040101010101"/>
              </a:rPr>
              <a:t>tensor([[1],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[2],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[3],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[4],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[5]])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([5, 1])</a:t>
            </a:r>
          </a:p>
          <a:p>
            <a:r>
              <a:rPr lang="zh-CN" altLang="en-US" sz="1400" dirty="0">
                <a:ea typeface="阿里巴巴普惠体" panose="00020600040101010101"/>
              </a:rPr>
              <a:t>压缩维度： </a:t>
            </a:r>
            <a:r>
              <a:rPr lang="en-US" altLang="zh-CN" sz="1400" dirty="0">
                <a:ea typeface="阿里巴巴普惠体" panose="00020600040101010101"/>
              </a:rPr>
              <a:t>tensor([1, 2, 3, 4, 5])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([5])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transpose()</a:t>
            </a:r>
            <a:r>
              <a:rPr lang="zh-CN" altLang="en-US" dirty="0"/>
              <a:t>和</a:t>
            </a:r>
            <a:r>
              <a:rPr lang="en-US" altLang="zh-CN" dirty="0"/>
              <a:t>permute()</a:t>
            </a:r>
            <a:r>
              <a:rPr lang="zh-CN" altLang="en-US" dirty="0"/>
              <a:t>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transpose 函数可以实现交换张量形状的指定维度, 例如: 一个张量的形状为 (2, 3, 4) 可以通过 transpose 函数把 3 和 4 进行交换, 将张量的形状变为 (2, 4, 3) 。 permute 函数可以一次交换更多的维度。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2097129"/>
            <a:ext cx="5517039" cy="458587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np.random.randint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[3, 4, 5]))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print('data shape:',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data.size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交换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1,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print('mydata2.shape---&gt;', mydata2.shape)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将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data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3),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需要变换多次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0, 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(mydata3, 1,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print('mydata4.shape---&gt;', mydata4.shape)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permute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函数将形状修改为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(4, 5, 3)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3-1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mydata5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[1, 2, 0])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print('mydata5.shape---&gt;', mydata5.shape)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3-2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mydata6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data.permute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([1, 2, 0])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print('mydata6.shape---&gt;', mydata6.shape)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9783" y="4390064"/>
            <a:ext cx="49387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data shape: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4, 5])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mydata2.shape---&gt;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5, 4])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mydata4.shape---&gt;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mydata5.shape---&gt;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mydata6.shape---&gt;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([4, 5, 3])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view()</a:t>
            </a:r>
            <a:r>
              <a:rPr lang="zh-CN" altLang="en-US" dirty="0"/>
              <a:t>和</a:t>
            </a:r>
            <a:r>
              <a:rPr lang="en-US" altLang="zh-CN" dirty="0"/>
              <a:t>contiguous()</a:t>
            </a:r>
            <a:r>
              <a:rPr lang="zh-CN" altLang="en-US" dirty="0"/>
              <a:t>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view 函数也可以用于修改张量的形状，只能用于修改连续的张量。在 PyTorch 中，有些张量</a:t>
            </a:r>
            <a:r>
              <a:rPr lang="zh-CN" altLang="en-US"/>
              <a:t>的底层数据在内存中的存储顺序与其在张量中的逻辑顺序不一致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，view 函数无法对这样的张量进行变形处理，例如: 一个张量经过了 transpose 或者 permute 函数的处理之后，就无法使用 view 函数进行形状操作。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744" y="2323492"/>
            <a:ext cx="6328903" cy="390779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一个张量经过了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transpose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或者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permute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函数的处理之后，就无法使用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函数进行形状操作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 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若要使用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contiguous()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变成连续以后再使用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判断张量是否连续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 [[10, 20, 30],[40, 50, 60]])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print('data---&gt;', data,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判断张量是否连续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data.is_contiguous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True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 view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data.view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print('mydata2---&gt;', mydata2, mydata2.shape)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判断张量是否连续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print('mydata2.is_contiguous()---&gt;', mydata2.is_contiguous())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35240" y="4385066"/>
            <a:ext cx="41275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data---&gt; tensor([[10, 20, 30],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[40, 50,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</a:t>
            </a:r>
          </a:p>
          <a:p>
            <a:r>
              <a:rPr lang="en-US" altLang="zh-CN" sz="1400" dirty="0">
                <a:ea typeface="阿里巴巴普惠体" panose="00020600040101010101"/>
              </a:rPr>
              <a:t>True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mydata2---&gt; tensor([[10, 20],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[30, 40],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[50,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2])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mydata2.is_contiguous()---&gt; True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view()</a:t>
            </a:r>
            <a:r>
              <a:rPr lang="zh-CN" altLang="en-US" dirty="0"/>
              <a:t>和</a:t>
            </a:r>
            <a:r>
              <a:rPr lang="en-US" altLang="zh-CN" dirty="0"/>
              <a:t>contiguous()</a:t>
            </a:r>
            <a:r>
              <a:rPr lang="zh-CN" altLang="en-US" dirty="0"/>
              <a:t>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6640" y="1570292"/>
            <a:ext cx="6328903" cy="2368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transpose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函数修改形状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mydata3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torch.transpose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(data, 0, 1) 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print('mydata3---&gt;', mydata3, mydata3.shape)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print('mydata3.is_contiguous()---&gt;', mydata3.is_contiguous())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需要先使用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contiguous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函数转换为连续的张量，再使用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view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 (mydata3.contiguous().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is_contiguous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mydata4 = mydata3.contiguous().view(2,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print('mydata4---&gt;', mydata4.shape, mydata4)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41662" y="4260322"/>
            <a:ext cx="4938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mydata3---&gt; tensor([[10, 40],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[20, 50],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[30, 60]])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([3, 2])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mydata3.is_contiguous()---&gt; False</a:t>
            </a:r>
          </a:p>
          <a:p>
            <a:endParaRPr lang="en-US" altLang="zh-CN" sz="1400" dirty="0">
              <a:ea typeface="阿里巴巴普惠体" panose="00020600040101010101"/>
            </a:endParaRPr>
          </a:p>
          <a:p>
            <a:r>
              <a:rPr lang="en-US" altLang="zh-CN" sz="1400" dirty="0">
                <a:ea typeface="阿里巴巴普惠体" panose="00020600040101010101"/>
              </a:rPr>
              <a:t>True</a:t>
            </a:r>
          </a:p>
          <a:p>
            <a:r>
              <a:rPr lang="en-US" altLang="zh-CN" sz="1400" dirty="0">
                <a:ea typeface="阿里巴巴普惠体" panose="00020600040101010101"/>
              </a:rPr>
              <a:t>mydata4---&gt; </a:t>
            </a:r>
            <a:r>
              <a:rPr lang="en-US" altLang="zh-CN" sz="1400" dirty="0" err="1">
                <a:ea typeface="阿里巴巴普惠体" panose="00020600040101010101"/>
              </a:rPr>
              <a:t>torch.Size</a:t>
            </a:r>
            <a:r>
              <a:rPr lang="en-US" altLang="zh-CN" sz="1400" dirty="0">
                <a:ea typeface="阿里巴巴普惠体" panose="00020600040101010101"/>
              </a:rPr>
              <a:t>([2, 3]) tensor([[10, 40, 20],</a:t>
            </a:r>
          </a:p>
          <a:p>
            <a:r>
              <a:rPr lang="en-US" altLang="zh-CN" sz="1400" dirty="0">
                <a:ea typeface="阿里巴巴普惠体" panose="00020600040101010101"/>
              </a:rPr>
              <a:t>        [50, 30, 60]])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354342" y="949580"/>
            <a:ext cx="6635819" cy="495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0" lvl="0" indent="0">
              <a:buFontTx/>
              <a:buAutoNum type="arabicPeriod"/>
            </a:pPr>
            <a:r>
              <a:rPr lang="en-US" altLang="zh-CN" sz="1600" b="1" dirty="0"/>
              <a:t>r</a:t>
            </a:r>
            <a:r>
              <a:rPr lang="zh-CN" altLang="zh-CN" sz="1600" b="1" dirty="0"/>
              <a:t>eshape</a:t>
            </a:r>
            <a:r>
              <a:rPr lang="en-US" altLang="zh-CN" sz="1600" b="1" dirty="0"/>
              <a:t> </a:t>
            </a:r>
            <a:r>
              <a:rPr lang="zh-CN" altLang="zh-CN" sz="1600" dirty="0"/>
              <a:t>改变</a:t>
            </a:r>
            <a:r>
              <a:rPr lang="zh-CN" altLang="en-US" sz="1600" dirty="0"/>
              <a:t>张量</a:t>
            </a:r>
            <a:r>
              <a:rPr lang="zh-CN" altLang="zh-CN" sz="1600" dirty="0"/>
              <a:t>的</a:t>
            </a:r>
            <a:r>
              <a:rPr lang="zh-CN" altLang="en-US" sz="1600" dirty="0"/>
              <a:t>形状，不改变</a:t>
            </a:r>
            <a:r>
              <a:rPr lang="zh-CN" altLang="zh-CN" sz="1600" dirty="0"/>
              <a:t>张量</a:t>
            </a:r>
            <a:r>
              <a:rPr lang="zh-CN" altLang="en-US" sz="1600" dirty="0"/>
              <a:t>中元素顺序，可以处理连续张量和不连续张量</a:t>
            </a:r>
            <a:endParaRPr lang="en-US" altLang="zh-CN" sz="1600" dirty="0"/>
          </a:p>
          <a:p>
            <a:pPr marL="0" lvl="0" indent="0">
              <a:buFontTx/>
              <a:buAutoNum type="arabicPeriod"/>
            </a:pPr>
            <a:r>
              <a:rPr lang="zh-CN" altLang="zh-CN" sz="1600" b="1" dirty="0"/>
              <a:t>unsqueeze</a:t>
            </a:r>
            <a:r>
              <a:rPr lang="zh-CN" altLang="zh-CN" sz="1600" dirty="0"/>
              <a:t> </a:t>
            </a:r>
            <a:r>
              <a:rPr lang="zh-CN" altLang="en-US" sz="1600" dirty="0"/>
              <a:t>增加维度，</a:t>
            </a:r>
            <a:r>
              <a:rPr lang="zh-CN" altLang="zh-CN" sz="1600" dirty="0"/>
              <a:t>squeeze 减少维度</a:t>
            </a:r>
          </a:p>
          <a:p>
            <a:pPr marL="0" lvl="0" indent="0">
              <a:buFontTx/>
              <a:buAutoNum type="arabicPeriod" startAt="3"/>
            </a:pPr>
            <a:r>
              <a:rPr lang="zh-CN" altLang="zh-CN" sz="1600" dirty="0"/>
              <a:t>transpose 交换张量的</a:t>
            </a:r>
            <a:r>
              <a:rPr lang="zh-CN" altLang="en-US" sz="1600" dirty="0"/>
              <a:t>两个</a:t>
            </a:r>
            <a:r>
              <a:rPr lang="zh-CN" altLang="zh-CN" sz="1600" dirty="0"/>
              <a:t>维度</a:t>
            </a:r>
            <a:endParaRPr lang="en-US" altLang="zh-CN" sz="1600" dirty="0"/>
          </a:p>
          <a:p>
            <a:pPr marL="0" lvl="0" indent="0">
              <a:buFontTx/>
              <a:buAutoNum type="arabicPeriod" startAt="3"/>
            </a:pPr>
            <a:r>
              <a:rPr lang="zh-CN" altLang="zh-CN" sz="1600" b="1" dirty="0"/>
              <a:t>permute</a:t>
            </a:r>
            <a:r>
              <a:rPr lang="zh-CN" altLang="zh-CN" sz="1600" dirty="0"/>
              <a:t> 一次交换</a:t>
            </a:r>
            <a:r>
              <a:rPr lang="zh-CN" altLang="en-US" sz="1600" dirty="0"/>
              <a:t>多个</a:t>
            </a:r>
            <a:r>
              <a:rPr lang="zh-CN" altLang="zh-CN" sz="1600" dirty="0"/>
              <a:t>维度</a:t>
            </a:r>
            <a:endParaRPr lang="en-US" altLang="zh-CN" sz="1600" dirty="0"/>
          </a:p>
          <a:p>
            <a:pPr marL="0" lvl="0" indent="0">
              <a:buFontTx/>
              <a:buAutoNum type="arabicPeriod" startAt="3"/>
            </a:pPr>
            <a:r>
              <a:rPr lang="zh-CN" altLang="zh-CN" sz="1600" b="1" dirty="0"/>
              <a:t>view</a:t>
            </a:r>
            <a:r>
              <a:rPr lang="zh-CN" altLang="zh-CN" sz="1600" dirty="0"/>
              <a:t> 修改张量的形状, 但</a:t>
            </a:r>
            <a:r>
              <a:rPr lang="zh-CN" altLang="en-US" sz="1600" dirty="0"/>
              <a:t>必须是连续张量</a:t>
            </a:r>
            <a:r>
              <a:rPr lang="zh-CN" altLang="zh-CN" sz="1600" dirty="0"/>
              <a:t>，</a:t>
            </a:r>
            <a:r>
              <a:rPr lang="zh-CN" altLang="en-US" sz="1600" dirty="0"/>
              <a:t>可以</a:t>
            </a:r>
            <a:r>
              <a:rPr lang="zh-CN" altLang="zh-CN" sz="1600" dirty="0"/>
              <a:t>配合 contiguous 函数使用</a:t>
            </a:r>
            <a:r>
              <a:rPr lang="zh-CN" altLang="en-US" sz="1600" dirty="0"/>
              <a:t>，不改变</a:t>
            </a:r>
            <a:r>
              <a:rPr lang="zh-CN" altLang="zh-CN" sz="1600" dirty="0"/>
              <a:t>张量</a:t>
            </a:r>
            <a:r>
              <a:rPr lang="zh-CN" altLang="en-US" sz="1600" dirty="0"/>
              <a:t>中元素顺序</a:t>
            </a:r>
            <a:endParaRPr lang="zh-CN" altLang="zh-CN" sz="1600" dirty="0"/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1609" y="4476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torch.cat()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torch.stack()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torch.cat()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torch.cat()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函数可以将多个张量根据指定的维度拼接起来，不改变维度数。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1968385"/>
            <a:ext cx="6328903" cy="487312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[1, 2, 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维度拼接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torch.cat([data1, data2], dim=2)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new_data.shape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[6, 3, 6]]])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tensor([[[3, 6, 5],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[6, 3, 6]],</a:t>
            </a: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[[3, 6, 5],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([2, 2, 3])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tensor([[[7, 8, 7],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[6, 3, 6],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[3, 6, 5],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[7, 5, 0]]])</a:t>
            </a: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4, 3])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tensor([[[7, 8, 7, 3, 6, 5],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[6, 3, 6, 7, 5, 0]]])</a:t>
            </a:r>
          </a:p>
          <a:p>
            <a:r>
              <a:rPr lang="en-US" altLang="zh-CN" sz="1600" dirty="0" err="1">
                <a:ea typeface="阿里巴巴普惠体" panose="00020600040101010101"/>
              </a:rPr>
              <a:t>torch.Size</a:t>
            </a:r>
            <a:r>
              <a:rPr lang="en-US" altLang="zh-CN" sz="1600" dirty="0">
                <a:ea typeface="阿里巴巴普惠体" panose="00020600040101010101"/>
              </a:rPr>
              <a:t>([1, 2, 6])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torch.stack()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1141075" cy="5201285"/>
          </a:xfrm>
        </p:spPr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torch.stack()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函数</a:t>
            </a:r>
            <a:r>
              <a:rPr lang="zh-CN" altLang="en-US" dirty="0"/>
              <a:t>会在一个新的维度上堆叠一系列张量，这会增加一个新维度，并且所有输入张量的形状必须完全相同。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6760" y="1944370"/>
            <a:ext cx="6329045" cy="46678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data1 = torch.randint(0, 10, [2, 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data2 = torch.randint(0, 10, [2, 3])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print(data2)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在0维度上拼接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在1维度上拼接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在2维度上拼接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new_data = torch.stack([data1, data2], dim=2)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print(new_data.shape)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5583" y="1887715"/>
            <a:ext cx="4171617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[9, 8, 3]],</a:t>
            </a: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2, 8],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tensor([[[6, 2, 8],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[9, 2, 8]],</a:t>
            </a: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8, 3],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[0, 7, 9]]])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torch.Size([2, 2, 3])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tensor([[[6, 9],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[2, 2],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[8, 8]],</a:t>
            </a:r>
          </a:p>
          <a:p>
            <a:endParaRPr lang="en-US" altLang="zh-CN" sz="1600" dirty="0">
              <a:ea typeface="阿里巴巴普惠体" panose="00020600040101010101"/>
            </a:endParaRPr>
          </a:p>
          <a:p>
            <a:r>
              <a:rPr lang="en-US" altLang="zh-CN" sz="1600" dirty="0">
                <a:ea typeface="阿里巴巴普惠体" panose="00020600040101010101"/>
              </a:rPr>
              <a:t>        [[9, 0],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[8, 7],</a:t>
            </a:r>
          </a:p>
          <a:p>
            <a:r>
              <a:rPr lang="en-US" altLang="zh-CN" sz="1600" dirty="0">
                <a:ea typeface="阿里巴巴普惠体" panose="00020600040101010101"/>
              </a:rPr>
              <a:t>         [3, 9]]])</a:t>
            </a:r>
          </a:p>
          <a:p>
            <a:r>
              <a:rPr lang="en-US" altLang="zh-CN" sz="1600" dirty="0">
                <a:ea typeface="阿里巴巴普惠体" panose="00020600040101010101"/>
              </a:rPr>
              <a:t>torch.Size([2, 3, 2])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842629"/>
            <a:ext cx="7731240" cy="5172741"/>
          </a:xfrm>
        </p:spPr>
        <p:txBody>
          <a:bodyPr/>
          <a:lstStyle/>
          <a:p>
            <a:r>
              <a:rPr lang="en-US" altLang="zh-CN" sz="1600" dirty="0"/>
              <a:t>cat</a:t>
            </a:r>
            <a:r>
              <a:rPr lang="zh-CN" altLang="en-US" sz="1600" dirty="0"/>
              <a:t>函数将张量按照指定维度拼接起来，增加现有维度的长度，不增加新的维度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en-US" altLang="zh-CN" sz="1600" dirty="0"/>
              <a:t>stack</a:t>
            </a:r>
            <a:r>
              <a:rPr lang="zh-CN" altLang="en-US" sz="1600" dirty="0"/>
              <a:t>函数将张量在新维度上堆叠起来，增加一个新的维度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线性回归案例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4799" y="50349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掌握自动微分模块的使用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2"/>
            <a:ext cx="10698800" cy="75145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内置了名为 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torch.autograd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的微分模块，可以自动求导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，导数就是梯度，无需手动计算</a:t>
            </a: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0E941FE-0850-5DE6-78BF-0DA44FD5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372" y="2861847"/>
            <a:ext cx="4453255" cy="1869267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8085" y="2120265"/>
            <a:ext cx="7619365" cy="22809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PyTorch不支持向量张量对向量张量的求导,只支持标量张量对向量张量的求导</a:t>
            </a:r>
          </a:p>
          <a:p>
            <a:pPr marL="742950" lvl="1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p"/>
            </a:pPr>
            <a:r>
              <a:rPr lang="en-US" altLang="zh-CN" sz="16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x如果是张量,y必须是标量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(一个值)才可以进行求导</a:t>
            </a: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计算梯度: y.backward(),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y是一个标量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获取x点的梯度值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: </a:t>
            </a:r>
            <a:r>
              <a:rPr lang="en-US" altLang="zh-CN" sz="16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x.grad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, </a:t>
            </a:r>
            <a:r>
              <a:rPr lang="en-US" altLang="zh-CN" sz="1600" b="0" i="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会累加上一次的梯度值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0F2C-9BE3-98CB-6A31-ECCD13DB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1C32D6B-B4D5-67AD-6F4D-0408829AF8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121E1-D281-90AE-09EE-17D6F08729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训练神经网络时，最常用的算法就是反向传播。在该算法中，参数（模型权重）会根据损失函数关于对应参数的梯度进行调整。为了计算这些梯度，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内置了名为 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torch.autograd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的微分模块。它支持任意计算图的自动梯度计算：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接下来我们使用这个结构进行自动微分模块的介绍。我们使用 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backward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方法、</a:t>
            </a:r>
            <a:r>
              <a:rPr lang="en-GB" altLang="zh-CN" sz="2000" b="0" i="0" dirty="0">
                <a:effectLst/>
                <a:latin typeface="Roboto" panose="02000000000000000000" pitchFamily="2" charset="0"/>
              </a:rPr>
              <a:t>grad </a:t>
            </a:r>
            <a:r>
              <a:rPr lang="zh-CN" altLang="en-US" sz="2000" b="0" i="0" dirty="0">
                <a:effectLst/>
                <a:latin typeface="Roboto" panose="02000000000000000000" pitchFamily="2" charset="0"/>
              </a:rPr>
              <a:t>属性来实现梯度的计算和访问</a:t>
            </a:r>
            <a:r>
              <a:rPr lang="en-US" altLang="zh-CN" sz="2000" b="0" i="0" dirty="0">
                <a:effectLst/>
                <a:latin typeface="Roboto" panose="02000000000000000000" pitchFamily="2" charset="0"/>
              </a:rPr>
              <a:t>.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1D5C6B-AB52-C65A-2396-52D66216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0" y="2342981"/>
            <a:ext cx="7912100" cy="26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393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570355"/>
            <a:ext cx="6329045" cy="50876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定义一个标量张量(点)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requires_grad=:默认为False,不会自动计算梯度;为True的话是将自动计算的梯度值保存到grad中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print(“x--&gt;", 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查看梯度函数类型,即曲线函数类型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print(y.grad_fn)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计算w点的梯度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此时y是一个标量,可以不用使用y.sum()转换成标量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print("y.sum()--&gt;", y.sum())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y’|(x=10) = (2*x**2)’|(x=10) = 4x|(x=10) = 40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打印w的梯度值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print(“x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x--&gt; tensor(10., requires_grad=True)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tensor(200., grad_fn=&lt;MulBackward0&gt;)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&lt;MulBackward0 object at 0x000002504B2CBFA0&gt;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y.sum()--&gt; tensor(200., grad_fn=&lt;SumBackward0&gt;)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的梯度值是</a:t>
            </a:r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 tensor(40.)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梯度基本计算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407160"/>
            <a:ext cx="6329045" cy="41859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定义一个向量张量(点)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torch.tensor([10, 20], requires_grad=True, dtype=torch.float32)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print("x--&gt;", x)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定义一个曲线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2 * x ** 2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print("y--&gt;", y)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计算梯度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x和y都是向量张量,不能进行求导,需要将y转换成标量张量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--&gt;y.sum()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y'|(x=10) = (2*x**2)'|(x=10) = 4x|(x=10) = 40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y'|(x=20) = (2*x**2)'|(x=20) = 4x|(x=20) = 80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y.sum().backward()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打印x的梯度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--&gt;",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06640" y="4385310"/>
            <a:ext cx="478536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x-</a:t>
            </a:r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-&gt; tensor([10., 20.], requires_grad=True)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y--&gt; tensor([200., 800.], grad_fn=&lt;MulBackward0&gt;)</a:t>
            </a:r>
          </a:p>
          <a:p>
            <a:r>
              <a:rPr lang="en-US" altLang="zh-CN" sz="14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</a:t>
            </a:r>
            <a:r>
              <a:rPr lang="en-US" altLang="zh-CN" sz="14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4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--&gt; tensor([40., 80.])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梯度下降法求最小值</a:t>
            </a:r>
            <a:r>
              <a:rPr lang="en-US" altLang="zh-CN" dirty="0"/>
              <a:t> — </a:t>
            </a:r>
            <a:r>
              <a:rPr lang="zh-CN" altLang="en-US" dirty="0"/>
              <a:t>如何获取损失函数的最小值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B8C7C3-9368-69B5-7020-5CE5100E72A6}"/>
              </a:ext>
            </a:extLst>
          </p:cNvPr>
          <p:cNvSpPr txBox="1"/>
          <p:nvPr/>
        </p:nvSpPr>
        <p:spPr>
          <a:xfrm>
            <a:off x="534474" y="6044631"/>
            <a:ext cx="6780726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8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梯度下降法公式</a:t>
            </a:r>
            <a:r>
              <a:rPr lang="en-US" altLang="zh-CN" sz="18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: w = w - r*grad (</a:t>
            </a:r>
            <a:r>
              <a:rPr lang="en-US" altLang="zh-CN" sz="18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r是学习率</a:t>
            </a:r>
            <a:r>
              <a:rPr lang="en-US" altLang="zh-CN" sz="18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, </a:t>
            </a:r>
            <a:r>
              <a:rPr lang="en-US" altLang="zh-CN" sz="18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grad是梯度值</a:t>
            </a:r>
            <a:r>
              <a:rPr lang="en-US" altLang="zh-CN" sz="18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17C08B-926F-105A-AF65-321D16498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49" y="1770951"/>
            <a:ext cx="5960051" cy="39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FB942B-247E-712B-F3A0-E78E22589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80" y="1770951"/>
            <a:ext cx="5960051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D1A4-DCA2-E1AF-E9E7-F6C033BA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DC1266-472B-E4EE-C53F-F99BB66650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152" y="790715"/>
            <a:ext cx="9659471" cy="751085"/>
          </a:xfrm>
        </p:spPr>
        <p:txBody>
          <a:bodyPr/>
          <a:lstStyle/>
          <a:p>
            <a:r>
              <a:rPr lang="zh-CN" altLang="en-US" dirty="0"/>
              <a:t>梯度下降法求最小值</a:t>
            </a:r>
            <a:r>
              <a:rPr lang="en-US" altLang="zh-CN" dirty="0"/>
              <a:t> — </a:t>
            </a:r>
            <a:r>
              <a:rPr lang="zh-CN" altLang="en-US" dirty="0"/>
              <a:t>如何获取损失函数的最小值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02A5F-A4BD-9C9C-1AD9-B9B57999AB7A}"/>
              </a:ext>
            </a:extLst>
          </p:cNvPr>
          <p:cNvSpPr txBox="1"/>
          <p:nvPr/>
        </p:nvSpPr>
        <p:spPr>
          <a:xfrm>
            <a:off x="242226" y="1496551"/>
            <a:ext cx="11663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类比：一个盲人站在一座超级大碗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损失函数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里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，目标是走到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调整模型参数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大碗的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最低点。 但他只能获取周围很近的坡度</a:t>
            </a:r>
            <a:r>
              <a:rPr lang="en-US" altLang="zh-CN" dirty="0">
                <a:solidFill>
                  <a:srgbClr val="000000"/>
                </a:solidFill>
                <a:latin typeface="-apple-system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梯度，如何下山？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77E7CC0-0EDB-C574-1EDA-CBACC85FF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63" y="2247636"/>
            <a:ext cx="4236504" cy="432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1B360EC-B742-AF7E-64EA-545CAFF56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4" t="8320" r="16507" b="13813"/>
          <a:stretch>
            <a:fillRect/>
          </a:stretch>
        </p:blipFill>
        <p:spPr>
          <a:xfrm>
            <a:off x="6169152" y="2142882"/>
            <a:ext cx="4320000" cy="4320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307FD85-872E-B075-26CA-A41B6977102C}"/>
              </a:ext>
            </a:extLst>
          </p:cNvPr>
          <p:cNvSpPr txBox="1"/>
          <p:nvPr/>
        </p:nvSpPr>
        <p:spPr>
          <a:xfrm>
            <a:off x="3610483" y="6312374"/>
            <a:ext cx="6581140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梯度下降法公式: w</a:t>
            </a:r>
            <a:r>
              <a:rPr lang="zh-CN" altLang="en-US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新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= w</a:t>
            </a:r>
            <a:r>
              <a:rPr lang="zh-CN" altLang="en-US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旧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– </a:t>
            </a:r>
            <a:r>
              <a:rPr lang="zh-CN" altLang="en-US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学习率 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* </a:t>
            </a:r>
            <a:r>
              <a:rPr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</a:t>
            </a:r>
            <a:endParaRPr lang="en-US" altLang="zh-CN" sz="1600" b="0" i="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72C5F7F-DDF6-AE74-B4E6-7521E50A3D27}"/>
              </a:ext>
            </a:extLst>
          </p:cNvPr>
          <p:cNvSpPr/>
          <p:nvPr/>
        </p:nvSpPr>
        <p:spPr>
          <a:xfrm>
            <a:off x="4313446" y="4050104"/>
            <a:ext cx="107205" cy="1182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15537B-0B1E-0BE8-AF4B-E408AE03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405" y="4109253"/>
            <a:ext cx="1320861" cy="337506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8E52772-9AD9-770D-5299-3ED1D64D9270}"/>
              </a:ext>
            </a:extLst>
          </p:cNvPr>
          <p:cNvCxnSpPr>
            <a:cxnSpLocks/>
            <a:stCxn id="2" idx="2"/>
          </p:cNvCxnSpPr>
          <p:nvPr/>
        </p:nvCxnSpPr>
        <p:spPr>
          <a:xfrm flipV="1">
            <a:off x="4313446" y="4027301"/>
            <a:ext cx="439490" cy="8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70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8765-C9E2-C391-CC52-4C2CB5DC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FD7767A-FBAE-2712-CE82-EA5CFAE0E0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梯度下降法求最小值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0A0CEA-A610-6BC1-913F-E19343BD2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A38621-3600-F178-41C1-18B51B461978}"/>
              </a:ext>
            </a:extLst>
          </p:cNvPr>
          <p:cNvSpPr txBox="1"/>
          <p:nvPr/>
        </p:nvSpPr>
        <p:spPr>
          <a:xfrm>
            <a:off x="746760" y="1578610"/>
            <a:ext cx="6581140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梯度下降法公式: w = w - r*grad (r是学习率, grad是梯度值)</a:t>
            </a:r>
          </a:p>
          <a:p>
            <a:pPr indent="-285750" algn="l" eaLnBrk="0" fontAlgn="base" hangingPunct="0">
              <a:lnSpc>
                <a:spcPct val="2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清空上一次的梯度值: </a:t>
            </a:r>
            <a:r>
              <a:rPr lang="en-US" altLang="zh-CN" sz="1600" b="0" i="0" dirty="0" err="1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x.grad.zero</a:t>
            </a:r>
            <a:r>
              <a:rPr lang="en-US" altLang="zh-CN" sz="1600" b="0" i="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_()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45024D-41F2-145C-C0A5-66CB38930265}"/>
              </a:ext>
            </a:extLst>
          </p:cNvPr>
          <p:cNvSpPr txBox="1"/>
          <p:nvPr/>
        </p:nvSpPr>
        <p:spPr>
          <a:xfrm>
            <a:off x="873125" y="3046730"/>
            <a:ext cx="6329045" cy="24796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求 y = x**2 + 20 的极小值点 并打印y是最小值时 w的值(梯度)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定义点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x=10 requires_grad=True  dtype=torch.float32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x**2 + 20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</a:t>
            </a:r>
            <a:r>
              <a:rPr lang="zh-CN" altLang="en-US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求</a:t>
            </a:r>
            <a:r>
              <a:rPr lang="zh-CN" altLang="en-US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3-1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前向传播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3-2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梯度清零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x.grad.zero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_()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3-3 反向传播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3-4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更新</a:t>
            </a:r>
            <a:r>
              <a:rPr lang="zh-CN" altLang="en-US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参数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=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GB" altLang="zh-CN" sz="14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- 0.01 * </a:t>
            </a:r>
            <a:r>
              <a:rPr lang="en-GB" altLang="zh-CN" sz="14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endParaRPr lang="en-GB" altLang="zh-CN" sz="14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95146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87282" y="709145"/>
            <a:ext cx="10698800" cy="517190"/>
          </a:xfrm>
        </p:spPr>
        <p:txBody>
          <a:bodyPr/>
          <a:lstStyle/>
          <a:p>
            <a:r>
              <a:rPr lang="zh-CN" altLang="en-US" dirty="0"/>
              <a:t>梯度下降法求最小值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090930"/>
            <a:ext cx="7211695" cy="576707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1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定义点x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=10 requires_grad=True  dtype=torch.float32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torch.tensor(10, requires_grad=True, dtype=torch.float32)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2 定义函数 y = x ** 2 + 20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x ** 2 + 20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:%.6f (0.01 *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y:%.6f' % (x, y))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3 利用梯度下降法 循环迭代1000 求最优解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for i in range(1, 1001):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3-1 正向计算(前向传播)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 = x ** 2 + 20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3-2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梯度清零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x.grad.zero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_()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默认张量的 grad 属性会累加历史梯度值 需手工清零上一次的提取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一开始梯度不存在, 需要做判断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if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is not None: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   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x.grad.zero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_()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3-3 反向传播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y.backward()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3-4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梯度更新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=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- 0.01 *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x.data是修改原始x内存中的数据,前后x的内存空间一样;如果使用x,此时修改前后x的内存空间不同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=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x.data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- 0.01 *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注：不能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x = x - 0.01 *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这样写</a:t>
            </a:r>
            <a:endParaRPr lang="en-US" altLang="zh-CN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   print('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:%d 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%.6f, (0.01 *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):%.6f y:%.6f' % (i, x, 0.01 *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, y))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print('x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x,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x.grad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, 'y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', y)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78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开始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初始值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:10.000000 (0.01 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* x.</a:t>
            </a:r>
            <a:r>
              <a:rPr lang="en-US" altLang="zh-CN" sz="12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无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y:120.000000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 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9.800000, (0.01 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* x.</a:t>
            </a:r>
            <a:r>
              <a:rPr lang="en-US" altLang="zh-CN" sz="12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):0.200000 y:120.000000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 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9.604000, (0.01 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* x.</a:t>
            </a:r>
            <a:r>
              <a:rPr lang="en-US" altLang="zh-CN" sz="12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):0.196000 y:116.040001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...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999 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0.000000, (0.01 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* x.</a:t>
            </a:r>
            <a:r>
              <a:rPr lang="en-US" altLang="zh-CN" sz="12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):0.000000 y:20.000000</a:t>
            </a:r>
          </a:p>
          <a:p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次数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1000 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权重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x: 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0.000000, (0.01 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* x.</a:t>
            </a:r>
            <a:r>
              <a:rPr lang="en-US" altLang="zh-CN" sz="1200" dirty="0" err="1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grad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):0.000000 y:20.000000</a:t>
            </a:r>
          </a:p>
          <a:p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</a:t>
            </a:r>
            <a:r>
              <a:rPr lang="zh-CN" altLang="en-US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tensor(1.6830e-08, requires_grad=True) tensor(3.4346e-08) y</a:t>
            </a:r>
            <a:r>
              <a:rPr lang="zh-CN" altLang="en-US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最小值</a:t>
            </a:r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 tensor(20., grad_fn=&lt;AddBackward0&gt;)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梯度计算注意点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760" y="1457325"/>
            <a:ext cx="12148820" cy="520128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760" y="1837372"/>
            <a:ext cx="7211695" cy="50958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定义一个张量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x1 = torch.tensor([10, 20], requires_grad=True, dtype=torch.float64)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</a:t>
            </a:r>
            <a:r>
              <a:rPr lang="en-GB" altLang="zh-CN" sz="1200" b="1" dirty="0" err="1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将x张量转换成numpy数组</a:t>
            </a:r>
            <a:endParaRPr lang="en-GB" altLang="zh-CN" sz="1200" b="1" dirty="0">
              <a:solidFill>
                <a:srgbClr val="008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发生报错,RuntimeError: Can't call numpy() on Tensor that requires grad. Use tensor.detach().numpy() instead.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不能将自动微分的张量转换成numpy数组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通过detach()方法产生一个新的张量,作为叶子结点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x2 = x1.detach()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x1和x2张量共享数据,但是x2不会自动微分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print(x1.requires_grad)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print(x2.requires_grad)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x1和x2张量的值一样,共用一份内存空间的数据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print(x1.data)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print(x2.data)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print(id(x1.data))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print(id(x2.data))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将x2张量转换成numpy数组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print(x2.numpy())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20685" y="4385310"/>
            <a:ext cx="478536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True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False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tensor([10., 20.], dtype=torch.float64)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2961338441200</a:t>
            </a:r>
          </a:p>
          <a:p>
            <a:r>
              <a:rPr lang="en-US" altLang="zh-CN" sz="1200" dirty="0">
                <a:solidFill>
                  <a:schemeClr val="tx1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[10. 20.]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6760" y="1457325"/>
            <a:ext cx="81140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1600" b="0" i="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不能将自动微分的张量转换成</a:t>
            </a:r>
            <a:r>
              <a:rPr lang="en-US" altLang="zh-CN" sz="1600" b="0" i="0" dirty="0" err="1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numpy</a:t>
            </a:r>
            <a:r>
              <a:rPr lang="zh-CN" altLang="en-US" sz="1600" b="0" i="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数组，会报错，可以通过</a:t>
            </a:r>
            <a:r>
              <a:rPr lang="en-US" altLang="zh-CN" sz="1600" b="0" i="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detach()</a:t>
            </a:r>
            <a:r>
              <a:rPr lang="zh-CN" altLang="en-US" sz="1600" b="0" i="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方法实现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自动微分模块应用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600" y="1318895"/>
            <a:ext cx="6328903" cy="55391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import torch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输入张量 2*5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x = torch.ones(2, 5)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目标值是 2*3   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y = torch.zeros(2, 3)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设置要更新的权重和偏置的初始值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w = torch.randn(5, 3, requires_grad=True)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b = torch.randn(3, requires_grad=True)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设置网络的输出值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z = </a:t>
            </a:r>
            <a:r>
              <a:rPr lang="en-US" altLang="zh-CN" sz="1200" b="1" dirty="0" err="1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torch.matmul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(x, w) + b  </a:t>
            </a: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矩阵乘法</a:t>
            </a:r>
            <a:endParaRPr lang="zh-CN" altLang="en-US" sz="1200" b="1" dirty="0">
              <a:solidFill>
                <a:srgbClr val="0000FF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设置损失函数，并进行损失的计算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torch.nn.MSELoss()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 = loss(z, y)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自动微分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loss.backward()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打印 w,b 变量的梯度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</a:pPr>
            <a:r>
              <a:rPr lang="en-GB" altLang="zh-CN" sz="1200" b="1" dirty="0">
                <a:solidFill>
                  <a:srgbClr val="008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# backward 函数计算的梯度值会存储在张量的 grad 变量中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print("W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:", w.grad)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print("b</a:t>
            </a:r>
            <a:r>
              <a:rPr lang="zh-CN" altLang="en-US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的梯度</a:t>
            </a:r>
            <a:r>
              <a:rPr lang="en-US" altLang="zh-CN" sz="1200" b="1" dirty="0">
                <a:solidFill>
                  <a:srgbClr val="0000FF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", b.grad)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64733" y="4385066"/>
            <a:ext cx="4061095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ea typeface="阿里巴巴普惠体" panose="00020600040101010101"/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W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: tensor([[-0.7145, -0.0328,  0.9764],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0.9764],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       [-0.7145, -0.0328,  0.9764]])</a:t>
            </a:r>
          </a:p>
          <a:p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b</a:t>
            </a:r>
            <a:r>
              <a:rPr lang="zh-CN" altLang="en-US" sz="1400" dirty="0">
                <a:solidFill>
                  <a:schemeClr val="tx1"/>
                </a:solidFill>
                <a:ea typeface="阿里巴巴普惠体" panose="00020600040101010101"/>
              </a:rPr>
              <a:t>的梯度</a:t>
            </a:r>
            <a:r>
              <a:rPr lang="en-US" altLang="zh-CN" sz="1400" dirty="0">
                <a:solidFill>
                  <a:schemeClr val="tx1"/>
                </a:solidFill>
                <a:ea typeface="阿里巴巴普惠体" panose="00020600040101010101"/>
              </a:rPr>
              <a:t> tensor([-0.7145, -0.0328,  0.9764])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120" y="974203"/>
            <a:ext cx="5812489" cy="4909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spAutoFit/>
          </a:bodyPr>
          <a:lstStyle/>
          <a:p>
            <a:pPr marL="0" lvl="0" indent="0">
              <a:buFontTx/>
              <a:buNone/>
            </a:pPr>
            <a:endParaRPr lang="zh-CN" altLang="zh-CN" sz="16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开启梯度计算 </a:t>
            </a:r>
            <a:r>
              <a:rPr lang="zh-CN" altLang="zh-CN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requires_grad=True 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 dirty="0" err="1"/>
              <a:t>计算梯度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y.backward</a:t>
            </a:r>
            <a:r>
              <a:rPr lang="en-US" altLang="zh-CN" sz="2000" dirty="0"/>
              <a:t>(), </a:t>
            </a:r>
            <a:r>
              <a:rPr lang="en-US" altLang="zh-CN" sz="2000" dirty="0" err="1">
                <a:solidFill>
                  <a:srgbClr val="FF0000"/>
                </a:solidFill>
              </a:rPr>
              <a:t>y是一个标量</a:t>
            </a:r>
            <a:endParaRPr lang="en-US" altLang="zh-CN" sz="20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 dirty="0" err="1"/>
              <a:t>获取x点的梯度值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x.grad</a:t>
            </a:r>
            <a:r>
              <a:rPr lang="en-US" altLang="zh-CN" sz="2000" dirty="0"/>
              <a:t>, </a:t>
            </a:r>
            <a:r>
              <a:rPr lang="en-US" altLang="zh-CN" sz="2000" dirty="0" err="1">
                <a:solidFill>
                  <a:srgbClr val="FF0000"/>
                </a:solidFill>
              </a:rPr>
              <a:t>会累加上一次的梯度值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detach()</a:t>
            </a:r>
            <a:r>
              <a:rPr lang="zh-CN" altLang="en-US" sz="200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用于开启梯度计算的张量转</a:t>
            </a:r>
            <a:r>
              <a:rPr lang="en-US" altLang="zh-CN" sz="2000" dirty="0" err="1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numpy</a:t>
            </a:r>
            <a:r>
              <a:rPr lang="zh-CN" altLang="en-US" sz="2000" dirty="0">
                <a:solidFill>
                  <a:srgbClr val="333333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数值</a:t>
            </a:r>
            <a:endParaRPr lang="en-US" altLang="zh-CN" sz="2000" dirty="0">
              <a:solidFill>
                <a:srgbClr val="333333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000" dirty="0" err="1">
                <a:solidFill>
                  <a:srgbClr val="333333"/>
                </a:solidFill>
                <a:ea typeface="阿里巴巴普惠体 2.0 45 Light" panose="00020600040101010101" charset="-122"/>
              </a:rPr>
              <a:t>loss.backward</a:t>
            </a:r>
            <a:r>
              <a:rPr lang="en-US" altLang="zh-CN" sz="2000" dirty="0">
                <a:solidFill>
                  <a:srgbClr val="333333"/>
                </a:solidFill>
                <a:ea typeface="阿里巴巴普惠体 2.0 45 Light" panose="00020600040101010101" charset="-122"/>
              </a:rPr>
              <a:t>()</a:t>
            </a:r>
            <a:r>
              <a:rPr lang="zh-CN" altLang="en-US" sz="2000" dirty="0">
                <a:solidFill>
                  <a:srgbClr val="333333"/>
                </a:solidFill>
                <a:ea typeface="阿里巴巴普惠体 2.0 45 Light" panose="00020600040101010101" charset="-122"/>
              </a:rPr>
              <a:t>反向传播前需要梯度清零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514905"/>
            <a:ext cx="5973445" cy="6010183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张量的创建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张量的类型转换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张量数值计算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张量运算函数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张量索引操作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张量形状操作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张量拼接操作</a:t>
            </a:r>
          </a:p>
          <a:p>
            <a:pPr algn="l"/>
            <a:r>
              <a:rPr kumimoji="1" lang="zh-CN" altLang="en-US" sz="1600" dirty="0">
                <a:sym typeface="+mn-ea"/>
              </a:rPr>
              <a:t>自动微分模块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案例</a:t>
            </a:r>
            <a:r>
              <a:rPr kumimoji="1" lang="en-US" altLang="zh-CN" sz="1600" dirty="0">
                <a:solidFill>
                  <a:srgbClr val="C00000"/>
                </a:solidFill>
                <a:sym typeface="+mn-ea"/>
              </a:rPr>
              <a:t>-</a:t>
            </a:r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线性回归案例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8188" y="55259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构建线性回归模型相关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46600" y="932446"/>
            <a:ext cx="10698800" cy="3994485"/>
          </a:xfrm>
        </p:spPr>
        <p:txBody>
          <a:bodyPr anchor="t"/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我们使用 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en-GB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的各个组件来构建线性回归的实现。在</a:t>
            </a:r>
            <a:r>
              <a:rPr lang="en-GB" altLang="zh-CN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中进行神经网络训练的流程一般分为四个步骤：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准备数据集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构建模型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设置损失函数和优化器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08601"/>
            <a:ext cx="41402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要使用的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818516"/>
            <a:ext cx="10698800" cy="259544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nn.MSELoss() </a:t>
            </a: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实现</a:t>
            </a:r>
            <a:r>
              <a:rPr lang="en-US" altLang="zh-CN" sz="2000" b="1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MSE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损失函数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data.DataLoader </a:t>
            </a: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实现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数据加载器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optim.SGD </a:t>
            </a:r>
            <a:r>
              <a:rPr lang="zh-CN" altLang="en-US" sz="20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实现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优化器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，来更新模型参数：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W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新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= W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旧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–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学习率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*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梯度</a:t>
            </a:r>
            <a:endParaRPr lang="en-US" altLang="zh-CN" sz="20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使用 PyTorch 的 nn.Linear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实现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线性回归模型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导入工具包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sz="1400" dirty="0">
              <a:solidFill>
                <a:srgbClr val="0070C0"/>
              </a:solidFill>
              <a:latin typeface="Times New Roman" panose="02020603050405020304" pitchFamily="18" charset="0"/>
              <a:ea typeface="阿里巴巴普惠体" panose="00020600040101010101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22576" y="1974461"/>
            <a:ext cx="8962255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导包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numpy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对象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-&gt;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张量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-&gt;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数据集对象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TensorDataset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 -&gt;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数据加载器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DataLoader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from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torch.utils.data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TensorDataset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构造数据集对象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from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torch.utils.data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DataLoader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数据加载器，按批次加载数据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from torch 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nn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提供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MSE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损失函数 和 线性层，线性层用来模拟线性回归模型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from torch 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optim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提供各种优化器，用于更新模型参数，公式为：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w ← w - 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lr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 * grad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from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sklearn.datasets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make_regression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创建线性回归的示例数据集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import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matplotlib.pyplot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 as 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plt</a:t>
            </a:r>
            <a:endParaRPr lang="en-US" altLang="zh-CN" sz="1400" dirty="0">
              <a:solidFill>
                <a:srgbClr val="0070C0"/>
              </a:solidFill>
              <a:latin typeface="Times New Roman" panose="02020603050405020304" pitchFamily="18" charset="0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设置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matplotlib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中文字体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plt.rcParams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['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font.sans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-serif'] = ['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SimHei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']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用来正常显示中文标签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plt.rcParams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['</a:t>
            </a:r>
            <a:r>
              <a:rPr lang="en-US" altLang="zh-CN" sz="1400" dirty="0" err="1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axes.unicode_minus</a:t>
            </a:r>
            <a:r>
              <a:rPr lang="en-US" altLang="zh-CN" sz="1400" dirty="0">
                <a:solidFill>
                  <a:srgbClr val="0070C0"/>
                </a:solidFill>
                <a:latin typeface="Times New Roman" panose="02020603050405020304" pitchFamily="18" charset="0"/>
                <a:ea typeface="阿里巴巴普惠体" panose="00020600040101010101"/>
              </a:rPr>
              <a:t>'] = False  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阿里巴巴普惠体" panose="00020600040101010101"/>
              </a:rPr>
              <a:t>用来正常显示负号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数据集构建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16886" y="1023692"/>
            <a:ext cx="6826052" cy="539634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# 1.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定义函数，创建线性回归数据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创建数据集对象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make_regression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n_samples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=100,          # 100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条样本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           # 1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个特征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n_targets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           # 1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个标签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/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目标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noise=10,       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噪声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bias=13.9,        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偏移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=True,      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是否返回系数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random_state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=6          #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封装成 张量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=torch.float32)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dtype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=torch.float32)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返回结果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return x, 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构建数据集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9067" y="1684933"/>
            <a:ext cx="5232721" cy="338455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if __name__ == "__main__":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92D050"/>
                </a:solidFill>
                <a:latin typeface="宋体" panose="02010600030101010101" pitchFamily="2" charset="-122"/>
                <a:ea typeface="阿里巴巴普惠体" panose="00020600040101010101"/>
              </a:rPr>
              <a:t>     </a:t>
            </a: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生成的数据 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x,y,coef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b="1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绘制数据的真实的线性回归结果</a:t>
            </a:r>
            <a:endParaRPr lang="en-GB" altLang="zh-CN" sz="1400" b="1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x.min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x.max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1000) 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y1 =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</a:t>
            </a: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4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.5 for v in x]) 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y1, label='real’) 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</a:p>
          <a:p>
            <a:pPr marL="457200" lvl="2"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F617AF09-285D-393D-FA93-2A6DEEE16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782" y="1900989"/>
            <a:ext cx="4263204" cy="316849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dataloader</a:t>
            </a:r>
            <a:r>
              <a:rPr lang="zh-CN" altLang="en-US" dirty="0"/>
              <a:t>构建数据加载器并进行模型构建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01796" y="1793713"/>
            <a:ext cx="7438821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create_dataset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构造数据集对象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dataset = 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TensorDataset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构造数据加载器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dataset=: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数据集对象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批量训练样本数据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shuffle=: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样本数据是否进行乱序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(dataset=dataset,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=16, shuffle=True)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构造模型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指的是输入张量的大小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指的是输出张量的大小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model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out_features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设置损失函数和优化器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4129" y="2032211"/>
            <a:ext cx="8640261" cy="163121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构造平方损失函数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loss_fn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nn.MSELoss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20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构造优化函数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 =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optim.SGD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(params=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model.parameters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20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lr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=1e-2)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模型训练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36532" y="824754"/>
            <a:ext cx="7379347" cy="590931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定义训练轮数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epochs = 100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定义 每轮的平均损失列表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train_loss_list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[]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开始训练，按照轮次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for epoch in range(epochs):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 训练总损失，训练总样本数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total_train_loss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0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total_train_sample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0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分批次 训练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for 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_x,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in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dataloader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模型预测，前向传播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model(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_x)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计算损失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批次平均损失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loss_fn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y_pred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train_y.reshape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(-1,1))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计算总损失 和 总样本数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_x.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</a:t>
            </a: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total_train_loss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loss.item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total_train_sample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梯度清零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optimizer.zero_grad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反向传播，计算梯度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loss.backward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更新模型参数</a:t>
            </a:r>
          </a:p>
          <a:p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optimizer.step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添加本轮 平均损失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train_loss_list.append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total_train_loss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/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total_train_sample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构建训练模型函数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200981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6295" y="1457271"/>
            <a:ext cx="6009516" cy="46158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绘制损失变化曲线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(range(epochs),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epoch_loss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plt.title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损失变化曲线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  <a:sym typeface="+mn-ea"/>
              </a:rPr>
              <a:t>'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GB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绘制拟合直线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scatter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x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linspace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min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x.max(),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1000)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model.bias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for v 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([v *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coef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+ 14.5 for v 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 x])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plot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y1,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训练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</a:t>
            </a:r>
            <a:r>
              <a:rPr lang="en-US" altLang="zh-CN" sz="1400" b="1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plot</a:t>
            </a:r>
            <a:r>
              <a:rPr lang="en-US" altLang="zh-CN" sz="1400" b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y2, label='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真实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plt.grid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plt.legend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49DB0322-C637-0F11-31C3-2A30D5760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973" y="807347"/>
            <a:ext cx="3272096" cy="2880000"/>
          </a:xfrm>
          <a:prstGeom prst="rect">
            <a:avLst/>
          </a:prstGeom>
        </p:spPr>
      </p:pic>
      <p:pic>
        <p:nvPicPr>
          <p:cNvPr id="10" name="图片 9" descr="图表, 散点图&#10;&#10;AI 生成的内容可能不正确。">
            <a:extLst>
              <a:ext uri="{FF2B5EF4-FFF2-40B4-BE49-F238E27FC236}">
                <a16:creationId xmlns:a16="http://schemas.microsoft.com/office/drawing/2014/main" id="{19EAB78A-C8A7-2158-27C6-470518D75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973" y="3687347"/>
            <a:ext cx="3229196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443095" y="1445101"/>
            <a:ext cx="3770630" cy="396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lvl="0" indent="0" algn="l">
              <a:buFontTx/>
              <a:buNone/>
            </a:pPr>
            <a:endParaRPr lang="zh-CN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y</a:t>
            </a:r>
            <a:r>
              <a:rPr lang="en-US" altLang="en-GB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</a:t>
            </a:r>
            <a:r>
              <a:rPr lang="en-GB" altLang="zh-CN" sz="160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orch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模型构建的流程为</a:t>
            </a: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准备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数据集</a:t>
            </a:r>
            <a:endParaRPr lang="zh-CN" altLang="en-US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构建模型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设置损失函数和优化器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模型训练</a:t>
            </a:r>
            <a:endParaRPr lang="en-US" altLang="zh-CN" sz="160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模型测试</a:t>
            </a:r>
            <a:endParaRPr lang="zh-CN" altLang="en-US" sz="16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FontTx/>
              <a:buNone/>
            </a:pPr>
            <a:endParaRPr lang="zh-CN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7663</TotalTime>
  <Words>9747</Words>
  <Application>Microsoft Office PowerPoint</Application>
  <PresentationFormat>宽屏</PresentationFormat>
  <Paragraphs>1170</Paragraphs>
  <Slides>95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95</vt:i4>
      </vt:variant>
    </vt:vector>
  </HeadingPairs>
  <TitlesOfParts>
    <vt:vector size="127" baseType="lpstr">
      <vt:lpstr>Alibaba PuHuiTi</vt:lpstr>
      <vt:lpstr>-apple-system</vt:lpstr>
      <vt:lpstr>Helvetica Neue</vt:lpstr>
      <vt:lpstr>阿里巴巴普惠体</vt:lpstr>
      <vt:lpstr>阿里巴巴普惠体 2.0 45 Light</vt:lpstr>
      <vt:lpstr>阿里巴巴普惠体 B</vt:lpstr>
      <vt:lpstr>阿里巴巴普惠体 M</vt:lpstr>
      <vt:lpstr>阿里巴巴普惠体 R</vt:lpstr>
      <vt:lpstr>等线</vt:lpstr>
      <vt:lpstr>等线 Light</vt:lpstr>
      <vt:lpstr>黑体</vt:lpstr>
      <vt:lpstr>华文楷体</vt:lpstr>
      <vt:lpstr>宋体</vt:lpstr>
      <vt:lpstr>Arial</vt:lpstr>
      <vt:lpstr>Calibri</vt:lpstr>
      <vt:lpstr>Open Sans</vt:lpstr>
      <vt:lpstr>Roboto</vt:lpstr>
      <vt:lpstr>Segoe UI</vt:lpstr>
      <vt:lpstr>Times New Roman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PyTorch框架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Mingxuan Yang</cp:lastModifiedBy>
  <cp:revision>2208</cp:revision>
  <dcterms:created xsi:type="dcterms:W3CDTF">2022-09-27T09:38:00Z</dcterms:created>
  <dcterms:modified xsi:type="dcterms:W3CDTF">2026-02-02T08:52:44Z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2052-12.1.0.20784</vt:lpwstr>
  </property>
  <property fmtid="{D5CDD505-2E9C-101B-9397-08002B2CF9AE}" pid="4" name="commondata">
    <vt:lpwstr>eyJoZGlkIjoiMDAzZmIwZjU2YjM3ZmIyZjYxNWQ1NTViMjdhYzBlM2EifQ==</vt:lpwstr>
  </property>
</Properties>
</file>