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6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7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8.xml" ContentType="application/vnd.openxmlformats-officedocument.theme+xml"/>
  <Override PartName="/ppt/slideLayouts/slideLayout58.xml" ContentType="application/vnd.openxmlformats-officedocument.presentationml.slideLayout+xml"/>
  <Override PartName="/ppt/theme/theme9.xml" ContentType="application/vnd.openxmlformats-officedocument.theme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10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0" r:id="rId3"/>
    <p:sldMasterId id="2147483664" r:id="rId4"/>
    <p:sldMasterId id="2147483666" r:id="rId5"/>
    <p:sldMasterId id="2147483669" r:id="rId6"/>
    <p:sldMasterId id="2147483689" r:id="rId7"/>
    <p:sldMasterId id="2147483701" r:id="rId8"/>
    <p:sldMasterId id="2147483713" r:id="rId9"/>
    <p:sldMasterId id="2147483715" r:id="rId10"/>
    <p:sldMasterId id="2147483734" r:id="rId11"/>
  </p:sldMasterIdLst>
  <p:notesMasterIdLst>
    <p:notesMasterId r:id="rId120"/>
  </p:notesMasterIdLst>
  <p:handoutMasterIdLst>
    <p:handoutMasterId r:id="rId121"/>
  </p:handoutMasterIdLst>
  <p:sldIdLst>
    <p:sldId id="462" r:id="rId12"/>
    <p:sldId id="479" r:id="rId13"/>
    <p:sldId id="1665" r:id="rId14"/>
    <p:sldId id="1817" r:id="rId15"/>
    <p:sldId id="1667" r:id="rId16"/>
    <p:sldId id="1668" r:id="rId17"/>
    <p:sldId id="1669" r:id="rId18"/>
    <p:sldId id="1907" r:id="rId19"/>
    <p:sldId id="1794" r:id="rId20"/>
    <p:sldId id="1671" r:id="rId21"/>
    <p:sldId id="1672" r:id="rId22"/>
    <p:sldId id="1673" r:id="rId23"/>
    <p:sldId id="1674" r:id="rId24"/>
    <p:sldId id="1675" r:id="rId25"/>
    <p:sldId id="1676" r:id="rId26"/>
    <p:sldId id="1681" r:id="rId27"/>
    <p:sldId id="1682" r:id="rId28"/>
    <p:sldId id="1683" r:id="rId29"/>
    <p:sldId id="1677" r:id="rId30"/>
    <p:sldId id="1679" r:id="rId31"/>
    <p:sldId id="1680" r:id="rId32"/>
    <p:sldId id="1684" r:id="rId33"/>
    <p:sldId id="2043" r:id="rId34"/>
    <p:sldId id="1685" r:id="rId35"/>
    <p:sldId id="1686" r:id="rId36"/>
    <p:sldId id="1687" r:id="rId37"/>
    <p:sldId id="1795" r:id="rId38"/>
    <p:sldId id="1688" r:id="rId39"/>
    <p:sldId id="1689" r:id="rId40"/>
    <p:sldId id="1691" r:id="rId41"/>
    <p:sldId id="1692" r:id="rId42"/>
    <p:sldId id="1693" r:id="rId43"/>
    <p:sldId id="1694" r:id="rId44"/>
    <p:sldId id="1796" r:id="rId45"/>
    <p:sldId id="1797" r:id="rId46"/>
    <p:sldId id="1695" r:id="rId47"/>
    <p:sldId id="1698" r:id="rId48"/>
    <p:sldId id="1699" r:id="rId49"/>
    <p:sldId id="1700" r:id="rId50"/>
    <p:sldId id="1800" r:id="rId51"/>
    <p:sldId id="1705" r:id="rId52"/>
    <p:sldId id="1706" r:id="rId53"/>
    <p:sldId id="1707" r:id="rId54"/>
    <p:sldId id="1801" r:id="rId55"/>
    <p:sldId id="1708" r:id="rId56"/>
    <p:sldId id="1709" r:id="rId57"/>
    <p:sldId id="1711" r:id="rId58"/>
    <p:sldId id="1714" r:id="rId59"/>
    <p:sldId id="1715" r:id="rId60"/>
    <p:sldId id="1717" r:id="rId61"/>
    <p:sldId id="1718" r:id="rId62"/>
    <p:sldId id="1719" r:id="rId63"/>
    <p:sldId id="1720" r:id="rId64"/>
    <p:sldId id="1721" r:id="rId65"/>
    <p:sldId id="1722" r:id="rId66"/>
    <p:sldId id="1603" r:id="rId67"/>
    <p:sldId id="1723" r:id="rId68"/>
    <p:sldId id="1724" r:id="rId69"/>
    <p:sldId id="1727" r:id="rId70"/>
    <p:sldId id="1728" r:id="rId71"/>
    <p:sldId id="1729" r:id="rId72"/>
    <p:sldId id="1802" r:id="rId73"/>
    <p:sldId id="1730" r:id="rId74"/>
    <p:sldId id="1731" r:id="rId75"/>
    <p:sldId id="1732" r:id="rId76"/>
    <p:sldId id="1733" r:id="rId77"/>
    <p:sldId id="1734" r:id="rId78"/>
    <p:sldId id="1735" r:id="rId79"/>
    <p:sldId id="1803" r:id="rId80"/>
    <p:sldId id="1739" r:id="rId81"/>
    <p:sldId id="1740" r:id="rId82"/>
    <p:sldId id="1741" r:id="rId83"/>
    <p:sldId id="1742" r:id="rId84"/>
    <p:sldId id="1744" r:id="rId85"/>
    <p:sldId id="1805" r:id="rId86"/>
    <p:sldId id="1746" r:id="rId87"/>
    <p:sldId id="1747" r:id="rId88"/>
    <p:sldId id="1753" r:id="rId89"/>
    <p:sldId id="1806" r:id="rId90"/>
    <p:sldId id="1758" r:id="rId91"/>
    <p:sldId id="2045" r:id="rId92"/>
    <p:sldId id="2044" r:id="rId93"/>
    <p:sldId id="1807" r:id="rId94"/>
    <p:sldId id="1771" r:id="rId95"/>
    <p:sldId id="1772" r:id="rId96"/>
    <p:sldId id="1773" r:id="rId97"/>
    <p:sldId id="1774" r:id="rId98"/>
    <p:sldId id="1775" r:id="rId99"/>
    <p:sldId id="1776" r:id="rId100"/>
    <p:sldId id="2023" r:id="rId101"/>
    <p:sldId id="1725" r:id="rId102"/>
    <p:sldId id="1778" r:id="rId103"/>
    <p:sldId id="1779" r:id="rId104"/>
    <p:sldId id="1780" r:id="rId105"/>
    <p:sldId id="1808" r:id="rId106"/>
    <p:sldId id="1809" r:id="rId107"/>
    <p:sldId id="1781" r:id="rId108"/>
    <p:sldId id="1782" r:id="rId109"/>
    <p:sldId id="1783" r:id="rId110"/>
    <p:sldId id="1784" r:id="rId111"/>
    <p:sldId id="1811" r:id="rId112"/>
    <p:sldId id="1785" r:id="rId113"/>
    <p:sldId id="1786" r:id="rId114"/>
    <p:sldId id="1812" r:id="rId115"/>
    <p:sldId id="1787" r:id="rId116"/>
    <p:sldId id="1813" r:id="rId117"/>
    <p:sldId id="1788" r:id="rId118"/>
    <p:sldId id="264" r:id="rId119"/>
  </p:sldIdLst>
  <p:sldSz cx="12192000" cy="6858000"/>
  <p:notesSz cx="6858000" cy="9144000"/>
  <p:custDataLst>
    <p:tags r:id="rId1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1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8001"/>
    <a:srgbClr val="AD2A26"/>
    <a:srgbClr val="AD2B26"/>
    <a:srgbClr val="49504F"/>
    <a:srgbClr val="B60206"/>
    <a:srgbClr val="B70006"/>
    <a:srgbClr val="FFFFE4"/>
    <a:srgbClr val="919191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35" autoAdjust="0"/>
    <p:restoredTop sz="95344" autoAdjust="0"/>
  </p:normalViewPr>
  <p:slideViewPr>
    <p:cSldViewPr snapToGrid="0" showGuides="1">
      <p:cViewPr varScale="1">
        <p:scale>
          <a:sx n="110" d="100"/>
          <a:sy n="110" d="100"/>
        </p:scale>
        <p:origin x="340" y="52"/>
      </p:cViewPr>
      <p:guideLst>
        <p:guide orient="horz" pos="592"/>
        <p:guide pos="371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5.xml"/><Relationship Id="rId117" Type="http://schemas.openxmlformats.org/officeDocument/2006/relationships/slide" Target="slides/slide106.xml"/><Relationship Id="rId21" Type="http://schemas.openxmlformats.org/officeDocument/2006/relationships/slide" Target="slides/slide10.xml"/><Relationship Id="rId42" Type="http://schemas.openxmlformats.org/officeDocument/2006/relationships/slide" Target="slides/slide31.xml"/><Relationship Id="rId47" Type="http://schemas.openxmlformats.org/officeDocument/2006/relationships/slide" Target="slides/slide36.xml"/><Relationship Id="rId63" Type="http://schemas.openxmlformats.org/officeDocument/2006/relationships/slide" Target="slides/slide52.xml"/><Relationship Id="rId68" Type="http://schemas.openxmlformats.org/officeDocument/2006/relationships/slide" Target="slides/slide57.xml"/><Relationship Id="rId84" Type="http://schemas.openxmlformats.org/officeDocument/2006/relationships/slide" Target="slides/slide73.xml"/><Relationship Id="rId89" Type="http://schemas.openxmlformats.org/officeDocument/2006/relationships/slide" Target="slides/slide78.xml"/><Relationship Id="rId112" Type="http://schemas.openxmlformats.org/officeDocument/2006/relationships/slide" Target="slides/slide101.xml"/><Relationship Id="rId16" Type="http://schemas.openxmlformats.org/officeDocument/2006/relationships/slide" Target="slides/slide5.xml"/><Relationship Id="rId107" Type="http://schemas.openxmlformats.org/officeDocument/2006/relationships/slide" Target="slides/slide96.xml"/><Relationship Id="rId11" Type="http://schemas.openxmlformats.org/officeDocument/2006/relationships/slideMaster" Target="slideMasters/slideMaster11.xml"/><Relationship Id="rId32" Type="http://schemas.openxmlformats.org/officeDocument/2006/relationships/slide" Target="slides/slide21.xml"/><Relationship Id="rId37" Type="http://schemas.openxmlformats.org/officeDocument/2006/relationships/slide" Target="slides/slide26.xml"/><Relationship Id="rId53" Type="http://schemas.openxmlformats.org/officeDocument/2006/relationships/slide" Target="slides/slide42.xml"/><Relationship Id="rId58" Type="http://schemas.openxmlformats.org/officeDocument/2006/relationships/slide" Target="slides/slide47.xml"/><Relationship Id="rId74" Type="http://schemas.openxmlformats.org/officeDocument/2006/relationships/slide" Target="slides/slide63.xml"/><Relationship Id="rId79" Type="http://schemas.openxmlformats.org/officeDocument/2006/relationships/slide" Target="slides/slide68.xml"/><Relationship Id="rId102" Type="http://schemas.openxmlformats.org/officeDocument/2006/relationships/slide" Target="slides/slide91.xml"/><Relationship Id="rId123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79.xml"/><Relationship Id="rId95" Type="http://schemas.openxmlformats.org/officeDocument/2006/relationships/slide" Target="slides/slide84.xml"/><Relationship Id="rId22" Type="http://schemas.openxmlformats.org/officeDocument/2006/relationships/slide" Target="slides/slide11.xml"/><Relationship Id="rId27" Type="http://schemas.openxmlformats.org/officeDocument/2006/relationships/slide" Target="slides/slide16.xml"/><Relationship Id="rId43" Type="http://schemas.openxmlformats.org/officeDocument/2006/relationships/slide" Target="slides/slide32.xml"/><Relationship Id="rId48" Type="http://schemas.openxmlformats.org/officeDocument/2006/relationships/slide" Target="slides/slide37.xml"/><Relationship Id="rId64" Type="http://schemas.openxmlformats.org/officeDocument/2006/relationships/slide" Target="slides/slide53.xml"/><Relationship Id="rId69" Type="http://schemas.openxmlformats.org/officeDocument/2006/relationships/slide" Target="slides/slide58.xml"/><Relationship Id="rId113" Type="http://schemas.openxmlformats.org/officeDocument/2006/relationships/slide" Target="slides/slide102.xml"/><Relationship Id="rId118" Type="http://schemas.openxmlformats.org/officeDocument/2006/relationships/slide" Target="slides/slide107.xml"/><Relationship Id="rId80" Type="http://schemas.openxmlformats.org/officeDocument/2006/relationships/slide" Target="slides/slide69.xml"/><Relationship Id="rId85" Type="http://schemas.openxmlformats.org/officeDocument/2006/relationships/slide" Target="slides/slide74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33" Type="http://schemas.openxmlformats.org/officeDocument/2006/relationships/slide" Target="slides/slide22.xml"/><Relationship Id="rId38" Type="http://schemas.openxmlformats.org/officeDocument/2006/relationships/slide" Target="slides/slide27.xml"/><Relationship Id="rId59" Type="http://schemas.openxmlformats.org/officeDocument/2006/relationships/slide" Target="slides/slide48.xml"/><Relationship Id="rId103" Type="http://schemas.openxmlformats.org/officeDocument/2006/relationships/slide" Target="slides/slide92.xml"/><Relationship Id="rId108" Type="http://schemas.openxmlformats.org/officeDocument/2006/relationships/slide" Target="slides/slide97.xml"/><Relationship Id="rId124" Type="http://schemas.openxmlformats.org/officeDocument/2006/relationships/presProps" Target="presProps.xml"/><Relationship Id="rId54" Type="http://schemas.openxmlformats.org/officeDocument/2006/relationships/slide" Target="slides/slide43.xml"/><Relationship Id="rId70" Type="http://schemas.openxmlformats.org/officeDocument/2006/relationships/slide" Target="slides/slide59.xml"/><Relationship Id="rId75" Type="http://schemas.openxmlformats.org/officeDocument/2006/relationships/slide" Target="slides/slide64.xml"/><Relationship Id="rId91" Type="http://schemas.openxmlformats.org/officeDocument/2006/relationships/slide" Target="slides/slide80.xml"/><Relationship Id="rId96" Type="http://schemas.openxmlformats.org/officeDocument/2006/relationships/slide" Target="slides/slide8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23" Type="http://schemas.openxmlformats.org/officeDocument/2006/relationships/slide" Target="slides/slide12.xml"/><Relationship Id="rId28" Type="http://schemas.openxmlformats.org/officeDocument/2006/relationships/slide" Target="slides/slide17.xml"/><Relationship Id="rId49" Type="http://schemas.openxmlformats.org/officeDocument/2006/relationships/slide" Target="slides/slide38.xml"/><Relationship Id="rId114" Type="http://schemas.openxmlformats.org/officeDocument/2006/relationships/slide" Target="slides/slide103.xml"/><Relationship Id="rId119" Type="http://schemas.openxmlformats.org/officeDocument/2006/relationships/slide" Target="slides/slide108.xml"/><Relationship Id="rId44" Type="http://schemas.openxmlformats.org/officeDocument/2006/relationships/slide" Target="slides/slide33.xml"/><Relationship Id="rId60" Type="http://schemas.openxmlformats.org/officeDocument/2006/relationships/slide" Target="slides/slide49.xml"/><Relationship Id="rId65" Type="http://schemas.openxmlformats.org/officeDocument/2006/relationships/slide" Target="slides/slide54.xml"/><Relationship Id="rId81" Type="http://schemas.openxmlformats.org/officeDocument/2006/relationships/slide" Target="slides/slide70.xml"/><Relationship Id="rId86" Type="http://schemas.openxmlformats.org/officeDocument/2006/relationships/slide" Target="slides/slide75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39" Type="http://schemas.openxmlformats.org/officeDocument/2006/relationships/slide" Target="slides/slide28.xml"/><Relationship Id="rId109" Type="http://schemas.openxmlformats.org/officeDocument/2006/relationships/slide" Target="slides/slide98.xml"/><Relationship Id="rId34" Type="http://schemas.openxmlformats.org/officeDocument/2006/relationships/slide" Target="slides/slide23.xml"/><Relationship Id="rId50" Type="http://schemas.openxmlformats.org/officeDocument/2006/relationships/slide" Target="slides/slide39.xml"/><Relationship Id="rId55" Type="http://schemas.openxmlformats.org/officeDocument/2006/relationships/slide" Target="slides/slide44.xml"/><Relationship Id="rId76" Type="http://schemas.openxmlformats.org/officeDocument/2006/relationships/slide" Target="slides/slide65.xml"/><Relationship Id="rId97" Type="http://schemas.openxmlformats.org/officeDocument/2006/relationships/slide" Target="slides/slide86.xml"/><Relationship Id="rId104" Type="http://schemas.openxmlformats.org/officeDocument/2006/relationships/slide" Target="slides/slide93.xml"/><Relationship Id="rId120" Type="http://schemas.openxmlformats.org/officeDocument/2006/relationships/notesMaster" Target="notesMasters/notesMaster1.xml"/><Relationship Id="rId12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0.xml"/><Relationship Id="rId92" Type="http://schemas.openxmlformats.org/officeDocument/2006/relationships/slide" Target="slides/slide81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18.xml"/><Relationship Id="rId24" Type="http://schemas.openxmlformats.org/officeDocument/2006/relationships/slide" Target="slides/slide13.xml"/><Relationship Id="rId40" Type="http://schemas.openxmlformats.org/officeDocument/2006/relationships/slide" Target="slides/slide29.xml"/><Relationship Id="rId45" Type="http://schemas.openxmlformats.org/officeDocument/2006/relationships/slide" Target="slides/slide34.xml"/><Relationship Id="rId66" Type="http://schemas.openxmlformats.org/officeDocument/2006/relationships/slide" Target="slides/slide55.xml"/><Relationship Id="rId87" Type="http://schemas.openxmlformats.org/officeDocument/2006/relationships/slide" Target="slides/slide76.xml"/><Relationship Id="rId110" Type="http://schemas.openxmlformats.org/officeDocument/2006/relationships/slide" Target="slides/slide99.xml"/><Relationship Id="rId115" Type="http://schemas.openxmlformats.org/officeDocument/2006/relationships/slide" Target="slides/slide104.xml"/><Relationship Id="rId61" Type="http://schemas.openxmlformats.org/officeDocument/2006/relationships/slide" Target="slides/slide50.xml"/><Relationship Id="rId82" Type="http://schemas.openxmlformats.org/officeDocument/2006/relationships/slide" Target="slides/slide71.xml"/><Relationship Id="rId19" Type="http://schemas.openxmlformats.org/officeDocument/2006/relationships/slide" Target="slides/slide8.xml"/><Relationship Id="rId14" Type="http://schemas.openxmlformats.org/officeDocument/2006/relationships/slide" Target="slides/slide3.xml"/><Relationship Id="rId30" Type="http://schemas.openxmlformats.org/officeDocument/2006/relationships/slide" Target="slides/slide19.xml"/><Relationship Id="rId35" Type="http://schemas.openxmlformats.org/officeDocument/2006/relationships/slide" Target="slides/slide24.xml"/><Relationship Id="rId56" Type="http://schemas.openxmlformats.org/officeDocument/2006/relationships/slide" Target="slides/slide45.xml"/><Relationship Id="rId77" Type="http://schemas.openxmlformats.org/officeDocument/2006/relationships/slide" Target="slides/slide66.xml"/><Relationship Id="rId100" Type="http://schemas.openxmlformats.org/officeDocument/2006/relationships/slide" Target="slides/slide89.xml"/><Relationship Id="rId105" Type="http://schemas.openxmlformats.org/officeDocument/2006/relationships/slide" Target="slides/slide94.xml"/><Relationship Id="rId12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0.xml"/><Relationship Id="rId72" Type="http://schemas.openxmlformats.org/officeDocument/2006/relationships/slide" Target="slides/slide61.xml"/><Relationship Id="rId93" Type="http://schemas.openxmlformats.org/officeDocument/2006/relationships/slide" Target="slides/slide82.xml"/><Relationship Id="rId98" Type="http://schemas.openxmlformats.org/officeDocument/2006/relationships/slide" Target="slides/slide87.xml"/><Relationship Id="rId12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14.xml"/><Relationship Id="rId46" Type="http://schemas.openxmlformats.org/officeDocument/2006/relationships/slide" Target="slides/slide35.xml"/><Relationship Id="rId67" Type="http://schemas.openxmlformats.org/officeDocument/2006/relationships/slide" Target="slides/slide56.xml"/><Relationship Id="rId116" Type="http://schemas.openxmlformats.org/officeDocument/2006/relationships/slide" Target="slides/slide105.xml"/><Relationship Id="rId20" Type="http://schemas.openxmlformats.org/officeDocument/2006/relationships/slide" Target="slides/slide9.xml"/><Relationship Id="rId41" Type="http://schemas.openxmlformats.org/officeDocument/2006/relationships/slide" Target="slides/slide30.xml"/><Relationship Id="rId62" Type="http://schemas.openxmlformats.org/officeDocument/2006/relationships/slide" Target="slides/slide51.xml"/><Relationship Id="rId83" Type="http://schemas.openxmlformats.org/officeDocument/2006/relationships/slide" Target="slides/slide72.xml"/><Relationship Id="rId88" Type="http://schemas.openxmlformats.org/officeDocument/2006/relationships/slide" Target="slides/slide77.xml"/><Relationship Id="rId111" Type="http://schemas.openxmlformats.org/officeDocument/2006/relationships/slide" Target="slides/slide100.xml"/><Relationship Id="rId15" Type="http://schemas.openxmlformats.org/officeDocument/2006/relationships/slide" Target="slides/slide4.xml"/><Relationship Id="rId36" Type="http://schemas.openxmlformats.org/officeDocument/2006/relationships/slide" Target="slides/slide25.xml"/><Relationship Id="rId57" Type="http://schemas.openxmlformats.org/officeDocument/2006/relationships/slide" Target="slides/slide46.xml"/><Relationship Id="rId106" Type="http://schemas.openxmlformats.org/officeDocument/2006/relationships/slide" Target="slides/slide95.xml"/><Relationship Id="rId12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" Target="slides/slide20.xml"/><Relationship Id="rId52" Type="http://schemas.openxmlformats.org/officeDocument/2006/relationships/slide" Target="slides/slide41.xml"/><Relationship Id="rId73" Type="http://schemas.openxmlformats.org/officeDocument/2006/relationships/slide" Target="slides/slide62.xml"/><Relationship Id="rId78" Type="http://schemas.openxmlformats.org/officeDocument/2006/relationships/slide" Target="slides/slide67.xml"/><Relationship Id="rId94" Type="http://schemas.openxmlformats.org/officeDocument/2006/relationships/slide" Target="slides/slide83.xml"/><Relationship Id="rId99" Type="http://schemas.openxmlformats.org/officeDocument/2006/relationships/slide" Target="slides/slide88.xml"/><Relationship Id="rId101" Type="http://schemas.openxmlformats.org/officeDocument/2006/relationships/slide" Target="slides/slide90.xml"/><Relationship Id="rId122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2026/3/7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image" Target="../media/image6.png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theme" Target="../theme/theme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58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6.xml"/><Relationship Id="rId13" Type="http://schemas.openxmlformats.org/officeDocument/2006/relationships/slideLayout" Target="../slideLayouts/slideLayout71.xml"/><Relationship Id="rId18" Type="http://schemas.openxmlformats.org/officeDocument/2006/relationships/slideLayout" Target="../slideLayouts/slideLayout76.xml"/><Relationship Id="rId3" Type="http://schemas.openxmlformats.org/officeDocument/2006/relationships/slideLayout" Target="../slideLayouts/slideLayout61.xml"/><Relationship Id="rId7" Type="http://schemas.openxmlformats.org/officeDocument/2006/relationships/slideLayout" Target="../slideLayouts/slideLayout65.xml"/><Relationship Id="rId12" Type="http://schemas.openxmlformats.org/officeDocument/2006/relationships/slideLayout" Target="../slideLayouts/slideLayout70.xml"/><Relationship Id="rId17" Type="http://schemas.openxmlformats.org/officeDocument/2006/relationships/slideLayout" Target="../slideLayouts/slideLayout75.xml"/><Relationship Id="rId2" Type="http://schemas.openxmlformats.org/officeDocument/2006/relationships/slideLayout" Target="../slideLayouts/slideLayout60.xml"/><Relationship Id="rId16" Type="http://schemas.openxmlformats.org/officeDocument/2006/relationships/slideLayout" Target="../slideLayouts/slideLayout74.xml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59.xml"/><Relationship Id="rId6" Type="http://schemas.openxmlformats.org/officeDocument/2006/relationships/slideLayout" Target="../slideLayouts/slideLayout64.xml"/><Relationship Id="rId11" Type="http://schemas.openxmlformats.org/officeDocument/2006/relationships/slideLayout" Target="../slideLayouts/slideLayout69.xml"/><Relationship Id="rId5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68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4" Type="http://schemas.openxmlformats.org/officeDocument/2006/relationships/slideLayout" Target="../slideLayouts/slideLayout72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9.xml"/><Relationship Id="rId7" Type="http://schemas.openxmlformats.org/officeDocument/2006/relationships/image" Target="../media/image5.svg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image" Target="../media/image4.png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  <a:t>2026/3/7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://playground.tensorflow.org/#activation=tanh&amp;batchSize=10&amp;dataset=circle&amp;regDataset=reg-plane&amp;learningRate=0.03&amp;regularizationRate=0&amp;noise=0&amp;networkShape=4,2&amp;seed=0.97420&amp;showTestData=false&amp;discretize=false&amp;percTrainData=50&amp;x=true&amp;y=true&amp;xTimesY=false&amp;xSquared=false&amp;ySquared=false&amp;cosX=false&amp;sinX=false&amp;cosY=false&amp;sinY=false&amp;collectStats=false&amp;problem=classification&amp;initZero=false&amp;hideText=false" TargetMode="Externa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51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2.png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8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31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1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sv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7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31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zh-CN" altLang="en-US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神经网络基础</a:t>
            </a: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1826580"/>
            <a:ext cx="5973445" cy="3204839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神经网络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损失函数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网络优化方法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正则化方法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价格分类案例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71609" y="21901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3866774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知道什么是人工神经网络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知道常见的激活函数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了解常见的参数初始化方法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能够搭建神经网络模型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知道神经网络模型参数数量的计算方法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50B0E-45D4-E2D7-D373-F51350DA7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F52A4F7-1A8C-91E8-327B-596B58D3D3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30343" y="823577"/>
            <a:ext cx="9225280" cy="751085"/>
          </a:xfrm>
        </p:spPr>
        <p:txBody>
          <a:bodyPr/>
          <a:lstStyle/>
          <a:p>
            <a:r>
              <a:rPr lang="zh-CN" altLang="en-US" dirty="0"/>
              <a:t>生物神经元</a:t>
            </a:r>
            <a:r>
              <a:rPr lang="en-US" altLang="zh-CN" dirty="0"/>
              <a:t>					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F4D05D0-006C-AF60-CF98-7FA0F4AF7B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0343" y="1376052"/>
            <a:ext cx="4197502" cy="2389446"/>
          </a:xfrm>
          <a:prstGeom prst="rect">
            <a:avLst/>
          </a:prstGeom>
        </p:spPr>
      </p:pic>
      <p:sp>
        <p:nvSpPr>
          <p:cNvPr id="5" name="文本占位符 2">
            <a:extLst>
              <a:ext uri="{FF2B5EF4-FFF2-40B4-BE49-F238E27FC236}">
                <a16:creationId xmlns:a16="http://schemas.microsoft.com/office/drawing/2014/main" id="{8ACB6A52-F2FD-EF08-6C5F-162DFE026666}"/>
              </a:ext>
            </a:extLst>
          </p:cNvPr>
          <p:cNvSpPr txBox="1">
            <a:spLocks/>
          </p:cNvSpPr>
          <p:nvPr/>
        </p:nvSpPr>
        <p:spPr>
          <a:xfrm>
            <a:off x="1030343" y="4317973"/>
            <a:ext cx="4197502" cy="20237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生物神经网络，由多个</a:t>
            </a:r>
            <a:r>
              <a:rPr lang="zh-CN" altLang="en-US" sz="1400" b="1" dirty="0">
                <a:solidFill>
                  <a:srgbClr val="333333"/>
                </a:solidFill>
                <a:latin typeface="Helvetica Neue"/>
              </a:rPr>
              <a:t>生物神经元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连接组成。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计算模型可以简化为：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1.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树突：接收输入信号，进行加权求和，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2.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细胞核：对加权求和的信号进行非线性处理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3.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轴突：输出细胞核处理之后的信号。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9" name="文本占位符 2">
            <a:extLst>
              <a:ext uri="{FF2B5EF4-FFF2-40B4-BE49-F238E27FC236}">
                <a16:creationId xmlns:a16="http://schemas.microsoft.com/office/drawing/2014/main" id="{8264DAD2-1598-7FF2-D112-5C04E759C61F}"/>
              </a:ext>
            </a:extLst>
          </p:cNvPr>
          <p:cNvSpPr txBox="1">
            <a:spLocks/>
          </p:cNvSpPr>
          <p:nvPr/>
        </p:nvSpPr>
        <p:spPr>
          <a:xfrm>
            <a:off x="6530585" y="4363541"/>
            <a:ext cx="5293545" cy="2231962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人工神经网络，由多个</a:t>
            </a:r>
            <a:r>
              <a:rPr lang="zh-CN" altLang="en-US" sz="1400" b="1" dirty="0">
                <a:solidFill>
                  <a:srgbClr val="333333"/>
                </a:solidFill>
                <a:latin typeface="Helvetica Neue"/>
              </a:rPr>
              <a:t>人工神经元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连接组成。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计算模型为：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1.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加权求和：对输入特征进行加权求和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2.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激活函数：对加权求和结果进行非线性处理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人工神经网络（ </a:t>
            </a:r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Artificial Neural Network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， </a:t>
            </a:r>
            <a:r>
              <a:rPr lang="en-US" altLang="zh-CN" sz="1400" b="1" dirty="0">
                <a:solidFill>
                  <a:srgbClr val="333333"/>
                </a:solidFill>
                <a:latin typeface="Helvetica Neue"/>
              </a:rPr>
              <a:t>ANN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），是一种模仿生物神经网络的</a:t>
            </a:r>
            <a:r>
              <a:rPr lang="zh-CN" altLang="en-US" sz="1400" b="1" dirty="0">
                <a:solidFill>
                  <a:srgbClr val="333333"/>
                </a:solidFill>
                <a:latin typeface="Helvetica Neue"/>
              </a:rPr>
              <a:t>计算模型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。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D82EFC7-5DF1-0C0E-746C-2015111C8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04" b="2097"/>
          <a:stretch>
            <a:fillRect/>
          </a:stretch>
        </p:blipFill>
        <p:spPr>
          <a:xfrm>
            <a:off x="6622592" y="1182306"/>
            <a:ext cx="3633031" cy="3240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EB2C26D2-192E-2D1D-05CD-F3EB4ADC63D8}"/>
              </a:ext>
            </a:extLst>
          </p:cNvPr>
          <p:cNvSpPr txBox="1"/>
          <p:nvPr/>
        </p:nvSpPr>
        <p:spPr>
          <a:xfrm>
            <a:off x="7705930" y="3835211"/>
            <a:ext cx="190789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w1*x1 + w2*x2 + w3*x3 +… + b</a:t>
            </a:r>
            <a:endParaRPr lang="zh-CN" altLang="en-US" sz="105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" name="箭头: 右 1">
            <a:extLst>
              <a:ext uri="{FF2B5EF4-FFF2-40B4-BE49-F238E27FC236}">
                <a16:creationId xmlns:a16="http://schemas.microsoft.com/office/drawing/2014/main" id="{A9D00330-9E1E-0373-B648-0002BDCDE9F5}"/>
              </a:ext>
            </a:extLst>
          </p:cNvPr>
          <p:cNvSpPr/>
          <p:nvPr/>
        </p:nvSpPr>
        <p:spPr>
          <a:xfrm>
            <a:off x="5703277" y="2054500"/>
            <a:ext cx="586154" cy="5408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占位符 2">
            <a:extLst>
              <a:ext uri="{FF2B5EF4-FFF2-40B4-BE49-F238E27FC236}">
                <a16:creationId xmlns:a16="http://schemas.microsoft.com/office/drawing/2014/main" id="{7DB56FB6-6ACF-61E1-C31E-123B7C03281A}"/>
              </a:ext>
            </a:extLst>
          </p:cNvPr>
          <p:cNvSpPr txBox="1">
            <a:spLocks/>
          </p:cNvSpPr>
          <p:nvPr/>
        </p:nvSpPr>
        <p:spPr>
          <a:xfrm>
            <a:off x="6530585" y="882333"/>
            <a:ext cx="3423831" cy="751085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人工神经元					</a:t>
            </a:r>
          </a:p>
        </p:txBody>
      </p:sp>
    </p:spTree>
    <p:extLst>
      <p:ext uri="{BB962C8B-B14F-4D97-AF65-F5344CB8AC3E}">
        <p14:creationId xmlns:p14="http://schemas.microsoft.com/office/powerpoint/2010/main" val="202290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2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如何构建神经网络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神经网络是由多个神经元组成，构建神经网络就是在构建神经元。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这个过程就像，来源不同树突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不同权重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的信息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进行加权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输入到细胞中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求和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，再通过激活函数输出细胞值。</a:t>
            </a: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8796" y="1893757"/>
            <a:ext cx="3850627" cy="376974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3B15B43B-A770-5728-AB1C-A4E6A4898E08}"/>
              </a:ext>
            </a:extLst>
          </p:cNvPr>
          <p:cNvSpPr txBox="1"/>
          <p:nvPr/>
        </p:nvSpPr>
        <p:spPr>
          <a:xfrm>
            <a:off x="3649768" y="5146813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输入数据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如何构建神经网络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我们使用多个神经元来构建神经网络，相邻层之间的神经元相互连接，并给每一个连接分配一个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权重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，如下图所示：</a:t>
            </a: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0704" y="2550935"/>
            <a:ext cx="7063163" cy="3488918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F1142AA6-4707-882C-2C5D-D02C4F27E450}"/>
              </a:ext>
            </a:extLst>
          </p:cNvPr>
          <p:cNvSpPr txBox="1"/>
          <p:nvPr/>
        </p:nvSpPr>
        <p:spPr>
          <a:xfrm>
            <a:off x="2473164" y="5400729"/>
            <a:ext cx="23984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输入数据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/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输入层，</a:t>
            </a:r>
            <a:r>
              <a:rPr lang="zh-CN" altLang="en-US" sz="12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不是网络层</a:t>
            </a: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，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用来表示输入特征数量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[x1, x2, x3]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6F2422-93D7-86AE-E61F-12FEE8D62C12}"/>
              </a:ext>
            </a:extLst>
          </p:cNvPr>
          <p:cNvSpPr txBox="1"/>
          <p:nvPr/>
        </p:nvSpPr>
        <p:spPr>
          <a:xfrm>
            <a:off x="4632512" y="5978001"/>
            <a:ext cx="105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隐藏层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1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nn.Linear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(3,5)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2AABF31-B0AB-860A-1968-0054D97CF226}"/>
              </a:ext>
            </a:extLst>
          </p:cNvPr>
          <p:cNvSpPr txBox="1"/>
          <p:nvPr/>
        </p:nvSpPr>
        <p:spPr>
          <a:xfrm>
            <a:off x="6246160" y="5967692"/>
            <a:ext cx="105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隐藏层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2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nn.Linear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(5,5)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B6CA26-7399-3627-CA7E-7CC2A8C54F7D}"/>
              </a:ext>
            </a:extLst>
          </p:cNvPr>
          <p:cNvSpPr txBox="1"/>
          <p:nvPr/>
        </p:nvSpPr>
        <p:spPr>
          <a:xfrm>
            <a:off x="7856920" y="5019632"/>
            <a:ext cx="10550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</a:rPr>
              <a:t>输出层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nn.Linear</a:t>
            </a: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(5,2)</a:t>
            </a:r>
            <a:endParaRPr lang="zh-CN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70B7A5F-60AC-4BE1-6CA6-15574B14666F}"/>
              </a:ext>
            </a:extLst>
          </p:cNvPr>
          <p:cNvSpPr txBox="1"/>
          <p:nvPr/>
        </p:nvSpPr>
        <p:spPr>
          <a:xfrm>
            <a:off x="4871577" y="2309124"/>
            <a:ext cx="14414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全连接神经网络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43A09E1-C652-1AFD-5284-F8F5D6D0F5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40" y="2676180"/>
            <a:ext cx="540000" cy="54000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EA053AD-C470-A60F-72DE-CFA1151C0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40" y="3226262"/>
            <a:ext cx="540000" cy="54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F8609915-4203-80B2-BF41-997955E4E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40" y="3776344"/>
            <a:ext cx="540000" cy="54000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C3B016F-6EA0-1999-B846-89DAD9370E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40" y="4326426"/>
            <a:ext cx="540000" cy="54000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67F3DD59-6BC8-7312-CFDF-8830684D91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040" y="4876509"/>
            <a:ext cx="540000" cy="54000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E8125B8-47DA-55CA-3399-10CD57E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72" y="2676180"/>
            <a:ext cx="540000" cy="54000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333CE7C-C8D0-128C-88A1-8E4BCCAB2E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72" y="3226262"/>
            <a:ext cx="540000" cy="5400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EAFB97C-A8CF-A161-EAB3-39F9CBE20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72" y="3776344"/>
            <a:ext cx="540000" cy="54000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7D582286-3BAE-5914-4E37-68C8EF1D16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72" y="4326426"/>
            <a:ext cx="540000" cy="54000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A6ED67B-F2A4-FC8B-4544-EBDDFD264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0272" y="4876509"/>
            <a:ext cx="540000" cy="54000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160DA780-81C8-F155-1D83-A882569D2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376" y="3496262"/>
            <a:ext cx="540000" cy="540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F6D6B0D0-9998-04A2-A3CC-CEE006FF0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84376" y="4046344"/>
            <a:ext cx="540000" cy="540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948D4AE9-159B-F4AC-904E-E2A5EDED5B60}"/>
              </a:ext>
            </a:extLst>
          </p:cNvPr>
          <p:cNvSpPr txBox="1"/>
          <p:nvPr/>
        </p:nvSpPr>
        <p:spPr>
          <a:xfrm>
            <a:off x="3282521" y="3261485"/>
            <a:ext cx="3898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</a:rPr>
              <a:t>1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464FBC2-5FBB-E2C1-4F76-2E79B23BE9B2}"/>
              </a:ext>
            </a:extLst>
          </p:cNvPr>
          <p:cNvSpPr txBox="1"/>
          <p:nvPr/>
        </p:nvSpPr>
        <p:spPr>
          <a:xfrm>
            <a:off x="3282521" y="3846289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</a:rPr>
              <a:t>2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7719DF8-F853-5FFF-ABB1-A25438A16D82}"/>
              </a:ext>
            </a:extLst>
          </p:cNvPr>
          <p:cNvSpPr txBox="1"/>
          <p:nvPr/>
        </p:nvSpPr>
        <p:spPr>
          <a:xfrm>
            <a:off x="3282521" y="4386289"/>
            <a:ext cx="3802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</a:pPr>
            <a:r>
              <a:rPr lang="en-US" altLang="zh-CN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</a:rPr>
              <a:t>x</a:t>
            </a:r>
            <a:r>
              <a:rPr lang="en-US" altLang="zh-CN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</a:rPr>
              <a:t>3</a:t>
            </a:r>
            <a:endParaRPr lang="zh-CN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如何构建神经网络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373019"/>
            <a:ext cx="10699115" cy="5287010"/>
          </a:xfrm>
        </p:spPr>
        <p:txBody>
          <a:bodyPr/>
          <a:lstStyle/>
          <a:p>
            <a:pPr algn="l"/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神经网络中信息只向一个方向移动，输入节点 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-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隐藏节点 </a:t>
            </a:r>
            <a:r>
              <a:rPr lang="en-US" altLang="zh-CN" sz="1400" dirty="0">
                <a:solidFill>
                  <a:srgbClr val="333333"/>
                </a:solidFill>
                <a:latin typeface="Helvetica Neue"/>
              </a:rPr>
              <a:t>-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输出节点。基本组成是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algn="l">
              <a:buFont typeface="+mj-lt"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1. 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输入层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/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输入数据（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Input Layer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即输入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x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的那一层（如图像、文本、声音等），实际就是输入数据。输入层没有神经元。输入层将数据传递给下一层的神经元。</a:t>
            </a:r>
          </a:p>
          <a:p>
            <a:pPr algn="l">
              <a:buFont typeface="+mj-lt"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2. 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输出层（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Output Layer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即输出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y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的那一层。输出层根据任务（回归、分类等）生成最终的预测结果。</a:t>
            </a:r>
          </a:p>
          <a:p>
            <a:pPr algn="l">
              <a:buFont typeface="+mj-lt"/>
            </a:pP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3. 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隐藏层（</a:t>
            </a:r>
            <a:r>
              <a:rPr lang="en-US" altLang="zh-CN" sz="1400" b="1" i="0" dirty="0">
                <a:solidFill>
                  <a:srgbClr val="333333"/>
                </a:solidFill>
                <a:effectLst/>
                <a:latin typeface="Helvetica Neue"/>
              </a:rPr>
              <a:t>Hidden Layers</a:t>
            </a:r>
            <a:r>
              <a:rPr lang="zh-CN" altLang="en-US" sz="1400" b="1" i="0" dirty="0">
                <a:solidFill>
                  <a:srgbClr val="333333"/>
                </a:solidFill>
                <a:effectLst/>
                <a:latin typeface="Helvetica Neue"/>
              </a:rPr>
              <a:t>）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输入层和输出层之间都是隐藏层，神经网络的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“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深度</a:t>
            </a:r>
            <a:r>
              <a:rPr lang="en-US" altLang="zh-CN" sz="1400" b="0" i="0" dirty="0">
                <a:solidFill>
                  <a:srgbClr val="333333"/>
                </a:solidFill>
                <a:effectLst/>
                <a:latin typeface="Helvetica Neue"/>
              </a:rPr>
              <a:t>”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通常由隐藏层的数量决定。数据在隐藏层神经元中进行加权</a:t>
            </a:r>
            <a:r>
              <a:rPr lang="zh-CN" altLang="en-US" sz="1400" dirty="0">
                <a:solidFill>
                  <a:srgbClr val="333333"/>
                </a:solidFill>
                <a:latin typeface="Helvetica Neue"/>
              </a:rPr>
              <a:t>求和和</a:t>
            </a: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激活函数，并传递到下一层。</a:t>
            </a:r>
          </a:p>
          <a:p>
            <a:pPr algn="l">
              <a:buFont typeface="+mj-lt"/>
            </a:pPr>
            <a:r>
              <a:rPr lang="zh-CN" altLang="en-US" sz="1400" b="0" i="0" dirty="0">
                <a:solidFill>
                  <a:srgbClr val="333333"/>
                </a:solidFill>
                <a:effectLst/>
                <a:latin typeface="Helvetica Neue"/>
              </a:rPr>
              <a:t>特点是：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同一网络层的神经元之间没有连接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第</a:t>
            </a:r>
            <a:r>
              <a:rPr lang="en-US" altLang="zh-CN" sz="1400" dirty="0"/>
              <a:t>N-1</a:t>
            </a:r>
            <a:r>
              <a:rPr lang="zh-CN" altLang="en-US" sz="1400" dirty="0"/>
              <a:t>层的每个神经元和第</a:t>
            </a:r>
            <a:r>
              <a:rPr lang="en-US" altLang="zh-CN" sz="1400" dirty="0"/>
              <a:t>N</a:t>
            </a:r>
            <a:r>
              <a:rPr lang="zh-CN" altLang="en-US" sz="1400" dirty="0"/>
              <a:t>层的所有神经元相连（</a:t>
            </a:r>
            <a:r>
              <a:rPr lang="en-US" altLang="zh-CN" sz="1400" dirty="0"/>
              <a:t>Fully Connected</a:t>
            </a:r>
            <a:r>
              <a:rPr lang="zh-CN" altLang="en-US" sz="1400" dirty="0"/>
              <a:t>），全连接的网络层称为全连接层，由一个或多个全连接层组成的网络就是**全连接神经网络（</a:t>
            </a:r>
            <a:r>
              <a:rPr lang="en-US" altLang="zh-CN" sz="1400" dirty="0"/>
              <a:t>FCNN</a:t>
            </a:r>
            <a:r>
              <a:rPr lang="zh-CN" altLang="en-US" sz="1400" dirty="0"/>
              <a:t>）**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全连接神经网络接收的输入是**</a:t>
            </a:r>
            <a:r>
              <a:rPr lang="en-US" altLang="zh-CN" sz="1400" dirty="0"/>
              <a:t>2D**</a:t>
            </a:r>
            <a:r>
              <a:rPr lang="zh-CN" altLang="en-US" sz="1400" dirty="0"/>
              <a:t>的，数据在每一层之间以</a:t>
            </a:r>
            <a:r>
              <a:rPr lang="en-US" altLang="zh-CN" sz="1400" dirty="0"/>
              <a:t>2D</a:t>
            </a:r>
            <a:r>
              <a:rPr lang="zh-CN" altLang="en-US" sz="1400" dirty="0"/>
              <a:t>的形式传递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第</a:t>
            </a:r>
            <a:r>
              <a:rPr lang="en-US" altLang="zh-CN" sz="1400" dirty="0"/>
              <a:t>N</a:t>
            </a:r>
            <a:r>
              <a:rPr lang="zh-CN" altLang="en-US" sz="1400" dirty="0"/>
              <a:t>层网络的每个神经元的输入是 第</a:t>
            </a:r>
            <a:r>
              <a:rPr lang="en-US" altLang="zh-CN" sz="1400" dirty="0"/>
              <a:t>N-1</a:t>
            </a:r>
            <a:r>
              <a:rPr lang="zh-CN" altLang="en-US" sz="1400" dirty="0"/>
              <a:t>层网络的所有神经元的输出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第</a:t>
            </a:r>
            <a:r>
              <a:rPr lang="en-US" altLang="zh-CN" sz="1400" dirty="0"/>
              <a:t>N</a:t>
            </a:r>
            <a:r>
              <a:rPr lang="zh-CN" altLang="en-US" sz="1400" dirty="0"/>
              <a:t>层网络的输入维度 </a:t>
            </a:r>
            <a:r>
              <a:rPr lang="en-US" altLang="zh-CN" sz="1400" dirty="0"/>
              <a:t>= </a:t>
            </a:r>
            <a:r>
              <a:rPr lang="zh-CN" altLang="en-US" sz="1400" dirty="0"/>
              <a:t>第</a:t>
            </a:r>
            <a:r>
              <a:rPr lang="en-US" altLang="zh-CN" sz="1400" dirty="0"/>
              <a:t>N-1</a:t>
            </a:r>
            <a:r>
              <a:rPr lang="zh-CN" altLang="en-US" sz="1400" dirty="0"/>
              <a:t>层网络的输出维度 </a:t>
            </a:r>
            <a:r>
              <a:rPr lang="en-US" altLang="zh-CN" sz="1400" dirty="0"/>
              <a:t>= </a:t>
            </a:r>
            <a:r>
              <a:rPr lang="zh-CN" altLang="en-US" sz="1400" dirty="0"/>
              <a:t>第</a:t>
            </a:r>
            <a:r>
              <a:rPr lang="en-US" altLang="zh-CN" sz="1400" dirty="0"/>
              <a:t>N-1</a:t>
            </a:r>
            <a:r>
              <a:rPr lang="zh-CN" altLang="en-US" sz="1400" dirty="0"/>
              <a:t>层网络的神经元数量</a:t>
            </a:r>
          </a:p>
          <a:p>
            <a:r>
              <a:rPr lang="zh-CN" altLang="en-US" sz="1400" dirty="0"/>
              <a:t>  </a:t>
            </a:r>
            <a:r>
              <a:rPr lang="en-US" altLang="zh-CN" sz="1400" dirty="0"/>
              <a:t>- </a:t>
            </a:r>
            <a:r>
              <a:rPr lang="zh-CN" altLang="en-US" sz="1400" dirty="0"/>
              <a:t>每个连接都有一个权重值</a:t>
            </a:r>
            <a:r>
              <a:rPr lang="en-US" altLang="zh-CN" sz="1400" dirty="0"/>
              <a:t>w</a:t>
            </a:r>
          </a:p>
          <a:p>
            <a:r>
              <a:rPr lang="en-US" altLang="zh-CN" sz="1400" dirty="0"/>
              <a:t>  - </a:t>
            </a:r>
            <a:r>
              <a:rPr lang="zh-CN" altLang="en-US" sz="1400" dirty="0"/>
              <a:t>网络层的每个神经元的模型参数有：</a:t>
            </a:r>
            <a:r>
              <a:rPr lang="en-US" altLang="zh-CN" sz="1400" dirty="0"/>
              <a:t>n</a:t>
            </a:r>
            <a:r>
              <a:rPr lang="zh-CN" altLang="en-US" sz="1400" dirty="0"/>
              <a:t>个权重</a:t>
            </a:r>
            <a:r>
              <a:rPr lang="en-US" altLang="zh-CN" sz="1400" dirty="0"/>
              <a:t>[w1,...,</a:t>
            </a:r>
            <a:r>
              <a:rPr lang="en-US" altLang="zh-CN" sz="1400" dirty="0" err="1"/>
              <a:t>wn</a:t>
            </a:r>
            <a:r>
              <a:rPr lang="en-US" altLang="zh-CN" sz="1400" dirty="0"/>
              <a:t>] + 1</a:t>
            </a:r>
            <a:r>
              <a:rPr lang="zh-CN" altLang="en-US" sz="1400" dirty="0"/>
              <a:t>个偏置</a:t>
            </a:r>
            <a:r>
              <a:rPr lang="en-US" altLang="zh-CN" sz="1400" dirty="0"/>
              <a:t>b, n</a:t>
            </a:r>
            <a:r>
              <a:rPr lang="zh-CN" altLang="en-US" sz="1400" dirty="0"/>
              <a:t>为上一网络层的输出维度</a:t>
            </a:r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  <a:p>
            <a:endParaRPr lang="en-US" altLang="zh-CN" sz="1400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神经网络内部状态值和激活值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5375" y="1457325"/>
            <a:ext cx="7216775" cy="46285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834255" y="831215"/>
            <a:ext cx="7203416" cy="5195570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1.</a:t>
            </a:r>
            <a:r>
              <a:rPr lang="zh-CN" altLang="en-US" dirty="0"/>
              <a:t>知道神经⽹络是什么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⼀种模仿⽣物神经⽹络的计算模型，由神经元构成（加权求和</a:t>
            </a:r>
            <a:r>
              <a:rPr lang="en-US" altLang="zh-CN" dirty="0"/>
              <a:t>+</a:t>
            </a:r>
            <a:r>
              <a:rPr lang="zh-CN" altLang="en-US" dirty="0"/>
              <a:t>激活函数）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2.</a:t>
            </a:r>
            <a:r>
              <a:rPr lang="zh-CN" altLang="en-US" dirty="0"/>
              <a:t>神经网络的构成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输入层，隐藏层和输出层</a:t>
            </a:r>
          </a:p>
          <a:p>
            <a:pPr marL="0" indent="0">
              <a:buNone/>
            </a:pPr>
            <a:r>
              <a:rPr lang="en-US" altLang="zh-CN" dirty="0"/>
              <a:t>3.</a:t>
            </a:r>
            <a:r>
              <a:rPr lang="zh-CN" altLang="en-US" dirty="0"/>
              <a:t>知道什么是内部状态和激活值</a:t>
            </a:r>
          </a:p>
          <a:p>
            <a:pPr marL="0" indent="0">
              <a:buNone/>
            </a:pPr>
            <a:r>
              <a:rPr lang="zh-CN" altLang="en-US" dirty="0"/>
              <a:t>内部状态值</a:t>
            </a:r>
            <a:r>
              <a:rPr lang="en-US" altLang="zh-CN" dirty="0"/>
              <a:t>:</a:t>
            </a:r>
            <a:r>
              <a:rPr lang="zh-CN" altLang="en-US" dirty="0"/>
              <a:t>神经元接收到的输入（上一层的输出）的加权求和结果</a:t>
            </a:r>
          </a:p>
          <a:p>
            <a:pPr marL="0" indent="0">
              <a:buNone/>
            </a:pPr>
            <a:r>
              <a:rPr lang="zh-CN" altLang="en-US" dirty="0"/>
              <a:t>激活值</a:t>
            </a:r>
            <a:r>
              <a:rPr lang="en-US" altLang="zh-CN" dirty="0"/>
              <a:t>:</a:t>
            </a:r>
            <a:r>
              <a:rPr lang="zh-CN" altLang="en-US" dirty="0"/>
              <a:t>激活函数对内部状态值进行非线性变换后得到的结果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91780" y="940081"/>
            <a:ext cx="10698800" cy="517190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r>
              <a:rPr lang="zh-CN" altLang="en-US" sz="18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激活函数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用于对每层的</a:t>
            </a:r>
            <a:r>
              <a:rPr lang="zh-CN" altLang="en-US" sz="18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输出数据进行变换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进而为整个网络注入了</a:t>
            </a:r>
            <a:r>
              <a:rPr lang="zh-CN" altLang="en-US" sz="18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非线性因素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。此时</a:t>
            </a:r>
            <a:r>
              <a:rPr lang="en-US" altLang="zh-CN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8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神经网络就可以拟合各种曲线。</a:t>
            </a:r>
            <a:endParaRPr lang="en-US" altLang="zh-CN" sz="18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sz="1800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没有引入非线性因素的网络等价于一个线性模型</a:t>
            </a:r>
            <a:endParaRPr lang="en-US" altLang="zh-CN" sz="1800" b="0" i="0" dirty="0">
              <a:solidFill>
                <a:schemeClr val="tx1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根据通用逼近定理，给网络增加激活函数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引入非线性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使得网络可以逼近任意函数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提升网络对复杂问题的拟合能力</a:t>
            </a:r>
            <a:r>
              <a:rPr lang="en-US" altLang="zh-CN" sz="1800" b="0" i="0" dirty="0"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3412903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如果不使用激活函数，整个网络虽然看起来复杂，本质还相当于一种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线性模型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，如下所示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  <a:hlinkClick r:id="rId2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  <a:hlinkClick r:id="rId2"/>
              </a:rPr>
              <a:t>神经网络演示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466" y="1878494"/>
            <a:ext cx="5956041" cy="405930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-sigmoid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激活函数公式：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激活函数求导公式：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激活函数的函数图像如下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94C28445-6FFC-0B72-2449-71F21348B6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1873" y="1407904"/>
            <a:ext cx="2692538" cy="66043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ADC8981-CE3D-7961-83DD-3567011B5E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1873" y="2503085"/>
            <a:ext cx="7099665" cy="71123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5C01447-1D99-3D1E-99CA-AA22897431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9300" y="3491734"/>
            <a:ext cx="7861959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-sigmoid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571500" y="1457271"/>
            <a:ext cx="11137900" cy="4956845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函数可以将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任意的输入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映射到 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(0, 1)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 之间，当输入大致在 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&lt;-6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或者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&gt;6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 时，得到的激活值几乎不变，会丢失部分信息。比如：输入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100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和输出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10000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经过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的激活值几乎都等于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对于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函数，输入在 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[-6, 6]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 之间输出值才会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有明显差异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，输入在 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[-3, 3]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 之间输出才会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有较大差异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导数范围是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(0, 0.25]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，当输入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&lt;-6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或者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&gt;6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导数接近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，此时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网络参数将更新极其缓慢，或者无法更新 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– 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梯度消失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一般来说，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的网络在 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5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层之内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就会产生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梯度消失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现象。而且，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不以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为中心，实践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中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很少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使用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函数一般只用于二分类的输出层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-sigmoid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33651" y="2665042"/>
            <a:ext cx="6186860" cy="380617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matplotlib.pyplot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创建画布和坐标轴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1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列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.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fig, axes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plt.subplots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(1, 2,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figsize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=(12, 5))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生成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-20 ~ 20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之间的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1000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个数据点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.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(-20, 20, 1000)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上述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1000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个点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输入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sigmoid(x)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torch.sigmoid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4.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在第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个子图中绘制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sigmoid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激活函数的图像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.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axes[0].plot(x, 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set_title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('sigmoid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激活函数图像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axes[0].grid()</a:t>
            </a:r>
          </a:p>
        </p:txBody>
      </p:sp>
      <p:sp>
        <p:nvSpPr>
          <p:cNvPr id="3" name="文本占位符 2"/>
          <p:cNvSpPr>
            <a:spLocks noGrp="1"/>
          </p:cNvSpPr>
          <p:nvPr/>
        </p:nvSpPr>
        <p:spPr>
          <a:xfrm>
            <a:off x="746600" y="1457271"/>
            <a:ext cx="10698800" cy="4956845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0879" y="1400175"/>
            <a:ext cx="11222619" cy="107721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绘制激活函数图像时出现以下提示，需要将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anaconda3/Lib/site-packages/torch/lib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目录下的</a:t>
            </a:r>
            <a:r>
              <a:rPr lang="en-US" altLang="zh-C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libiomp5md.dll</a:t>
            </a:r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文件删除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1600" dirty="0">
                <a:solidFill>
                  <a:srgbClr val="FF0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OMP: Error #15: Initializing libiomp5md.dll, but found libiomp5md.dll already initialized.</a:t>
            </a: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en-US" altLang="zh-CN" sz="1600" dirty="0">
              <a:solidFill>
                <a:srgbClr val="FF0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  <a:p>
            <a:pPr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z="1600" dirty="0">
                <a:solidFill>
                  <a:srgbClr val="FF0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或者：把</a:t>
            </a:r>
            <a:r>
              <a:rPr lang="en-US" altLang="zh-CN" sz="1600" dirty="0" err="1">
                <a:solidFill>
                  <a:srgbClr val="FF0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numpy</a:t>
            </a:r>
            <a:r>
              <a:rPr lang="zh-CN" altLang="en-US" sz="1600" dirty="0">
                <a:solidFill>
                  <a:srgbClr val="FF0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降级到</a:t>
            </a:r>
            <a:r>
              <a:rPr lang="en-US" altLang="zh-CN" sz="1600" dirty="0">
                <a:solidFill>
                  <a:srgbClr val="FF0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1.26</a:t>
            </a:r>
            <a:r>
              <a:rPr lang="zh-CN" altLang="en-US" sz="1600" dirty="0">
                <a:solidFill>
                  <a:srgbClr val="FF0000"/>
                </a:solidFill>
                <a:latin typeface="阿里巴巴普惠体 2.0 45 Light" panose="00020600040101010101" charset="-122"/>
                <a:ea typeface="阿里巴巴普惠体 2.0 45 Light" panose="00020600040101010101" charset="-122"/>
                <a:cs typeface="阿里巴巴普惠体 2.0 45 Light" panose="00020600040101010101" charset="-122"/>
              </a:rPr>
              <a:t>版本 </a:t>
            </a:r>
            <a:r>
              <a:rPr lang="en-US" altLang="zh-CN" sz="1600" dirty="0"/>
              <a:t>pip install </a:t>
            </a:r>
            <a:r>
              <a:rPr lang="en-US" altLang="zh-CN" sz="1600" dirty="0" err="1"/>
              <a:t>numpy</a:t>
            </a:r>
            <a:r>
              <a:rPr lang="en-US" altLang="zh-CN" sz="1600" dirty="0"/>
              <a:t>==1.26.3 -</a:t>
            </a:r>
            <a:r>
              <a:rPr lang="en-US" altLang="zh-CN" sz="1600" dirty="0" err="1"/>
              <a:t>i</a:t>
            </a:r>
            <a:r>
              <a:rPr lang="en-US" altLang="zh-CN" sz="1600" dirty="0"/>
              <a:t> https://pypi.tuna.tsinghua.edu.cn/simple --force-</a:t>
            </a:r>
            <a:r>
              <a:rPr lang="en-US" altLang="zh-CN" sz="1600" dirty="0" err="1"/>
              <a:t>reinstal</a:t>
            </a:r>
            <a:endParaRPr lang="en-US" altLang="zh-CN" sz="1600" dirty="0">
              <a:solidFill>
                <a:srgbClr val="FF0000"/>
              </a:solidFill>
              <a:latin typeface="阿里巴巴普惠体 2.0 45 Light" panose="00020600040101010101" charset="-122"/>
              <a:ea typeface="阿里巴巴普惠体 2.0 45 Light" panose="00020600040101010101" charset="-122"/>
              <a:cs typeface="阿里巴巴普惠体 2.0 45 Light" panose="0002060004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-sigmoid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261942" y="1793713"/>
            <a:ext cx="6186860" cy="4124206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5.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在第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个图上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sigmoid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激活函数的导数图像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.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重新生成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-20 ~ 20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之间的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1000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个数据点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.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参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起始值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参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2: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结束值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参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元素的个数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参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4: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是否需要求导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.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(-20, 20, 1000,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requires_grad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=True)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上述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1000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个点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输入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sigmoid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进行求导，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sum().backward()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torch.sigmoid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(x).sum().backward()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绘制图像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axes[1].plot(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x.detach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set_title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('sigmoid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激活函数导数图像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axes[1].grid()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en-US" altLang="zh-CN" b="1" i="0" dirty="0" err="1">
                <a:solidFill>
                  <a:srgbClr val="333333"/>
                </a:solidFill>
                <a:effectLst/>
                <a:latin typeface="Helvetica Neue"/>
              </a:rPr>
              <a:t>ReLU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956845"/>
          </a:xfrm>
        </p:spPr>
        <p:txBody>
          <a:bodyPr/>
          <a:lstStyle/>
          <a:p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ReLU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公式如下：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激活函数求导公式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 </a:t>
            </a: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ReLU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的函数图像如下：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0E9E3D-9DDD-0B1D-1A1C-836A3797B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3919" y="1384670"/>
            <a:ext cx="2895749" cy="62233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B777D5D-2DAD-3DEE-875E-842943066E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799" y="1987491"/>
            <a:ext cx="2533780" cy="73663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2B29CB3-8CC5-B793-74ED-B0DC65EECD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020" y="3254349"/>
            <a:ext cx="7861959" cy="3240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en-US" altLang="zh-CN" b="1" i="0" dirty="0" err="1">
                <a:solidFill>
                  <a:srgbClr val="333333"/>
                </a:solidFill>
                <a:effectLst/>
                <a:latin typeface="Helvetica Neue"/>
              </a:rPr>
              <a:t>ReLU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451413" y="1457272"/>
            <a:ext cx="11251637" cy="4935646"/>
          </a:xfrm>
        </p:spPr>
        <p:txBody>
          <a:bodyPr/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将小于 </a:t>
            </a:r>
            <a:r>
              <a:rPr lang="en-US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 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的值映射为 </a:t>
            </a:r>
            <a:r>
              <a:rPr lang="en-US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，大于 </a:t>
            </a:r>
            <a:r>
              <a:rPr lang="en-US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 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的值保持不变。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当输入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x&lt;0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时，导数为</a:t>
            </a:r>
            <a:r>
              <a:rPr lang="en-US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，而当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x&gt;0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时，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导数永远为</a:t>
            </a:r>
            <a:r>
              <a:rPr lang="en-US" altLang="zh-CN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不存在饱和问题。缓解梯度消失问题。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Dead </a:t>
            </a:r>
            <a:r>
              <a:rPr lang="en-US" altLang="zh-CN" sz="18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随着训练的推进，部分输入会落入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负区域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，导致对应权重无法更新。被称为“神经元死亡”</a:t>
            </a:r>
            <a:r>
              <a:rPr lang="en-US" altLang="zh-CN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实际上很少发生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</a:p>
          <a:p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是最常用的激活函数。与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相比，</a:t>
            </a:r>
            <a:r>
              <a:rPr lang="en-GB" altLang="zh-CN" sz="18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的优势是：</a:t>
            </a:r>
          </a:p>
          <a:p>
            <a:r>
              <a:rPr lang="en-US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</a:t>
            </a:r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指数运算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计算量大，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的计算量很小。 </a:t>
            </a:r>
            <a:endParaRPr lang="en-US" altLang="zh-CN" sz="1800" b="0" i="0" dirty="0"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GB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2.sigmoid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反向传播时，很容易出现梯度消失。</a:t>
            </a:r>
            <a:r>
              <a:rPr lang="en-US" altLang="zh-CN" sz="18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sz="18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缓解了梯度消失。</a:t>
            </a:r>
            <a:endParaRPr lang="en-US" altLang="zh-CN" sz="18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en-US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3.</a:t>
            </a:r>
            <a:r>
              <a:rPr lang="en-GB" altLang="zh-CN" sz="18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会使一部分神经元的输出为</a:t>
            </a:r>
            <a:r>
              <a:rPr lang="en-US" altLang="zh-CN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18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，造成了网络的稀疏性，缓解了过拟合。</a:t>
            </a:r>
            <a:endParaRPr lang="en-US" altLang="zh-CN" sz="1800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en-US" altLang="zh-CN" b="1" i="0" dirty="0" err="1">
                <a:solidFill>
                  <a:srgbClr val="333333"/>
                </a:solidFill>
                <a:effectLst/>
                <a:latin typeface="Helvetica Neue"/>
              </a:rPr>
              <a:t>ReLU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827254" y="1457271"/>
            <a:ext cx="6186860" cy="476027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创建画布和坐标轴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_, axes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plt.subplots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函数图像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(-20, 20, 1000)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torch.relu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axes[0].plot(x, 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axes[0].grid()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set_title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ReLU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函数图像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导数图像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(-20, 20, 1000,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requires_grad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=True)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torch.relu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(x).sum().backward()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axes[1].plot(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x.detach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axes[1].grid()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set_title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ReLU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导数图像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常见的激活函数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-tanh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70241"/>
            <a:ext cx="10698800" cy="4956845"/>
          </a:xfrm>
        </p:spPr>
        <p:txBody>
          <a:bodyPr/>
          <a:lstStyle/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Tanh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的公式如下：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激活函数求导公式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Tanh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的函数图像、导数图像如下：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90D13CC-6768-9FE5-4C23-CA623E1689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1614" y="1457271"/>
            <a:ext cx="3238666" cy="62868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3D018C8-43BB-9549-258F-1E7D3D3A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1614" y="2288851"/>
            <a:ext cx="2705239" cy="53342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B4E8A5D-2B3F-4011-DDB8-55BAC47C39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5020" y="3174116"/>
            <a:ext cx="7861959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2712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常见的激活函数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-tanh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2"/>
            <a:ext cx="10698800" cy="3743784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Tanh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函数将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输入映射到 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(-1, 1) 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之间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，图像关于 原点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(0,0)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中心对称，当输入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&lt;-3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或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&gt;3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时输出接近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-1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或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20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导数范围 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(0, 1)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，当输入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&lt;-3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或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&gt; 3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时，导数接近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20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endParaRPr lang="zh-CN" altLang="en-US" sz="20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与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相比，它是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以 原点</a:t>
            </a:r>
            <a:r>
              <a:rPr lang="en-US" altLang="zh-CN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(0,0)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为中心的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，梯度相对于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大，使得收敛速度稍快。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Tanh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两侧的导数也为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，同样会造成梯度消失。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使用时，可在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隐藏层使用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tanh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函数。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524033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常见的激活函数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-tanh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494745" y="1575223"/>
            <a:ext cx="6186860" cy="476027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创建画布和坐标轴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_, axes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plt.subplots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函数图像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(-20, 20, 1000)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y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torch.tanh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axes[0].plot(x, 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axes[0].grid()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axes[0].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set_title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('Tanh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函数图像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effectLst/>
                <a:latin typeface="宋体" panose="02010600030101010101" pitchFamily="2" charset="-122"/>
                <a:ea typeface="阿里巴巴普惠体" panose="00020600040101010101"/>
                <a:cs typeface="宋体" panose="02010600030101010101" pitchFamily="2" charset="-122"/>
              </a:rPr>
              <a:t>导数图像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torch.linspace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(-20, 20, 1000,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requires_grad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=True)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torch.tanh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(x).sum().backward()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axes[1].plot(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x.detach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x.grad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axes[1].grid()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axes[1].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set_title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('Tanh 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导数图像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179166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-SoftMax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用于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多分类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过程中，它是二分类函数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在多分类上的推广，目的是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将多分类的结果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转化为非负数并且总和为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1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的概率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。计算方法如下图所示：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rcRect t="41334"/>
          <a:stretch>
            <a:fillRect/>
          </a:stretch>
        </p:blipFill>
        <p:spPr>
          <a:xfrm>
            <a:off x="2063137" y="3373605"/>
            <a:ext cx="8065725" cy="2880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E485753-0FEB-A21F-1CEB-D26358185C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31" y="2365964"/>
            <a:ext cx="2851297" cy="80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4052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C17C4-E061-79D3-8DF8-82F1E4357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7377FC1-FA6D-4308-93A5-3DBAB75B2D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-SoftMax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352E8B7-F145-441B-C163-1DBA46808A7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46600" y="1347312"/>
            <a:ext cx="10698800" cy="517191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针对二分类任务，二分类函数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sigmoid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和多分类函数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softmax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结果一样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 descr="表格&#10;&#10;AI 生成的内容可能不正确。">
            <a:extLst>
              <a:ext uri="{FF2B5EF4-FFF2-40B4-BE49-F238E27FC236}">
                <a16:creationId xmlns:a16="http://schemas.microsoft.com/office/drawing/2014/main" id="{BC83F2A1-D768-201D-22E5-405BBDBA3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054" y="1749613"/>
            <a:ext cx="9677897" cy="4940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1806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常见的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-SoftMax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将网络</a:t>
            </a:r>
            <a:r>
              <a:rPr lang="zh-CN" altLang="en-US" sz="20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的原始输出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logits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通过 </a:t>
            </a:r>
            <a:r>
              <a:rPr lang="en-US" altLang="zh-CN" sz="2000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softmax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函数，映射成为</a:t>
            </a:r>
            <a:r>
              <a:rPr lang="en-US" altLang="zh-CN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(0,1)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之间的值，而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这些值的总和为</a:t>
            </a:r>
            <a:r>
              <a:rPr lang="en-US" altLang="zh-CN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，将它理解成概率，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选取概率最大（也就是值最大）的类别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，作为最终的</a:t>
            </a:r>
            <a:r>
              <a:rPr lang="zh-CN" altLang="en-US" sz="2000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预测类别</a:t>
            </a:r>
            <a:r>
              <a:rPr lang="zh-CN" altLang="en-US" sz="20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sz="2000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50163" y="3057649"/>
            <a:ext cx="7483000" cy="184531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scores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torch.tensor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([0.2, 0.02, 0.15, 0.15, 1.3, 0.5, 0.06, 1.1, 0.05, 3.75])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dim = 0,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按行计算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probabilities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torch.softmax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(scores, dim=0)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print(probabilities)</a:t>
            </a:r>
            <a:endParaRPr lang="zh-CN" altLang="en-US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79109" y="5104693"/>
            <a:ext cx="88407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</a:p>
          <a:p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tensor([0.0212, 0.0177, 0.0202, 0.0202, 0.0638, 0.0287, 0.0185, 0.0522, 0.0183,0.7392])</a:t>
            </a:r>
            <a:endParaRPr lang="zh-CN" altLang="en-US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1177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其他常见的激活函数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4290" y="1457270"/>
            <a:ext cx="6204074" cy="5314343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激活函数的选择方法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9876004" cy="4397429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对于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隐藏层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</a:t>
            </a:r>
            <a:r>
              <a:rPr lang="en-US" altLang="zh-CN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-&gt; GELU / </a:t>
            </a:r>
            <a:r>
              <a:rPr lang="en-US" altLang="zh-CN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PReLU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-&gt; (Tanh)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优先选择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如果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效果不好，尝试其他激活，如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GELU/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PReLU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等。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如果使用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 需要注意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Dead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 即负输入的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梯度导致过多的神经元死亡。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少用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，可以使用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tanh</a:t>
            </a: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对于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多分类问题选择 </a:t>
            </a:r>
            <a:r>
              <a:rPr lang="en-US" altLang="zh-CN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softmax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优先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二分类问题选择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或 </a:t>
            </a:r>
            <a:r>
              <a:rPr lang="en-US" altLang="zh-CN" dirty="0" err="1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softmax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回归问题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选择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identity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就是没有激活函数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dirty="0"/>
              <a:t>正数</a:t>
            </a:r>
            <a:r>
              <a:rPr lang="en-US" altLang="zh-CN" dirty="0" err="1"/>
              <a:t>ReLU</a:t>
            </a:r>
            <a:r>
              <a:rPr lang="zh-CN" altLang="en-US" dirty="0"/>
              <a:t>，区间</a:t>
            </a:r>
            <a:r>
              <a:rPr lang="en-US" altLang="zh-CN" dirty="0"/>
              <a:t>Sigmoid/Tanh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996881" y="927370"/>
            <a:ext cx="7120839" cy="5603132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激活函数的作用？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向神经网络中添加非线性元素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2.</a:t>
            </a:r>
            <a:r>
              <a:rPr kumimoji="1" lang="zh-CN" altLang="en-US" dirty="0"/>
              <a:t>常见的激活函数及其特点？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 err="1"/>
              <a:t>sigmoid,</a:t>
            </a:r>
            <a:r>
              <a:rPr kumimoji="1" lang="en-US" altLang="zh-CN" b="1" dirty="0" err="1"/>
              <a:t>ReLU,softmax</a:t>
            </a:r>
            <a:r>
              <a:rPr kumimoji="1" lang="en-US" altLang="zh-CN" dirty="0" err="1"/>
              <a:t>,tanh</a:t>
            </a:r>
            <a:r>
              <a:rPr kumimoji="1" lang="zh-CN" altLang="en-US" dirty="0"/>
              <a:t>等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3.</a:t>
            </a:r>
            <a:r>
              <a:rPr kumimoji="1" lang="zh-CN" altLang="en-US" dirty="0"/>
              <a:t>激活函数的选择方法？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隐藏层：</a:t>
            </a:r>
            <a:r>
              <a:rPr lang="en-US" altLang="zh-CN" dirty="0" err="1"/>
              <a:t>ReLU</a:t>
            </a:r>
            <a:r>
              <a:rPr lang="en-US" altLang="zh-CN" dirty="0"/>
              <a:t> &gt; GELU/ PReLU &gt; Tanh &gt; Sigmoid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输出层：二分类：</a:t>
            </a:r>
            <a:r>
              <a:rPr kumimoji="1" lang="en-US" altLang="zh-CN" dirty="0"/>
              <a:t>sigmoid/ </a:t>
            </a:r>
            <a:r>
              <a:rPr kumimoji="1" lang="en-US" altLang="zh-CN" dirty="0" err="1"/>
              <a:t>softmax</a:t>
            </a:r>
            <a:r>
              <a:rPr kumimoji="1" lang="en-US" altLang="zh-CN" dirty="0"/>
              <a:t>,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zh-CN" altLang="en-US" dirty="0"/>
              <a:t>多分类：</a:t>
            </a:r>
            <a:r>
              <a:rPr kumimoji="1" lang="en-US" altLang="zh-CN" dirty="0" err="1"/>
              <a:t>softmax</a:t>
            </a:r>
            <a:r>
              <a:rPr kumimoji="1" lang="en-US" altLang="zh-CN" dirty="0"/>
              <a:t>,</a:t>
            </a:r>
          </a:p>
          <a:p>
            <a:pPr marL="0" indent="0">
              <a:buNone/>
            </a:pPr>
            <a:r>
              <a:rPr kumimoji="1" lang="en-US" altLang="zh-CN" dirty="0"/>
              <a:t>	</a:t>
            </a:r>
            <a:r>
              <a:rPr kumimoji="1" lang="zh-CN" altLang="en-US" dirty="0"/>
              <a:t>回归：多数</a:t>
            </a:r>
            <a:r>
              <a:rPr lang="zh-CN" altLang="en-US" dirty="0"/>
              <a:t>无需激活函数，正数</a:t>
            </a:r>
            <a:r>
              <a:rPr lang="en-US" altLang="zh-CN" dirty="0" err="1"/>
              <a:t>ReLU</a:t>
            </a:r>
            <a:r>
              <a:rPr lang="zh-CN" altLang="en-US" dirty="0"/>
              <a:t>，</a:t>
            </a:r>
            <a:r>
              <a:rPr lang="en-US" altLang="zh-CN" dirty="0"/>
              <a:t> Sigmoid/Tanh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参数初始化</a:t>
            </a:r>
            <a:endParaRPr lang="zh-CN" altLang="en-US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均匀分布初始化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buFont typeface="Wingdings" panose="05000000000000000000" pitchFamily="2" charset="2"/>
              <a:buChar char="n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权重参数初始化从区间均匀随机取值，默认区间为（0，1）。可以设置为在  </a:t>
            </a:r>
            <a:r>
              <a:rPr lang="en-US" altLang="zh-CN" sz="1600" b="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		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均匀分布中生成当前神经元的权重，其中d为神经元的输入数量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正态分布初始化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buFont typeface="Wingdings" panose="05000000000000000000" pitchFamily="2" charset="2"/>
              <a:buChar char="n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随机初始化从均值0，标准差1的高斯分布中取样，使用一些很小的值对参数W进行初始化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全0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1/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固定值初始化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742950" lvl="1" indent="-285750" algn="l">
              <a:buFont typeface="Wingdings" panose="05000000000000000000" pitchFamily="2" charset="2"/>
              <a:buChar char="n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将神经网络中的所有权重参数初始化为 0</a:t>
            </a:r>
            <a:r>
              <a:rPr lang="en-US" altLang="zh-CN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/1/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固定值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D9F7944-3B97-3271-9334-15178A98A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397" y="1696615"/>
            <a:ext cx="1396294" cy="73766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参数初始化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7" name="Rectangle 4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880" y="1487024"/>
            <a:ext cx="10698800" cy="4641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spAutoFit/>
          </a:bodyPr>
          <a:lstStyle/>
          <a:p>
            <a:pPr marL="285750" marR="0" lvl="0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kaiming 初始化，也叫做 HE 初始化</a:t>
            </a:r>
          </a:p>
          <a:p>
            <a:pPr marL="742950" marR="0" lvl="1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HE 初始化分为正态分布的 HE 初始化、均匀分布的 HE 初始化.</a:t>
            </a:r>
          </a:p>
          <a:p>
            <a:pPr marL="1200150" marR="0" lvl="2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正态分布的he初始化</a:t>
            </a:r>
          </a:p>
          <a:p>
            <a:pPr marL="1657350" marR="0" lvl="3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 </a:t>
            </a:r>
            <a:r>
              <a:rPr lang="zh-CN" altLang="en-US" sz="1600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正态分布 </a:t>
            </a:r>
            <a:r>
              <a:rPr lang="zh-CN" altLang="en-US" sz="160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中抽取样本的</a:t>
            </a:r>
          </a:p>
          <a:p>
            <a:pPr marL="1200150" lvl="2" indent="-285750">
              <a:buFont typeface="Wingdings" panose="05000000000000000000" pitchFamily="2" charset="2"/>
              <a:buChar char="p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均匀分布的he初始化</a:t>
            </a:r>
          </a:p>
          <a:p>
            <a:pPr marL="1657350" marR="0" lvl="3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 均匀分布 中抽取样本</a:t>
            </a:r>
          </a:p>
          <a:p>
            <a:pPr marL="1200150" marR="0" lvl="2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fan_in 输入层神经元的个数</a:t>
            </a:r>
          </a:p>
          <a:p>
            <a:pPr marL="285750" marR="0" lvl="0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l"/>
            </a:pPr>
            <a:endParaRPr lang="en-US" altLang="zh-CN" sz="160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285750" marR="0" lvl="0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xavier 初始化，也叫做 Glorot初始化</a:t>
            </a:r>
          </a:p>
          <a:p>
            <a:pPr marL="742950" marR="0" lvl="1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该方法也有两种，一种是正态分布的 xavier 初始化、一种是均匀分布的 xavier 初始化.</a:t>
            </a:r>
          </a:p>
          <a:p>
            <a:pPr marL="1200150" marR="0" lvl="2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正态化的Xavier初始化</a:t>
            </a:r>
          </a:p>
          <a:p>
            <a:pPr marL="1657350" marR="0" lvl="3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从 正态分布 中抽取样本的</a:t>
            </a:r>
            <a:endParaRPr lang="zh-CN" altLang="en-US" sz="160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1200150" marR="0" lvl="2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均匀分布的Xavier初始化</a:t>
            </a:r>
          </a:p>
          <a:p>
            <a:pPr marL="1657350" marR="0" lvl="3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从 均匀分布 中抽取样本</a:t>
            </a:r>
          </a:p>
          <a:p>
            <a:pPr marL="1200150" marR="0" lvl="2" indent="-285750" defTabSz="914400" latinLnBrk="0">
              <a:lnSpc>
                <a:spcPct val="100000"/>
              </a:lnSpc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sz="1600" b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fan_in 是输入层神经元的个数， fan_out 是输出层神经元个数</a:t>
            </a:r>
          </a:p>
          <a:p>
            <a:pPr marL="0" marR="0" lvl="0" indent="0" defTabSz="914400" latinLnBrk="0">
              <a:lnSpc>
                <a:spcPct val="100000"/>
              </a:lnSpc>
              <a:buClrTx/>
              <a:buSzTx/>
              <a:buFontTx/>
              <a:buNone/>
            </a:pPr>
            <a:endParaRPr lang="zh-CN" altLang="zh-CN" sz="1400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9FEBC17-785B-98B1-485C-C1BABD41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0187" y="2251862"/>
            <a:ext cx="1906814" cy="62889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327D77D-01BD-89AD-33AC-4A6E87DE5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6240" y="3061669"/>
            <a:ext cx="2554709" cy="54878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168F1BB-B35D-4407-2663-3FA7781E5F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0187" y="4541525"/>
            <a:ext cx="2297528" cy="5508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7CCC533-60FB-F9CC-44C8-653045D0F2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6240" y="5101160"/>
            <a:ext cx="4048376" cy="55225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参数初始化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716254" y="1494338"/>
            <a:ext cx="6186860" cy="4442242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torch.nn.functional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F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torch.nn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均匀分布随机初始化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test01():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从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0-1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均匀分布产生参数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nn.init.uniform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固定初始化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test02():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nn.init.constant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5)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参数初始化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381436" y="1418251"/>
            <a:ext cx="6186860" cy="4760278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3.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test03():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nn.init.zeros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4.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test04():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nn.init.ones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5.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正态分布随机初始化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test05():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nn.init.normal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mean=0, std=1)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参数初始化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47250" y="1595816"/>
            <a:ext cx="6186860" cy="3488134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6.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kaiming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test06():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kaiming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正态分布初始化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nn.init.kaiming_normal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kaiming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均匀分布初始化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nn.init.kaiming_uniform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参数初始化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5400" y="1457271"/>
            <a:ext cx="6186860" cy="3488134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7.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xavier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test07():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xavier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正态分布初始化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nn.init.xavier_normal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xavier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均匀分布初始化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nn.init.xavier_uniform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linear.weight.data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常见的初始化方式</a:t>
            </a:r>
            <a:endParaRPr kumimoji="1" lang="en-US" altLang="zh-CN" dirty="0"/>
          </a:p>
          <a:p>
            <a:pPr marL="0" indent="0">
              <a:buNone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均匀分布初始化，正态分布初始化，全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0</a:t>
            </a:r>
            <a:r>
              <a:rPr lang="zh-CN" altLang="en-US" dirty="0">
                <a:latin typeface="Roboto" panose="02000000000000000000" pitchFamily="2" charset="0"/>
              </a:rPr>
              <a:t>全</a:t>
            </a:r>
            <a:r>
              <a:rPr lang="en-US" altLang="zh-CN" dirty="0">
                <a:latin typeface="Roboto" panose="02000000000000000000" pitchFamily="2" charset="0"/>
              </a:rPr>
              <a:t>1</a:t>
            </a:r>
            <a:r>
              <a:rPr lang="zh-CN" altLang="en-US" dirty="0">
                <a:latin typeface="Roboto" panose="02000000000000000000" pitchFamily="2" charset="0"/>
              </a:rPr>
              <a:t>初始化，固定值初始化，</a:t>
            </a:r>
            <a:r>
              <a:rPr lang="en-US" altLang="zh-CN" dirty="0" err="1">
                <a:latin typeface="Roboto" panose="02000000000000000000" pitchFamily="2" charset="0"/>
              </a:rPr>
              <a:t>kaiming</a:t>
            </a:r>
            <a:r>
              <a:rPr lang="zh-CN" altLang="en-US" dirty="0">
                <a:latin typeface="Roboto" panose="02000000000000000000" pitchFamily="2" charset="0"/>
              </a:rPr>
              <a:t>的初始化，</a:t>
            </a:r>
            <a:r>
              <a:rPr lang="en-US" altLang="zh-CN" dirty="0" err="1">
                <a:latin typeface="Roboto" panose="02000000000000000000" pitchFamily="2" charset="0"/>
              </a:rPr>
              <a:t>xavier</a:t>
            </a:r>
            <a:r>
              <a:rPr lang="zh-CN" altLang="en-US" dirty="0">
                <a:latin typeface="Roboto" panose="02000000000000000000" pitchFamily="2" charset="0"/>
              </a:rPr>
              <a:t>初始化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2.</a:t>
            </a:r>
            <a:r>
              <a:rPr kumimoji="1" lang="zh-CN" altLang="en-US" dirty="0"/>
              <a:t>初始化方法的选择</a:t>
            </a:r>
            <a:endParaRPr kumimoji="1" lang="en-US" altLang="zh-CN" dirty="0"/>
          </a:p>
          <a:p>
            <a:pPr marL="0" indent="0">
              <a:buNone/>
            </a:pPr>
            <a:r>
              <a:rPr lang="zh-CN" altLang="en-US" b="0" i="0" dirty="0">
                <a:effectLst/>
                <a:latin typeface="Roboto" panose="02000000000000000000" pitchFamily="2" charset="0"/>
              </a:rPr>
              <a:t>使用 </a:t>
            </a:r>
            <a:r>
              <a:rPr lang="en-GB" altLang="zh-CN" b="0" i="0" dirty="0" err="1">
                <a:effectLst/>
                <a:latin typeface="Roboto" panose="02000000000000000000" pitchFamily="2" charset="0"/>
              </a:rPr>
              <a:t>PyTorch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构建网络时，每个网络层都有默认的</a:t>
            </a:r>
            <a:r>
              <a:rPr lang="zh-CN" altLang="en-US" dirty="0">
                <a:latin typeface="Roboto" panose="02000000000000000000" pitchFamily="2" charset="0"/>
              </a:rPr>
              <a:t>参数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初始化方法</a:t>
            </a:r>
            <a:r>
              <a:rPr kumimoji="1" lang="zh-CN" altLang="en-US" b="0" i="0" dirty="0">
                <a:effectLst/>
                <a:latin typeface="Roboto" panose="02000000000000000000" pitchFamily="2" charset="0"/>
              </a:rPr>
              <a:t>，优先选择</a:t>
            </a:r>
            <a:r>
              <a:rPr lang="en-US" altLang="zh-CN" dirty="0" err="1">
                <a:latin typeface="Roboto" panose="02000000000000000000" pitchFamily="2" charset="0"/>
              </a:rPr>
              <a:t>kaiming</a:t>
            </a:r>
            <a:r>
              <a:rPr lang="zh-CN" altLang="en-US" dirty="0">
                <a:latin typeface="Roboto" panose="02000000000000000000" pitchFamily="2" charset="0"/>
              </a:rPr>
              <a:t>初始化</a:t>
            </a:r>
            <a:r>
              <a:rPr lang="en-US" altLang="zh-CN" dirty="0">
                <a:latin typeface="Roboto" panose="02000000000000000000" pitchFamily="2" charset="0"/>
              </a:rPr>
              <a:t>(</a:t>
            </a:r>
            <a:r>
              <a:rPr lang="en-US" altLang="zh-CN" b="1" dirty="0" err="1">
                <a:solidFill>
                  <a:srgbClr val="333333"/>
                </a:solidFill>
                <a:latin typeface="Helvetica Neue"/>
              </a:rPr>
              <a:t>ReLU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/Leaky </a:t>
            </a:r>
            <a:r>
              <a:rPr lang="en-US" altLang="zh-CN" b="1" dirty="0" err="1">
                <a:solidFill>
                  <a:srgbClr val="333333"/>
                </a:solidFill>
                <a:latin typeface="Helvetica Neue"/>
              </a:rPr>
              <a:t>ReLU</a:t>
            </a:r>
            <a:r>
              <a:rPr lang="en-US" altLang="zh-CN" dirty="0">
                <a:latin typeface="Roboto" panose="02000000000000000000" pitchFamily="2" charset="0"/>
              </a:rPr>
              <a:t>)</a:t>
            </a:r>
            <a:r>
              <a:rPr lang="zh-CN" altLang="en-US" dirty="0">
                <a:latin typeface="Roboto" panose="02000000000000000000" pitchFamily="2" charset="0"/>
              </a:rPr>
              <a:t>，</a:t>
            </a:r>
            <a:r>
              <a:rPr lang="en-US" altLang="zh-CN" dirty="0" err="1">
                <a:latin typeface="Roboto" panose="02000000000000000000" pitchFamily="2" charset="0"/>
              </a:rPr>
              <a:t>xavier</a:t>
            </a:r>
            <a:r>
              <a:rPr lang="zh-CN" altLang="en-US" dirty="0">
                <a:latin typeface="Roboto" panose="02000000000000000000" pitchFamily="2" charset="0"/>
              </a:rPr>
              <a:t>初始化</a:t>
            </a:r>
            <a:r>
              <a:rPr lang="en-US" altLang="zh-CN" dirty="0">
                <a:latin typeface="Roboto" panose="02000000000000000000" pitchFamily="2" charset="0"/>
              </a:rPr>
              <a:t>(</a:t>
            </a:r>
            <a:r>
              <a:rPr lang="en-US" altLang="zh-CN" b="1" dirty="0">
                <a:solidFill>
                  <a:srgbClr val="333333"/>
                </a:solidFill>
                <a:latin typeface="Helvetica Neue"/>
              </a:rPr>
              <a:t>Sigmoid/Tanh</a:t>
            </a:r>
            <a:r>
              <a:rPr lang="en-US" altLang="zh-CN" dirty="0">
                <a:latin typeface="Roboto" panose="02000000000000000000" pitchFamily="2" charset="0"/>
              </a:rPr>
              <a:t>)</a:t>
            </a: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神经网络搭建和参数量计算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105657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构建如下的神经网络：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网络设计如下：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个隐藏层：权重初始化采用标准化的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xavier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初始化 激活函数使用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</a:p>
          <a:p>
            <a:pPr marL="800100" lvl="1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个隐藏层：权重初始化采用标准化的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He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初始化 激活函数采用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relu</a:t>
            </a:r>
            <a:endParaRPr lang="en-US" altLang="zh-CN" b="0" dirty="0">
              <a:solidFill>
                <a:srgbClr val="333333"/>
              </a:solidFill>
              <a:latin typeface="Helvetica Neue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out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输出层 采用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softmax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做数据归一化</a:t>
            </a:r>
            <a:r>
              <a:rPr lang="zh-CN" altLang="en-US" b="0" dirty="0">
                <a:solidFill>
                  <a:srgbClr val="333333"/>
                </a:solidFill>
                <a:latin typeface="Helvetica Neue"/>
              </a:rPr>
              <a:t>，权重初始化采用标准化的</a:t>
            </a:r>
            <a:r>
              <a:rPr lang="en-US" altLang="zh-CN" b="0" dirty="0" err="1">
                <a:solidFill>
                  <a:srgbClr val="333333"/>
                </a:solidFill>
                <a:latin typeface="Helvetica Neue"/>
              </a:rPr>
              <a:t>xavier</a:t>
            </a:r>
            <a:r>
              <a:rPr lang="zh-CN" altLang="en-US" b="0" dirty="0">
                <a:solidFill>
                  <a:srgbClr val="333333"/>
                </a:solidFill>
                <a:latin typeface="Helvetica Neue"/>
              </a:rPr>
              <a:t>初始化 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746" y="1935350"/>
            <a:ext cx="5098222" cy="298729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神经网络搭建和参数量计算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2176435"/>
            <a:ext cx="10698800" cy="2505129"/>
          </a:xfrm>
        </p:spPr>
        <p:txBody>
          <a:bodyPr/>
          <a:lstStyle/>
          <a:p>
            <a:pPr algn="l"/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中定义神经网络，继承自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nn.Module</a:t>
            </a:r>
            <a:r>
              <a:rPr lang="zh-CN" altLang="en-GB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实现两个方法：</a:t>
            </a:r>
          </a:p>
          <a:p>
            <a:pPr marL="342900" indent="-342900" algn="l">
              <a:buFont typeface="Wingdings" panose="05000000000000000000" pitchFamily="2" charset="2"/>
              <a:buChar char="l"/>
            </a:pP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en-GB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init</a:t>
            </a:r>
            <a:r>
              <a:rPr lang="en-GB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__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方法中定义网络中的层结构，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比如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全连接层，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参数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初始化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通常自动初始化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</a:p>
          <a:p>
            <a:pPr marL="342900" indent="-342900" algn="l">
              <a:buFont typeface="Wingdings" panose="05000000000000000000" pitchFamily="2" charset="2"/>
              <a:buChar char="l"/>
            </a:pP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forward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方法</a:t>
            </a:r>
            <a:r>
              <a:rPr lang="zh-CN" altLang="en-US" sz="20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实现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前向传播。执行 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model(x)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进行预测，</a:t>
            </a:r>
            <a:r>
              <a:rPr lang="en-US" altLang="zh-CN" sz="2000" b="0" i="0" dirty="0" err="1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底层会自动调用 </a:t>
            </a:r>
            <a:r>
              <a:rPr lang="en-US" altLang="zh-CN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forward()</a:t>
            </a:r>
            <a:r>
              <a:rPr lang="zh-CN" altLang="en-US" sz="2000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，不需要手动调用。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710880" y="795703"/>
            <a:ext cx="10698800" cy="517190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神经网络搭建和参数量计算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82320" y="1222657"/>
            <a:ext cx="9510963" cy="571438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torch.nn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from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torchsummary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import summary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计算模型参数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查看模型结构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pip install 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torchsummary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创建神经网络模型类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class Model(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nn.Module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初始化属性值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__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init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__(self):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super(Model, self).__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init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__()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调用父类的初始化属性值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self.linear1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(3, 3)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创建第一个隐藏层模型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3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个输入特征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,3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个输出特征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nn.init.xavier_normal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_(self.linear1.weight)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初始化权重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nn.init.zeros_(self.linear1.bias)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创建第二个隐藏层模型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 3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个输入特征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上一层的输出特征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),2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个输出特征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self.linear2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(3, 2)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初始化权重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nn.init.kaiming_normal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_(self.linear2.weight, nonlinearity='relu')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nn.init.zeros_(self.linear2.bias)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创建输出层模型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self.out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(2, 2)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神经网络搭建和参数量计算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364209" y="1452813"/>
            <a:ext cx="8228934" cy="507831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创建前向传播方法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,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自动执行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forward()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方法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forward(self, x):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数据经过第一个线性层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self.linear1(x)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sigmoid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激活函数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torch.sigmoid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数据经过第二个线性层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self.linear2(x)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relu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激活函数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torch.relu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数据经过输出层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self.out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使用</a:t>
            </a:r>
            <a:r>
              <a:rPr lang="en-US" altLang="zh-CN" sz="1400" dirty="0" err="1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softmax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激活函数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dim=-1: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每一维度行数据相加为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x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torch.softmax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(x, dim=-1)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return 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神经网络搭建和参数量计算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1569862" y="1448656"/>
            <a:ext cx="8228934" cy="492315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en-GB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</a:t>
            </a:r>
            <a:r>
              <a:rPr lang="en-GB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 __name__ == "__main__":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实例化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model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对象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my_model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Model()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随机产生数据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(5, 3)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shape",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my_data.shape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数据经过神经网络模型训练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output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my_model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my_data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print("output shape--&gt;",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output.shape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计算模型参数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计算每层每个神经元的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w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和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b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个数总和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summary(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my_model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input_size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=(3,),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batch_size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=5) 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查看模型参数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print("======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查看模型参数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w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和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b======")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for name, parameter in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my_model.named_parameters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print(name, parameter)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5126584" y="740229"/>
            <a:ext cx="5760538" cy="611777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1.</a:t>
            </a:r>
            <a:r>
              <a:rPr lang="zh-CN" altLang="en-US" sz="1400" dirty="0"/>
              <a:t>神经网络的搭建方法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定义模型类，继承自</a:t>
            </a:r>
            <a:r>
              <a:rPr lang="en-GB" altLang="zh-CN" sz="1400" b="0" i="0" dirty="0" err="1">
                <a:effectLst/>
                <a:latin typeface="Roboto" panose="02000000000000000000" pitchFamily="2" charset="0"/>
              </a:rPr>
              <a:t>nn.Module</a:t>
            </a:r>
            <a:endParaRPr lang="en-US" altLang="zh-CN" sz="1400" b="0" i="0" dirty="0">
              <a:effectLst/>
              <a:latin typeface="Roboto" panose="020000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在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__</a:t>
            </a:r>
            <a:r>
              <a:rPr lang="en-GB" altLang="zh-CN" sz="1400" b="0" i="0" dirty="0" err="1">
                <a:effectLst/>
                <a:latin typeface="Roboto" panose="02000000000000000000" pitchFamily="2" charset="0"/>
              </a:rPr>
              <a:t>init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__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方法中定义网络中的层结构</a:t>
            </a:r>
            <a:endParaRPr lang="en-US" altLang="zh-CN" sz="1400" b="0" i="0" dirty="0">
              <a:effectLst/>
              <a:latin typeface="Roboto" panose="02000000000000000000" pitchFamily="2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GB" sz="1400" b="0" i="0" dirty="0">
                <a:effectLst/>
                <a:latin typeface="Roboto" panose="02000000000000000000" pitchFamily="2" charset="0"/>
              </a:rPr>
              <a:t>在</a:t>
            </a:r>
            <a:r>
              <a:rPr lang="en-GB" altLang="zh-CN" sz="1400" b="0" i="0" dirty="0">
                <a:effectLst/>
                <a:latin typeface="Roboto" panose="02000000000000000000" pitchFamily="2" charset="0"/>
              </a:rPr>
              <a:t>forward</a:t>
            </a:r>
            <a:r>
              <a:rPr lang="zh-CN" altLang="en-US" sz="1400" b="0" i="0" dirty="0">
                <a:effectLst/>
                <a:latin typeface="Roboto" panose="02000000000000000000" pitchFamily="2" charset="0"/>
              </a:rPr>
              <a:t>方法中实现前向传播</a:t>
            </a:r>
            <a:endParaRPr lang="en-US" altLang="zh-CN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2.</a:t>
            </a:r>
            <a:r>
              <a:rPr lang="zh-CN" altLang="en-US" sz="1400" dirty="0"/>
              <a:t>网络参数量的统计方法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统计每一层的权重</a:t>
            </a:r>
            <a:r>
              <a:rPr lang="en-US" altLang="zh-CN" sz="1400" dirty="0"/>
              <a:t>w</a:t>
            </a:r>
            <a:r>
              <a:rPr lang="zh-CN" altLang="en-US" sz="1400" dirty="0"/>
              <a:t>和偏置</a:t>
            </a:r>
            <a:r>
              <a:rPr lang="en-US" altLang="zh-CN" sz="1400" dirty="0"/>
              <a:t>b</a:t>
            </a:r>
            <a:r>
              <a:rPr lang="zh-CN" altLang="en-US" sz="1400" dirty="0"/>
              <a:t>的数量</a:t>
            </a:r>
            <a:endParaRPr lang="en-US" altLang="zh-CN" sz="14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400" dirty="0"/>
              <a:t>每层参数量：</a:t>
            </a:r>
            <a:r>
              <a:rPr lang="en-US" altLang="zh-CN" sz="1400" dirty="0"/>
              <a:t>(</a:t>
            </a:r>
            <a:r>
              <a:rPr lang="zh-CN" altLang="en-US" sz="1400" dirty="0"/>
              <a:t>输入维度</a:t>
            </a:r>
            <a:r>
              <a:rPr lang="en-US" altLang="zh-CN" sz="1400" dirty="0"/>
              <a:t>+1) * </a:t>
            </a:r>
            <a:r>
              <a:rPr lang="zh-CN" altLang="en-US" sz="1400" dirty="0"/>
              <a:t>输出维度</a:t>
            </a:r>
            <a:endParaRPr lang="en-US" altLang="zh-CN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3.</a:t>
            </a:r>
            <a:r>
              <a:rPr lang="zh-CN" altLang="en-US" sz="1400" dirty="0"/>
              <a:t>神经网络的优缺点</a:t>
            </a:r>
            <a:endParaRPr lang="en-US" altLang="zh-CN" sz="1400" dirty="0"/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/>
              <a:t>优点：</a:t>
            </a:r>
            <a:endParaRPr lang="en-US" altLang="zh-CN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	</a:t>
            </a:r>
            <a:r>
              <a:rPr lang="zh-CN" altLang="en-US" sz="1400" dirty="0"/>
              <a:t>精度⾼，优于传统机器学习⽅法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	</a:t>
            </a:r>
            <a:r>
              <a:rPr lang="zh-CN" altLang="en-US" sz="1400" dirty="0"/>
              <a:t>可以逼近任意的⾮线性函数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zh-CN" altLang="en-US" sz="1400" dirty="0"/>
              <a:t>缺点：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	</a:t>
            </a:r>
            <a:r>
              <a:rPr lang="zh-CN" altLang="en-US" sz="1400" dirty="0"/>
              <a:t>⿊箱，可解释性差，网络结构复杂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	</a:t>
            </a:r>
            <a:r>
              <a:rPr lang="zh-CN" altLang="en-US" sz="1400" dirty="0"/>
              <a:t>需要⼤量的计算能力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1400" dirty="0"/>
              <a:t>	</a:t>
            </a:r>
            <a:r>
              <a:rPr lang="zh-CN" altLang="en-US" sz="1400" dirty="0"/>
              <a:t>⼩数据集容易过拟合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1826580"/>
            <a:ext cx="5973445" cy="3204839"/>
          </a:xfrm>
        </p:spPr>
        <p:txBody>
          <a:bodyPr/>
          <a:lstStyle/>
          <a:p>
            <a:pPr marL="0" indent="0">
              <a:buNone/>
            </a:pPr>
            <a:endParaRPr kumimoji="1" lang="zh-CN" altLang="en-US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神经网络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损失函数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网络优化方法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正则化方法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价格分类案例</a:t>
            </a:r>
            <a:endParaRPr kumimoji="1" lang="en-US" altLang="zh-CN" sz="1600" dirty="0">
              <a:sym typeface="+mn-ea"/>
            </a:endParaRPr>
          </a:p>
          <a:p>
            <a:pPr algn="l"/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42618" y="2744296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792576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知道分类任务的损失函数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知道回归任务的损失函数</a:t>
            </a:r>
            <a:endParaRPr lang="en-US" altLang="zh-CN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什么是损失函数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82" y="2670386"/>
            <a:ext cx="7295755" cy="2974498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82320" y="1457272"/>
            <a:ext cx="9885680" cy="881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在深度学习中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 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损失函数是用来衡量模型参数的质量的函数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衡量的方式是比较网络输出和真实输出的差异</a:t>
            </a:r>
            <a:r>
              <a:rPr lang="zh-CN" altLang="en-US" dirty="0">
                <a:solidFill>
                  <a:srgbClr val="333333"/>
                </a:solidFill>
                <a:latin typeface="Helvetica Neue"/>
                <a:ea typeface="Alibaba PuHuiTi" pitchFamily="18" charset="-122"/>
                <a:cs typeface="Alibaba PuHuiTi" pitchFamily="18" charset="-122"/>
              </a:rPr>
              <a:t>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什么是损失函数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82320" y="1789795"/>
            <a:ext cx="10698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损失函数在不同文献中名称不一样：</a:t>
            </a:r>
            <a:endParaRPr lang="zh-CN" altLang="en-US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080" y="2583984"/>
            <a:ext cx="4246047" cy="3620898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多分类任务损失函数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	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交叉熵损失内部进行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softmax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运算，神经网络的输出层无需进行</a:t>
            </a:r>
            <a:r>
              <a:rPr lang="en-US" altLang="zh-CN" dirty="0" err="1">
                <a:solidFill>
                  <a:srgbClr val="333333"/>
                </a:solidFill>
                <a:latin typeface="Helvetica Neue"/>
              </a:rPr>
              <a:t>softmax</a:t>
            </a:r>
            <a:endParaRPr lang="zh-CN" altLang="en-US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在多分类任务通常使用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softmax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logits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转换为概率的形式，所以多分类交叉熵损失也叫做</a:t>
            </a:r>
            <a:r>
              <a:rPr lang="en-US" altLang="zh-CN" b="1" i="0" dirty="0" err="1">
                <a:solidFill>
                  <a:srgbClr val="333333"/>
                </a:solidFill>
                <a:effectLst/>
                <a:latin typeface="Helvetica Neue"/>
              </a:rPr>
              <a:t>softmax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损失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，计算方法是：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其中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40FF07-9DD4-49F8-6F91-87985A227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9938" y="2138619"/>
            <a:ext cx="4089610" cy="92714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A5BF30C-B464-4B93-9540-560F2BD89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8343" y="4107764"/>
            <a:ext cx="5931205" cy="170823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多分类任务损失函数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上图中的交叉熵损失为：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从概率角度理解，我们的目的是最小化正确类别所对应的预测概率的对数的负值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损失值最小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，如下图所示：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1338" y="3586086"/>
            <a:ext cx="5776461" cy="381033"/>
          </a:xfrm>
          <a:prstGeom prst="rect">
            <a:avLst/>
          </a:prstGeom>
        </p:spPr>
      </p:pic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9160DAC-15B1-F0D6-A674-3ED572D216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0836" y="1372369"/>
            <a:ext cx="8738887" cy="2213717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07FFF399-691D-F5E9-C159-A883246F2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158" y="4392592"/>
            <a:ext cx="3234575" cy="241309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多分类任务损失函数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在pytorch中使用nn.CrossEntropyLoss()实现，如下所示：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6600" y="1974461"/>
            <a:ext cx="10226200" cy="48926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分类损失函数：交叉熵损失使用</a:t>
            </a:r>
            <a:r>
              <a:rPr lang="en-GB" altLang="zh-CN" sz="1600" b="1" dirty="0" err="1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nn.CrossEntropyLoss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实现。</a:t>
            </a:r>
            <a:r>
              <a:rPr lang="en-GB" altLang="zh-CN" sz="1600" b="1" dirty="0" err="1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nn.CrossEntropyLoss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()=</a:t>
            </a:r>
            <a:r>
              <a:rPr lang="en-GB" altLang="zh-CN" sz="1600" b="1" dirty="0" err="1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softmax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+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损失计算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test</a:t>
            </a:r>
            <a:r>
              <a:rPr lang="en-US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():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设置真实值</a:t>
            </a:r>
            <a:r>
              <a:rPr lang="en-US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可以是热编码后的结果也可以不进行热编码</a:t>
            </a:r>
            <a:b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en-GB" altLang="zh-CN" sz="1600" b="1" dirty="0" err="1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b="1" dirty="0" err="1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([[0, 1, 0], [0, 0, 1]], </a:t>
            </a:r>
            <a:r>
              <a:rPr lang="en-GB" altLang="zh-CN" sz="1600" b="1" dirty="0" err="1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dtype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=torch.float32)</a:t>
            </a:r>
            <a:b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注意的类型必须是</a:t>
            </a:r>
            <a:r>
              <a:rPr lang="en-US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64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位整型数据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dtype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=torch.int64)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0.6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0.2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0.8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]]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requires_grad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=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  <a:sym typeface="+mn-ea"/>
              </a:rPr>
              <a:t>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dtype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=torch.float32)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实例化交叉熵损失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nn.CrossEntropyLoss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计算损失结果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r>
              <a:rPr lang="en-US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detach()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.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print(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'loss:'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zh-CN" altLang="en-US" sz="1600" dirty="0">
              <a:solidFill>
                <a:srgbClr val="00B05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二分类任务损失函数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在处理二分类任务时，可以使用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激活函数，那损失函数使用二分类交叉熵损失函数：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其中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是样本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x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属于某一个类别的真实概率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y^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是样本属于某一类别的预测概率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用来衡量真实值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与预测值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y^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之间差异的损失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函数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</a:p>
          <a:p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在pytorch中实现时使用nn.BCELoss() ，如下所示：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4B405D7-E5F9-8FE0-1474-920D621DC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787" y="2140527"/>
            <a:ext cx="4307838" cy="447845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64DE36FE-52E8-649D-3729-25C88184A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2967" y="2899053"/>
            <a:ext cx="4942390" cy="369115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二分类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交叉熵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损失函数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661160" y="1553210"/>
            <a:ext cx="6989445" cy="410146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test</a:t>
            </a:r>
            <a:r>
              <a:rPr lang="en-US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2():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设置真实值和预测值</a:t>
            </a:r>
            <a:b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US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预测值是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sigmoid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输出的结果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0.6901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0.5459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0.2469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requires_grad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dtype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=torch.float32)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实例化二分类交叉熵损失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nn.BCELoss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3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计算损失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).detach().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'loss</a:t>
            </a:r>
            <a:r>
              <a:rPr lang="zh-CN" altLang="en-GB" sz="16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回归任务损失函数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MAE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损失函数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Mean absolute loss(MAE)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也被称为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L1 Loss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绝对误差的平均值。损失函数公式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</a:p>
          <a:p>
            <a:pPr algn="l"/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1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曲线如下图所示：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特点是：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误差呈线性关系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损失函数本身不具有稀疏性，不会让权重衰减为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最大问题是梯度在零点不平滑，会跳过极小值。</a:t>
            </a:r>
          </a:p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43326D2-0E1A-70F8-D366-FDC8CB5E7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359" y="2277309"/>
            <a:ext cx="2505633" cy="989485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0E895170-608C-054B-9984-5F5301EB6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467" y="2636261"/>
            <a:ext cx="5367758" cy="2649906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回归任务损失函数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MAE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损失函数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在pytorch中使用nn.L1Loss()实现，如下所示：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076450" y="2166620"/>
            <a:ext cx="5822950" cy="452120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no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US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inputs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与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target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之差的绝对值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test</a:t>
            </a:r>
            <a:r>
              <a:rPr lang="en-US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3():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1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设置真实值和预测值</a:t>
            </a:r>
            <a:b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1.9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requires_grad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dtype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=torch.float32)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2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实例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MAE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损失对象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nn.L1Loss()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计算损失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).detach().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'loss:'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回归任务损失函数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-MSE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损失函数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Mean Squared Loss/ Quadratic Loss(MSE loss)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也被称为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L2 loss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，或欧氏距离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^2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误差平方的平均值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损失函数公式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1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1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损失曲线如下图所示：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特点是：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误差呈二次曲线关系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处处可导、梯度平滑，是最常用的回归损失函数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误差大时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容易梯度过大。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F20E73E-CFCF-8695-DF65-8AD11184A1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8364" y="2312895"/>
            <a:ext cx="2705935" cy="947504"/>
          </a:xfrm>
          <a:prstGeom prst="rect">
            <a:avLst/>
          </a:prstGeom>
        </p:spPr>
      </p:pic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D19708A8-1D33-A64F-10A5-295530F47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513" y="2312895"/>
            <a:ext cx="4866188" cy="4250214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回归任务损失函数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-MSE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损失函数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在pytorch中使用nn.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MSE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Loss()实现，如下所示：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633291" y="2057587"/>
            <a:ext cx="7205909" cy="341503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def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test</a:t>
            </a:r>
            <a:r>
              <a:rPr lang="en-US" altLang="en-GB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4():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800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1 </a:t>
            </a:r>
            <a:r>
              <a:rPr lang="zh-CN" altLang="en-US" sz="1600" dirty="0">
                <a:solidFill>
                  <a:srgbClr val="00800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设置真实值和预测值</a:t>
            </a:r>
            <a:b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1.9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requires_grad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</a:t>
            </a:r>
            <a:r>
              <a:rPr lang="en-GB" altLang="zh-CN" sz="16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torch.tensor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2.0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], </a:t>
            </a:r>
            <a:r>
              <a:rPr lang="en-GB" altLang="zh-CN" sz="1600" dirty="0" err="1">
                <a:solidFill>
                  <a:srgbClr val="660099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dtype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=torch.float32)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solidFill>
                  <a:srgbClr val="00800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# 2 </a:t>
            </a:r>
            <a:r>
              <a:rPr lang="zh-CN" altLang="en-US" sz="1600" dirty="0">
                <a:solidFill>
                  <a:srgbClr val="00800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实例</a:t>
            </a:r>
            <a:r>
              <a:rPr lang="en-GB" altLang="zh-CN" sz="1600" dirty="0">
                <a:solidFill>
                  <a:srgbClr val="00800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MSE</a:t>
            </a:r>
            <a:r>
              <a:rPr lang="zh-CN" altLang="en-US" sz="1600" dirty="0">
                <a:solidFill>
                  <a:srgbClr val="008001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损失对象</a:t>
            </a:r>
            <a:b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nn.MSELoss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3 </a:t>
            </a: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计算损失</a:t>
            </a:r>
            <a:b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zh-CN" altLang="en-US" sz="1600" b="1" dirty="0">
                <a:solidFill>
                  <a:srgbClr val="00800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= 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y_pred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y_true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).detach().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()</a:t>
            </a:r>
            <a:b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print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'</a:t>
            </a:r>
            <a:r>
              <a:rPr lang="en-GB" altLang="zh-CN" sz="1600" b="1" dirty="0" err="1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myloss</a:t>
            </a:r>
            <a:r>
              <a:rPr lang="en-GB" altLang="zh-CN" sz="1600" b="1" dirty="0">
                <a:solidFill>
                  <a:srgbClr val="00800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:'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en-GB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my_loss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)</a:t>
            </a:r>
            <a:endParaRPr lang="en-US" altLang="zh-CN" sz="1600" b="1" dirty="0">
              <a:solidFill>
                <a:srgbClr val="0000F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回归任务损失函数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mooth L1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损失函数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Smooth L1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说的是光滑之后的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L1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。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损失函数公式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endParaRPr kumimoji="0" lang="en-US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US" altLang="zh-CN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其中：</a:t>
            </a:r>
            <a:r>
              <a:rPr kumimoji="0" lang="en-US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			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为真实值和预测值的差值。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从右图中可以看出，该函数实际上就是一个分段函数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[-1,1]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之间实际上就是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L2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损失，解决了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的不光滑问题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[-1,1]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区间外，实际上就是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L1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损失，解决了离群点梯度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大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的问题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240" y="2867465"/>
            <a:ext cx="4081465" cy="2971225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6D45A0-FFB8-D2C6-586C-94A37C3506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014" y="2280721"/>
            <a:ext cx="4292821" cy="88269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4CFB4EA-D7AB-7655-6C90-E10AC54AD9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725" y="3618509"/>
            <a:ext cx="1949550" cy="336567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回归任务损失函数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-S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mooth L1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损失函数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在pytorch中使用nn.</a:t>
            </a:r>
            <a:r>
              <a:rPr lang="en-US" altLang="zh-CN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SmoothL1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Loss()实现，如下所示：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28491" y="2110463"/>
            <a:ext cx="6242625" cy="341503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600" dirty="0"/>
              <a:t>test</a:t>
            </a:r>
            <a:r>
              <a:rPr lang="en-US" altLang="en-GB" sz="1600" dirty="0"/>
              <a:t>0</a:t>
            </a:r>
            <a:r>
              <a:rPr lang="en-GB" altLang="zh-CN" sz="1600" dirty="0"/>
              <a:t>5():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8001"/>
                </a:solidFill>
              </a:rPr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1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设置真实值和预测值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 err="1"/>
              <a:t>y_true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torch.tensor</a:t>
            </a:r>
            <a:r>
              <a:rPr lang="en-GB" altLang="zh-CN" sz="1600" dirty="0"/>
              <a:t>([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3</a:t>
            </a:r>
            <a:r>
              <a:rPr lang="en-GB" altLang="zh-CN" sz="1600" dirty="0"/>
              <a:t>])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 err="1"/>
              <a:t>y_pred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torch.tensor</a:t>
            </a:r>
            <a:r>
              <a:rPr lang="en-GB" altLang="zh-CN" sz="1600" dirty="0"/>
              <a:t> ([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0.6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0.4</a:t>
            </a:r>
            <a:r>
              <a:rPr lang="en-GB" altLang="zh-CN" sz="1600" dirty="0"/>
              <a:t>], </a:t>
            </a:r>
            <a:r>
              <a:rPr lang="en-GB" altLang="zh-CN" sz="1600" dirty="0" err="1">
                <a:solidFill>
                  <a:srgbClr val="660099"/>
                </a:solidFill>
                <a:effectLst/>
              </a:rPr>
              <a:t>requires_grad</a:t>
            </a:r>
            <a:r>
              <a:rPr lang="en-GB" altLang="zh-CN" sz="1600" dirty="0"/>
              <a:t>=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True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8001"/>
                </a:solidFill>
              </a:rPr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2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实例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smmothL1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损失对象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/>
              <a:t> = nn.SmoothL1Loss()</a:t>
            </a:r>
            <a:br>
              <a:rPr lang="en-GB" altLang="zh-CN" sz="1600" dirty="0"/>
            </a:br>
            <a:r>
              <a:rPr lang="en-GB" altLang="zh-CN" sz="1600" dirty="0">
                <a:solidFill>
                  <a:srgbClr val="008001"/>
                </a:solidFill>
              </a:rPr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3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计算损失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 err="1"/>
              <a:t>my_loss</a:t>
            </a:r>
            <a:r>
              <a:rPr lang="en-GB" altLang="zh-CN" sz="1600" dirty="0"/>
              <a:t> = </a:t>
            </a:r>
            <a:r>
              <a:rPr lang="en-GB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loss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_</a:t>
            </a:r>
            <a:r>
              <a:rPr lang="en-US" altLang="zh-CN" sz="16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fn</a:t>
            </a:r>
            <a:r>
              <a:rPr lang="en-GB" altLang="zh-CN" sz="1600" dirty="0"/>
              <a:t>(</a:t>
            </a:r>
            <a:r>
              <a:rPr lang="en-GB" altLang="zh-CN" sz="1600" dirty="0" err="1"/>
              <a:t>y_pred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y_true</a:t>
            </a:r>
            <a:r>
              <a:rPr lang="en-GB" altLang="zh-CN" sz="1600" dirty="0"/>
              <a:t>).detach().</a:t>
            </a:r>
            <a:r>
              <a:rPr lang="en-GB" altLang="zh-CN" sz="1600" dirty="0" err="1"/>
              <a:t>numpy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'loss:'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my_loss</a:t>
            </a:r>
            <a:r>
              <a:rPr lang="en-GB" altLang="zh-CN" sz="1600" dirty="0"/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842629"/>
            <a:ext cx="7731240" cy="5172741"/>
          </a:xfrm>
        </p:spPr>
        <p:txBody>
          <a:bodyPr/>
          <a:lstStyle/>
          <a:p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分类任务的损失函数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多分类的交叉熵损失函数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二分类的交叉熵损失函数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>
              <a:buFont typeface="+mj-lt"/>
              <a:buAutoNum type="arabicPeriod" startAt="2"/>
            </a:pP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回归任务的损失函数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MAE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MSE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，</a:t>
            </a:r>
            <a:r>
              <a:rPr lang="en-US" altLang="zh-CN" sz="1600" b="1" i="0" dirty="0">
                <a:solidFill>
                  <a:srgbClr val="333333"/>
                </a:solidFill>
                <a:effectLst/>
                <a:latin typeface="Helvetica Neue"/>
              </a:rPr>
              <a:t>smooth L1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损失函数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1826580"/>
            <a:ext cx="5973445" cy="3204839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神经网络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损失函数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网络优化方法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正则化方法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价格分类案例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56674" y="3223894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01883" y="1575237"/>
            <a:ext cx="6298565" cy="2792576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知道梯度下降算法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知道网络训练过程中的</a:t>
            </a:r>
            <a:r>
              <a:rPr lang="en-US" altLang="zh-CN" dirty="0">
                <a:solidFill>
                  <a:schemeClr val="tx1"/>
                </a:solidFill>
              </a:rPr>
              <a:t>epoch,</a:t>
            </a:r>
            <a:r>
              <a:rPr lang="zh-CN" altLang="en-US" dirty="0">
                <a:solidFill>
                  <a:schemeClr val="tx1"/>
                </a:solidFill>
              </a:rPr>
              <a:t> </a:t>
            </a:r>
            <a:r>
              <a:rPr lang="en-US" altLang="zh-CN" dirty="0" err="1">
                <a:solidFill>
                  <a:schemeClr val="tx1"/>
                </a:solidFill>
              </a:rPr>
              <a:t>batch,iteration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了解反向传播算法过程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知道梯度下降的优化方法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知道学习率优化策略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梯度下降算法回顾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lang="zh-CN" altLang="en-US" b="1" dirty="0"/>
              <a:t>梯度下降法</a:t>
            </a:r>
            <a:r>
              <a:rPr lang="zh-CN" altLang="en-US" dirty="0"/>
              <a:t>是一种</a:t>
            </a:r>
            <a:r>
              <a:rPr lang="zh-CN" altLang="en-US" b="1" dirty="0"/>
              <a:t>寻找损失函数最小值的方法</a:t>
            </a:r>
            <a:r>
              <a:rPr lang="zh-CN" altLang="en-US" dirty="0"/>
              <a:t>。从数学角度来看，</a:t>
            </a:r>
            <a:r>
              <a:rPr lang="zh-CN" altLang="en-US" b="1" dirty="0"/>
              <a:t>梯度的方向是函数增长速度最快的方向，梯度的反方向就是函数减少最快的方向</a:t>
            </a:r>
            <a:r>
              <a:rPr lang="zh-CN" altLang="en-US" dirty="0"/>
              <a:t>。梯度下降法更新公式：</a:t>
            </a:r>
            <a:endParaRPr lang="en-US" altLang="zh-CN" dirty="0"/>
          </a:p>
          <a:p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dirty="0"/>
              <a:t>其中 </a:t>
            </a:r>
            <a:r>
              <a:rPr lang="en-US" altLang="zh-CN" dirty="0"/>
              <a:t>α </a:t>
            </a:r>
            <a:r>
              <a:rPr lang="zh-CN" altLang="en-US" dirty="0"/>
              <a:t>是学习率。</a:t>
            </a:r>
            <a:r>
              <a:rPr lang="en-US" altLang="zh-CN" dirty="0"/>
              <a:t>       </a:t>
            </a:r>
            <a:r>
              <a:rPr lang="zh-CN" altLang="en-US" dirty="0"/>
              <a:t>是损失函数对模型参数的梯度。</a:t>
            </a: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72F7426-07AD-C9F7-59EE-043530111651}"/>
              </a:ext>
            </a:extLst>
          </p:cNvPr>
          <p:cNvPicPr>
            <a:picLocks/>
          </p:cNvPicPr>
          <p:nvPr/>
        </p:nvPicPr>
        <p:blipFill>
          <a:blip r:embed="rId2"/>
          <a:srcRect b="7288"/>
          <a:stretch>
            <a:fillRect/>
          </a:stretch>
        </p:blipFill>
        <p:spPr>
          <a:xfrm>
            <a:off x="4750757" y="2322479"/>
            <a:ext cx="2101336" cy="654996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8B63233-DEC8-5913-7B15-438C64DBD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8050" y="3039685"/>
            <a:ext cx="304816" cy="533427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A738CF97-65E2-00C9-7D82-3EBB0BA23B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535" y="3842683"/>
            <a:ext cx="4595270" cy="2738595"/>
          </a:xfrm>
          <a:prstGeom prst="rect">
            <a:avLst/>
          </a:prstGeom>
        </p:spPr>
      </p:pic>
      <p:pic>
        <p:nvPicPr>
          <p:cNvPr id="12" name="图片 11" descr="图表, 表面图&#10;&#10;AI 生成的内容可能不正确。">
            <a:extLst>
              <a:ext uri="{FF2B5EF4-FFF2-40B4-BE49-F238E27FC236}">
                <a16:creationId xmlns:a16="http://schemas.microsoft.com/office/drawing/2014/main" id="{AF13A482-B2D5-0288-59B9-2F0AC0CB4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7145" y="3059183"/>
            <a:ext cx="3688219" cy="3798817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梯度下降算法回顾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4306921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在进行模型训练时，有三个基础的概念：</a:t>
            </a:r>
          </a:p>
          <a:p>
            <a:r>
              <a:rPr lang="en-US" altLang="zh-CN" dirty="0"/>
              <a:t>1.</a:t>
            </a:r>
            <a:r>
              <a:rPr lang="zh-CN" altLang="en-US" dirty="0"/>
              <a:t> </a:t>
            </a:r>
            <a:r>
              <a:rPr lang="en-US" altLang="zh-CN" b="1" dirty="0"/>
              <a:t>Epoch</a:t>
            </a:r>
            <a:r>
              <a:rPr lang="en-US" altLang="zh-CN" dirty="0"/>
              <a:t>: </a:t>
            </a:r>
            <a:r>
              <a:rPr lang="zh-CN" altLang="en-US" dirty="0"/>
              <a:t>训练轮数，模型接触所有数据一次称为一个轮次</a:t>
            </a:r>
          </a:p>
          <a:p>
            <a:r>
              <a:rPr lang="en-US" altLang="zh-CN" dirty="0"/>
              <a:t>2.</a:t>
            </a:r>
            <a:r>
              <a:rPr lang="zh-CN" altLang="en-US" dirty="0"/>
              <a:t> </a:t>
            </a:r>
            <a:r>
              <a:rPr lang="en-US" altLang="zh-CN" b="1" dirty="0"/>
              <a:t>Batch</a:t>
            </a:r>
            <a:r>
              <a:rPr lang="en-US" altLang="zh-CN" dirty="0"/>
              <a:t>: </a:t>
            </a:r>
            <a:r>
              <a:rPr lang="zh-CN" altLang="en-US" dirty="0"/>
              <a:t>批次大小，使用训练集中的小部分样本的梯度更新模型参数</a:t>
            </a:r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 </a:t>
            </a:r>
            <a:r>
              <a:rPr lang="en-US" altLang="zh-CN" b="1" dirty="0"/>
              <a:t>Iteration</a:t>
            </a:r>
            <a:r>
              <a:rPr lang="en-US" altLang="zh-CN" dirty="0"/>
              <a:t>: </a:t>
            </a:r>
            <a:r>
              <a:rPr lang="zh-CN" altLang="en-US" dirty="0"/>
              <a:t>每轮次训练的批次数，使用一个 </a:t>
            </a:r>
            <a:r>
              <a:rPr lang="en-US" altLang="zh-CN" dirty="0"/>
              <a:t>Batch </a:t>
            </a:r>
            <a:r>
              <a:rPr lang="zh-CN" altLang="en-US" dirty="0"/>
              <a:t>数据对更新一次模型参数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b="0" i="0" dirty="0">
                <a:effectLst/>
                <a:latin typeface="Roboto" panose="02000000000000000000" pitchFamily="2" charset="0"/>
              </a:rPr>
              <a:t>假设数据集有 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100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个训练样本，现在选择 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Batch Size = 16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对模型进行训练。</a:t>
            </a:r>
          </a:p>
          <a:p>
            <a:pPr algn="l"/>
            <a:r>
              <a:rPr lang="zh-CN" altLang="en-US" b="0" i="0" dirty="0">
                <a:effectLst/>
                <a:latin typeface="Roboto" panose="02000000000000000000" pitchFamily="2" charset="0"/>
              </a:rPr>
              <a:t>每个 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Epoch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的样本数量：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100 </a:t>
            </a:r>
          </a:p>
          <a:p>
            <a:pPr algn="l"/>
            <a:r>
              <a:rPr lang="zh-CN" altLang="en-US" b="0" i="0" dirty="0">
                <a:effectLst/>
                <a:latin typeface="Roboto" panose="02000000000000000000" pitchFamily="2" charset="0"/>
              </a:rPr>
              <a:t>训练集具有的 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Batch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个数：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(100-1)//16+1=7</a:t>
            </a:r>
          </a:p>
          <a:p>
            <a:pPr algn="l"/>
            <a:r>
              <a:rPr lang="en-US" altLang="zh-CN" b="0" i="0" dirty="0">
                <a:effectLst/>
                <a:latin typeface="Roboto" panose="02000000000000000000" pitchFamily="2" charset="0"/>
              </a:rPr>
              <a:t>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每个 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Epoch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具有的 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Iteration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个数：</a:t>
            </a:r>
            <a:r>
              <a:rPr lang="en-US" altLang="zh-CN" dirty="0">
                <a:latin typeface="Roboto" panose="02000000000000000000" pitchFamily="2" charset="0"/>
              </a:rPr>
              <a:t>7</a:t>
            </a:r>
            <a:endParaRPr lang="en-US" altLang="zh-CN" b="0" i="0" dirty="0">
              <a:effectLst/>
              <a:latin typeface="Roboto" panose="02000000000000000000" pitchFamily="2" charset="0"/>
            </a:endParaRPr>
          </a:p>
          <a:p>
            <a:pPr algn="l"/>
            <a:r>
              <a:rPr lang="en-US" altLang="zh-CN" b="0" i="0" dirty="0">
                <a:effectLst/>
                <a:latin typeface="Roboto" panose="02000000000000000000" pitchFamily="2" charset="0"/>
              </a:rPr>
              <a:t>10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个 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Epoch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具有的 </a:t>
            </a:r>
            <a:r>
              <a:rPr lang="en-GB" altLang="zh-CN" b="0" i="0" dirty="0">
                <a:effectLst/>
                <a:latin typeface="Roboto" panose="02000000000000000000" pitchFamily="2" charset="0"/>
              </a:rPr>
              <a:t>Iteration 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个数：</a:t>
            </a:r>
            <a:r>
              <a:rPr lang="en-US" altLang="zh-CN" dirty="0">
                <a:latin typeface="Roboto" panose="02000000000000000000" pitchFamily="2" charset="0"/>
              </a:rPr>
              <a:t>70</a:t>
            </a:r>
            <a:endParaRPr lang="en-US" altLang="zh-CN" b="0" i="0" dirty="0"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梯度下降算法回顾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2"/>
            <a:ext cx="10698800" cy="579052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在深度学习中，梯度下降的几种方式的根本区别就在于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Batch Size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不同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,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如下表所示：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B72F98A-676E-B959-DD59-81B127A428CC}"/>
              </a:ext>
            </a:extLst>
          </p:cNvPr>
          <p:cNvPicPr>
            <a:picLocks/>
          </p:cNvPicPr>
          <p:nvPr/>
        </p:nvPicPr>
        <p:blipFill>
          <a:blip r:embed="rId2"/>
          <a:srcRect b="2899"/>
          <a:stretch>
            <a:fillRect/>
          </a:stretch>
        </p:blipFill>
        <p:spPr>
          <a:xfrm>
            <a:off x="1541595" y="2127116"/>
            <a:ext cx="7059280" cy="1913106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524505" y="885463"/>
            <a:ext cx="7089562" cy="5318567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</a:t>
            </a:r>
            <a:r>
              <a:rPr kumimoji="1" lang="zh-CN" altLang="en-US" dirty="0"/>
              <a:t>、梯度下降算法的思想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沿着梯度反方向更新参数，寻找损失函数最小值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2</a:t>
            </a:r>
            <a:r>
              <a:rPr kumimoji="1" lang="zh-CN" altLang="en-US" dirty="0"/>
              <a:t>、神经网络训练中的三个概念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CN" dirty="0"/>
              <a:t>Epoch</a:t>
            </a:r>
            <a:r>
              <a:rPr kumimoji="1" lang="zh-CN" altLang="en-US" dirty="0"/>
              <a:t>训练轮数</a:t>
            </a:r>
            <a:r>
              <a:rPr kumimoji="1" lang="en-US" altLang="zh-CN" dirty="0"/>
              <a:t>,</a:t>
            </a:r>
          </a:p>
          <a:p>
            <a:pPr marL="0" indent="0">
              <a:buNone/>
            </a:pPr>
            <a:r>
              <a:rPr kumimoji="1" lang="en-US" altLang="zh-CN" dirty="0"/>
              <a:t>Batch</a:t>
            </a:r>
            <a:r>
              <a:rPr kumimoji="1" lang="zh-CN" altLang="en-US" dirty="0"/>
              <a:t>批次，</a:t>
            </a:r>
            <a:r>
              <a:rPr kumimoji="1" lang="en-US" altLang="zh-CN" dirty="0" err="1"/>
              <a:t>batch_size</a:t>
            </a:r>
            <a:r>
              <a:rPr kumimoji="1" lang="zh-CN" altLang="en-US" dirty="0"/>
              <a:t>批次大小</a:t>
            </a:r>
            <a:r>
              <a:rPr kumimoji="1" lang="en-US" altLang="zh-CN" dirty="0"/>
              <a:t>,</a:t>
            </a:r>
          </a:p>
          <a:p>
            <a:pPr marL="0" indent="0">
              <a:buNone/>
            </a:pPr>
            <a:r>
              <a:rPr kumimoji="1" lang="en-US" altLang="zh-CN" dirty="0"/>
              <a:t>Iteration</a:t>
            </a:r>
            <a:r>
              <a:rPr kumimoji="1" lang="zh-CN" altLang="en-US" dirty="0"/>
              <a:t>迭代次数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双层训练循环：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外循环遍历</a:t>
            </a:r>
            <a:r>
              <a:rPr kumimoji="1" lang="en-US" altLang="zh-CN" dirty="0"/>
              <a:t>epoch</a:t>
            </a:r>
            <a:r>
              <a:rPr kumimoji="1" lang="zh-CN" altLang="en-US" dirty="0"/>
              <a:t> </a:t>
            </a:r>
            <a:r>
              <a:rPr kumimoji="1" lang="en-US" altLang="zh-CN" dirty="0"/>
              <a:t>– </a:t>
            </a:r>
            <a:r>
              <a:rPr kumimoji="1" lang="zh-CN" altLang="en-US" dirty="0"/>
              <a:t>内循环遍历</a:t>
            </a:r>
            <a:r>
              <a:rPr kumimoji="1" lang="en-US" altLang="zh-CN" dirty="0"/>
              <a:t>batch(</a:t>
            </a:r>
            <a:r>
              <a:rPr kumimoji="1" lang="zh-CN" altLang="en-US" dirty="0"/>
              <a:t>每个</a:t>
            </a:r>
            <a:r>
              <a:rPr kumimoji="1" lang="en-US" altLang="zh-CN" dirty="0"/>
              <a:t>epoch</a:t>
            </a:r>
            <a:r>
              <a:rPr kumimoji="1" lang="zh-CN" altLang="en-US" dirty="0"/>
              <a:t>的</a:t>
            </a:r>
            <a:r>
              <a:rPr kumimoji="1" lang="en-US" altLang="zh-CN" dirty="0"/>
              <a:t>batch</a:t>
            </a:r>
            <a:r>
              <a:rPr kumimoji="1" lang="zh-CN" altLang="en-US" dirty="0"/>
              <a:t>个数为</a:t>
            </a:r>
            <a:r>
              <a:rPr kumimoji="1" lang="en-US" altLang="zh-CN" dirty="0"/>
              <a:t>iteration</a:t>
            </a:r>
            <a:r>
              <a:rPr kumimoji="1" lang="zh-CN" altLang="en-US" dirty="0"/>
              <a:t>迭代次数</a:t>
            </a:r>
            <a:r>
              <a:rPr kumimoji="1" lang="en-US" altLang="zh-CN" dirty="0"/>
              <a:t>)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(BP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)[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了解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]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前向传播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：指的是数据输入到神经网络中，逐层向前传输，一直运算到输出层为止。</a:t>
            </a:r>
          </a:p>
          <a:p>
            <a:r>
              <a:rPr lang="zh-CN" altLang="en-US" b="1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反向传播（</a:t>
            </a:r>
            <a:r>
              <a:rPr lang="en-GB" altLang="zh-CN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Back Propagation</a:t>
            </a:r>
            <a:r>
              <a:rPr lang="zh-CN" altLang="en-US" b="1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）：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损失函数 </a:t>
            </a:r>
            <a:r>
              <a:rPr lang="en-US" altLang="zh-CN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ERROR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值，从后往前，结合梯度下降算法，依次求各个参数的偏导，并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更新模型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参数</a:t>
            </a: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462" y="2263302"/>
            <a:ext cx="5834103" cy="4594698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(BP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)[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了解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]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反向传播算法</a:t>
            </a:r>
            <a:r>
              <a:rPr lang="zh-CN" altLang="en-US" b="1"/>
              <a:t>利用链式法则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对神经网络中的各个节点的权重进行更新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</a:p>
          <a:p>
            <a:pPr algn="l"/>
            <a:r>
              <a:rPr lang="zh-CN" altLang="en-US"/>
              <a:t>如下图是一个简单的神经网络用来举例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：激活函数为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sigmoid</a:t>
            </a: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35C0D4FA-66ED-4726-8D24-E51DD7A7C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165" y="2356918"/>
            <a:ext cx="5994229" cy="4368733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(BP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)[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了解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]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前向传播运算过程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DAABCBC-AA1D-2AC3-D414-595E3CA0A4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3695" y="1300861"/>
            <a:ext cx="5772678" cy="5137484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(BP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)[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了解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]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接下来是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我们先来求最简单的，求损失函数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的导数。要求损失函数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的导数，需要先求损失函数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out o1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的导数，再求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out o1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net o1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的导数，最后再求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net o1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的导数，经过这个处理，我们就可以求出损失函数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的导数（偏导），如下图所示：</a:t>
            </a:r>
          </a:p>
          <a:p>
            <a:pPr algn="l"/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C6880C27-F748-A44C-B34F-38428C3143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6123" y="2236425"/>
            <a:ext cx="4691121" cy="454192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(BP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)[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了解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]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导数（梯度）已经计算出来了，下面就是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反向传播与参数更新过程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：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 descr="图示&#10;&#10;AI 生成的内容可能不正确。">
            <a:extLst>
              <a:ext uri="{FF2B5EF4-FFF2-40B4-BE49-F238E27FC236}">
                <a16:creationId xmlns:a16="http://schemas.microsoft.com/office/drawing/2014/main" id="{117E762F-377E-D97D-2305-364357673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455" y="1877729"/>
            <a:ext cx="7449090" cy="4841908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反向传播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(BP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)[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了解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]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如果要想求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损失函数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E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w1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的导数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，损失函数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E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对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w1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的求导路径不止一条，会稍微复杂一点，计算过程如下：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 descr="图示&#10;&#10;AI 生成的内容可能不正确。">
            <a:extLst>
              <a:ext uri="{FF2B5EF4-FFF2-40B4-BE49-F238E27FC236}">
                <a16:creationId xmlns:a16="http://schemas.microsoft.com/office/drawing/2014/main" id="{2062715C-3F87-8B9A-DDFF-A4E949DF2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574" y="1910233"/>
            <a:ext cx="6225411" cy="485753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前向传播和反向传播是什么？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前向传播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：</a:t>
            </a:r>
            <a:r>
              <a:rPr lang="zh-CN" altLang="en-US" dirty="0"/>
              <a:t>数据输入到神经网络中，逐层向前传播，一直运算到输出层为止</a:t>
            </a:r>
            <a:r>
              <a:rPr lang="en-US" altLang="zh-CN" dirty="0"/>
              <a:t>, </a:t>
            </a:r>
            <a:r>
              <a:rPr lang="zh-CN" altLang="en-US" dirty="0"/>
              <a:t>输出预测值</a:t>
            </a:r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反向传播（</a:t>
            </a:r>
            <a:r>
              <a:rPr lang="en-GB" altLang="zh-CN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Back Propagation</a:t>
            </a:r>
            <a:r>
              <a:rPr lang="zh-CN" altLang="en-US" b="1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）：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利用损失函数</a:t>
            </a:r>
            <a:r>
              <a:rPr lang="en-US" altLang="zh-CN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ERROR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值，从后往前，依次求各个参数的偏导，结合梯度下降法，更新模型参数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梯度下降法中，可能会碰到以下情况：</a:t>
            </a: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碰到平缓区域，梯度较小，参数更新慢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碰到 “鞍点” ，梯度为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，参数无法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更新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碰到局部最小值，无法跳出，参数不是最优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对于这些问题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出现了一些对梯度下降法的优化方法，例如：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Momentum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AdaGrad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RMSprop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Adam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等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389" y="3520151"/>
            <a:ext cx="6005080" cy="3337849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指数加权平均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指数移动加权平均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是一种计算平均值的方法，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参考各数值，各数值的权重都不同，距离越远权重越小，距离越近权重越大。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比如：今天气温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数值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，和昨天气温关系较大，而和一个月前的气温关系较小。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计算公式：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表示指数加权平均值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Yt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时刻的值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;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β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调节权重系数，该值越大平均数越平缓。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3451B82-248B-3A36-C518-A057287D83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4136" y="3429000"/>
            <a:ext cx="3892750" cy="831893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指数加权平均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92589" y="1457271"/>
            <a:ext cx="5556546" cy="507831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matplotlib.pyplot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ELEMENT_NUMBER = 30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1.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实际平均温度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demo01():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固定随机数种子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torch.manual_seed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产生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30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天的随机温度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temperature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(size=[ELEMENT_NUMBER, ]) * 10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print(temperature)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绘制平均温度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days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torch.arange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ELEMENT_NUMBER + 1, 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(days, temperature, color='r')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plt.scatter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(days, temperature)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1784" y="1974461"/>
            <a:ext cx="4263616" cy="327501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A355343-04AA-434F-992A-4FDE63F67EB5}"/>
              </a:ext>
            </a:extLst>
          </p:cNvPr>
          <p:cNvSpPr txBox="1"/>
          <p:nvPr/>
        </p:nvSpPr>
        <p:spPr>
          <a:xfrm>
            <a:off x="7862160" y="1272605"/>
            <a:ext cx="30932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随机产生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30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天的气温数据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指数加权平均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66277" y="1457271"/>
            <a:ext cx="6630744" cy="519116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2.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指数加权平均温度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test02(beta=0.9):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torch.manual_seed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(0)</a:t>
            </a: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固定随机数种子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temperature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torch.randn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(size=[ELEMENT_NUMBER,]) * 10</a:t>
            </a: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产生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30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天的随机温度</a:t>
            </a:r>
            <a:endParaRPr lang="en-US" altLang="zh-CN" sz="12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exp_weight_avg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[]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for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idx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temp in enumerate(temperature, 1):</a:t>
            </a: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#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从下标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1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开始</a:t>
            </a:r>
            <a:endParaRPr lang="en-US" altLang="zh-CN" sz="12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第一个元素的的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EWA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值等于自身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if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idx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== 1: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exp_weight_avg.append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(temp)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    continue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    #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第二个元素的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EWA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值等于上一个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EWA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乘以 </a:t>
            </a:r>
            <a:r>
              <a:rPr lang="el-GR" altLang="zh-CN" sz="1200" dirty="0">
                <a:solidFill>
                  <a:srgbClr val="00B050"/>
                </a:solidFill>
                <a:ea typeface="阿里巴巴普惠体" panose="00020600040101010101"/>
              </a:rPr>
              <a:t>β + </a:t>
            </a:r>
            <a:r>
              <a:rPr lang="zh-CN" altLang="en-US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当前气温乘以 </a:t>
            </a:r>
            <a:r>
              <a:rPr lang="en-US" altLang="zh-CN" sz="12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(1-</a:t>
            </a:r>
            <a:r>
              <a:rPr lang="el-GR" altLang="zh-CN" sz="1200" dirty="0">
                <a:solidFill>
                  <a:srgbClr val="00B050"/>
                </a:solidFill>
                <a:ea typeface="阿里巴巴普惠体" panose="00020600040101010101"/>
              </a:rPr>
              <a:t>β)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new_temp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exp_weight_avg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[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idx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- 2] * beta + (1 - beta) * temp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exp_weight_avg.append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new_temp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days =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torch.arange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(1, ELEMENT_NUMBER + 1, 1)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plt.plot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(days,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exp_weight_avg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, color='r')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plt.scatter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(days, temperature)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2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plt.show</a:t>
            </a:r>
            <a:r>
              <a:rPr lang="en-US" altLang="zh-CN" sz="12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11767" y="1081959"/>
            <a:ext cx="10698800" cy="517190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指数加权平均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r>
              <a:rPr lang="en-US" altLang="zh-CN" b="0" dirty="0">
                <a:solidFill>
                  <a:srgbClr val="333333"/>
                </a:solidFill>
                <a:latin typeface="Helvetica Neue"/>
              </a:rPr>
              <a:t>β </a:t>
            </a:r>
            <a:r>
              <a:rPr lang="zh-CN" altLang="en-US" b="0" dirty="0">
                <a:solidFill>
                  <a:srgbClr val="333333"/>
                </a:solidFill>
                <a:latin typeface="Helvetica Neue"/>
              </a:rPr>
              <a:t>值越大，画出的折线越平缓。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138989" y="1457271"/>
            <a:ext cx="11306411" cy="5400729"/>
          </a:xfrm>
        </p:spPr>
        <p:txBody>
          <a:bodyPr/>
          <a:lstStyle/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DB41786F-C26D-2419-9C40-0DF2B5EE26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072" y="739015"/>
            <a:ext cx="3860425" cy="2880000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01997C2A-E35A-6B23-4F4B-DAD98E450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9808" y="739015"/>
            <a:ext cx="3860425" cy="2880000"/>
          </a:xfrm>
          <a:prstGeom prst="rect">
            <a:avLst/>
          </a:prstGeom>
        </p:spPr>
      </p:pic>
      <p:pic>
        <p:nvPicPr>
          <p:cNvPr id="11" name="图片 10" descr="图表, 散点图&#10;&#10;AI 生成的内容可能不正确。">
            <a:extLst>
              <a:ext uri="{FF2B5EF4-FFF2-40B4-BE49-F238E27FC236}">
                <a16:creationId xmlns:a16="http://schemas.microsoft.com/office/drawing/2014/main" id="{15534FA4-F49A-D10B-D5A1-5C067D1B31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0071" y="3619015"/>
            <a:ext cx="3860425" cy="2880000"/>
          </a:xfrm>
          <a:prstGeom prst="rect">
            <a:avLst/>
          </a:prstGeom>
        </p:spPr>
      </p:pic>
      <p:pic>
        <p:nvPicPr>
          <p:cNvPr id="13" name="图片 12" descr="图表, 散点图&#10;&#10;AI 生成的内容可能不正确。">
            <a:extLst>
              <a:ext uri="{FF2B5EF4-FFF2-40B4-BE49-F238E27FC236}">
                <a16:creationId xmlns:a16="http://schemas.microsoft.com/office/drawing/2014/main" id="{0CBA1890-9970-3C72-D254-A01F5B04C7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19808" y="3619015"/>
            <a:ext cx="3860425" cy="2880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21276" y="815688"/>
            <a:ext cx="10698800" cy="517190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动量算法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Momentum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321276" y="1457271"/>
            <a:ext cx="11124124" cy="5400729"/>
          </a:xfrm>
        </p:spPr>
        <p:txBody>
          <a:bodyPr/>
          <a:lstStyle/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986549" y="1457271"/>
            <a:ext cx="8644535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6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梯度计算公式：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b="1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600" b="1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参数更新公式：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s_t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是当前时刻指数加权平均梯度值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s_t-1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是历史指数加权平均梯度值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g_t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是当前时刻的梯度值</a:t>
            </a:r>
            <a:endParaRPr lang="en-US" altLang="zh-CN" sz="1600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β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是调节权重系数，通常取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0.9 </a:t>
            </a:r>
            <a:r>
              <a:rPr lang="zh-CN" altLang="en-US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或</a:t>
            </a:r>
            <a:r>
              <a:rPr lang="en-US" altLang="zh-CN" sz="16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0.99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AA2E7E3-4A37-CD4D-C62E-8B63D45007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794" y="1850947"/>
            <a:ext cx="2631291" cy="54854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A51096-EB37-D336-A0F9-5A0D8C4316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5794" y="2944238"/>
            <a:ext cx="2176858" cy="484762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70BC60FA-B395-8A7F-FF9A-21896FF826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158" y="3729682"/>
            <a:ext cx="7412662" cy="1750212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动量算法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Momentum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2"/>
            <a:ext cx="10698800" cy="4460648"/>
          </a:xfrm>
        </p:spPr>
        <p:txBody>
          <a:bodyPr/>
          <a:lstStyle/>
          <a:p>
            <a:pPr algn="l"/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Monmentum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优化方法是如何一定程度上克服 “平缓”、”鞍点” 的问题呢？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当处于鞍点位置时，梯度为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0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，参数无法更新。但是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Momentum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动量法已经在先前积累了一些梯度值，有可能跨过鞍点。</a:t>
            </a:r>
          </a:p>
          <a:p>
            <a:pPr marL="285750" indent="-285750" algn="l">
              <a:buFont typeface="Wingdings" panose="05000000000000000000" pitchFamily="2" charset="2"/>
              <a:buChar char="l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普通的梯度下降法，梯度变化大，可能出现震荡。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Momentum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使用移动加权平均，梯度更平滑，使得前进方向更加平缓，加快训练过程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548" y="1974461"/>
            <a:ext cx="4618120" cy="178323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动量算法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Momentum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252328" y="1479604"/>
            <a:ext cx="8796895" cy="483108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400" dirty="0"/>
              <a:t>test01():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1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初始化权重参数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w = </a:t>
            </a:r>
            <a:r>
              <a:rPr lang="en-GB" altLang="zh-CN" sz="1400" dirty="0" err="1"/>
              <a:t>torch.tensor</a:t>
            </a:r>
            <a:r>
              <a:rPr lang="en-GB" altLang="zh-CN" sz="1400" dirty="0"/>
              <a:t>([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1.0</a:t>
            </a:r>
            <a:r>
              <a:rPr lang="en-GB" altLang="zh-CN" sz="1400" dirty="0"/>
              <a:t>],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requires_grad</a:t>
            </a:r>
            <a:r>
              <a:rPr lang="en-GB" altLang="zh-CN" sz="1400" dirty="0"/>
              <a:t>=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True</a:t>
            </a:r>
            <a:r>
              <a:rPr lang="en-GB" altLang="zh-CN" sz="1400" dirty="0"/>
              <a:t>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dtype</a:t>
            </a:r>
            <a:r>
              <a:rPr lang="en-GB" altLang="zh-CN" sz="1400" dirty="0"/>
              <a:t>=torch.float32)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US" altLang="en-GB" sz="1400" dirty="0"/>
              <a:t>loss</a:t>
            </a:r>
            <a:r>
              <a:rPr lang="en-GB" altLang="zh-CN" sz="1400" dirty="0"/>
              <a:t> = ((w **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400" dirty="0"/>
              <a:t>) /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2.0</a:t>
            </a:r>
            <a:r>
              <a:rPr lang="en-GB" altLang="zh-CN" sz="1400" dirty="0"/>
              <a:t>).sum()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2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实例化优化方法：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SGD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指定参数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beta=0.9</a:t>
            </a:r>
            <a:br>
              <a:rPr lang="en-GB" altLang="zh-CN" sz="1400" i="1" dirty="0">
                <a:solidFill>
                  <a:srgbClr val="808080"/>
                </a:solidFill>
                <a:effectLst/>
              </a:rPr>
            </a:br>
            <a:r>
              <a:rPr lang="en-GB" altLang="zh-CN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optimizer = </a:t>
            </a:r>
            <a:r>
              <a:rPr lang="en-GB" altLang="zh-CN" sz="1400" dirty="0" err="1"/>
              <a:t>torch.optim.SGD</a:t>
            </a:r>
            <a:r>
              <a:rPr lang="en-GB" altLang="zh-CN" sz="1400" dirty="0"/>
              <a:t>([w],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lr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0.01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momentum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0.9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3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第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1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次更新 计算梯度，并对参数进行更新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optimizer.zero_grad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US" altLang="en-GB" sz="1400" dirty="0"/>
              <a:t>loss</a:t>
            </a:r>
            <a:r>
              <a:rPr lang="en-GB" altLang="zh-CN" sz="1400" dirty="0" err="1"/>
              <a:t>.backward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optimizer.step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第</a:t>
            </a:r>
            <a:r>
              <a:rPr lang="en-US" altLang="zh-CN" sz="1400" b="1" dirty="0">
                <a:solidFill>
                  <a:srgbClr val="008000"/>
                </a:solidFill>
                <a:effectLst/>
              </a:rPr>
              <a:t>1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次</a:t>
            </a:r>
            <a:r>
              <a:rPr lang="en-US" altLang="zh-CN" sz="1400" b="1" dirty="0">
                <a:solidFill>
                  <a:srgbClr val="008000"/>
                </a:solidFill>
                <a:effectLst/>
              </a:rPr>
              <a:t>: 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梯度</a:t>
            </a:r>
            <a:r>
              <a:rPr lang="en-GB" altLang="zh-CN" sz="1400" b="1" dirty="0" err="1">
                <a:solidFill>
                  <a:srgbClr val="008000"/>
                </a:solidFill>
                <a:effectLst/>
              </a:rPr>
              <a:t>w.grad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: %f, 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更新后的权重</a:t>
            </a:r>
            <a:r>
              <a:rPr lang="en-US" altLang="zh-CN" sz="1400" b="1" dirty="0">
                <a:solidFill>
                  <a:srgbClr val="008000"/>
                </a:solidFill>
                <a:effectLst/>
              </a:rPr>
              <a:t>:%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f' </a:t>
            </a:r>
            <a:r>
              <a:rPr lang="en-GB" altLang="zh-CN" sz="1400" dirty="0"/>
              <a:t>% (</a:t>
            </a:r>
            <a:r>
              <a:rPr lang="en-GB" altLang="zh-CN" sz="1400" dirty="0" err="1"/>
              <a:t>w.grad.numpy</a:t>
            </a:r>
            <a:r>
              <a:rPr lang="en-GB" altLang="zh-CN" sz="1400" dirty="0"/>
              <a:t>(), </a:t>
            </a:r>
            <a:r>
              <a:rPr lang="en-GB" altLang="zh-CN" sz="1400" dirty="0" err="1"/>
              <a:t>w.detach</a:t>
            </a:r>
            <a:r>
              <a:rPr lang="en-GB" altLang="zh-CN" sz="1400" dirty="0"/>
              <a:t>().</a:t>
            </a:r>
            <a:r>
              <a:rPr lang="en-GB" altLang="zh-CN" sz="1400" dirty="0" err="1"/>
              <a:t>numpy</a:t>
            </a:r>
            <a:r>
              <a:rPr lang="en-GB" altLang="zh-CN" sz="1400" dirty="0"/>
              <a:t>()))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4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第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2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次更新 计算梯度，并对参数进行更新</a:t>
            </a:r>
            <a:br>
              <a:rPr lang="zh-CN" altLang="en-US" sz="1400" i="1" dirty="0">
                <a:solidFill>
                  <a:srgbClr val="008001"/>
                </a:solidFill>
                <a:effectLst/>
              </a:rPr>
            </a:br>
            <a:r>
              <a:rPr lang="zh-CN" altLang="en-US" sz="1400" i="1" dirty="0">
                <a:solidFill>
                  <a:srgbClr val="008001"/>
                </a:solidFill>
                <a:effectLst/>
              </a:rPr>
              <a:t>    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使用更新后的参数机选输出结果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US" altLang="zh-CN" sz="1400" i="1" dirty="0">
                <a:solidFill>
                  <a:srgbClr val="808080"/>
                </a:solidFill>
                <a:effectLst/>
              </a:rPr>
              <a:t>loss</a:t>
            </a:r>
            <a:r>
              <a:rPr lang="en-GB" altLang="zh-CN" sz="1400" dirty="0"/>
              <a:t> = ((w **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2</a:t>
            </a:r>
            <a:r>
              <a:rPr lang="en-GB" altLang="zh-CN" sz="1400" dirty="0"/>
              <a:t>) /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2.0</a:t>
            </a:r>
            <a:r>
              <a:rPr lang="en-GB" altLang="zh-CN" sz="1400" dirty="0"/>
              <a:t>).sum()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optimizer.zero_grad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US" altLang="en-GB" sz="1400" dirty="0"/>
              <a:t>loss</a:t>
            </a:r>
            <a:r>
              <a:rPr lang="en-GB" altLang="zh-CN" sz="1400" dirty="0" err="1"/>
              <a:t>.backward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optimizer.step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第</a:t>
            </a:r>
            <a:r>
              <a:rPr lang="en-US" altLang="zh-CN" sz="1400" b="1" dirty="0">
                <a:solidFill>
                  <a:srgbClr val="008000"/>
                </a:solidFill>
                <a:effectLst/>
              </a:rPr>
              <a:t>2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次</a:t>
            </a:r>
            <a:r>
              <a:rPr lang="en-US" altLang="zh-CN" sz="1400" b="1" dirty="0">
                <a:solidFill>
                  <a:srgbClr val="008000"/>
                </a:solidFill>
                <a:effectLst/>
              </a:rPr>
              <a:t>: 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梯度</a:t>
            </a:r>
            <a:r>
              <a:rPr lang="en-GB" altLang="zh-CN" sz="1400" b="1" dirty="0" err="1">
                <a:solidFill>
                  <a:srgbClr val="008000"/>
                </a:solidFill>
                <a:effectLst/>
              </a:rPr>
              <a:t>w.grad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: %f, 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更新后的权重</a:t>
            </a:r>
            <a:r>
              <a:rPr lang="en-US" altLang="zh-CN" sz="1400" b="1" dirty="0">
                <a:solidFill>
                  <a:srgbClr val="008000"/>
                </a:solidFill>
                <a:effectLst/>
              </a:rPr>
              <a:t>:%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f' </a:t>
            </a:r>
            <a:r>
              <a:rPr lang="en-GB" altLang="zh-CN" sz="1400" dirty="0"/>
              <a:t>% (</a:t>
            </a:r>
            <a:r>
              <a:rPr lang="en-GB" altLang="zh-CN" sz="1400" dirty="0" err="1"/>
              <a:t>w.grad.numpy</a:t>
            </a:r>
            <a:r>
              <a:rPr lang="en-GB" altLang="zh-CN" sz="1400" dirty="0"/>
              <a:t>(), </a:t>
            </a:r>
            <a:r>
              <a:rPr lang="en-GB" altLang="zh-CN" sz="1400" dirty="0" err="1"/>
              <a:t>w.detach</a:t>
            </a:r>
            <a:r>
              <a:rPr lang="en-GB" altLang="zh-CN" sz="1400" dirty="0"/>
              <a:t>().</a:t>
            </a:r>
            <a:r>
              <a:rPr lang="en-GB" altLang="zh-CN" sz="1400" dirty="0" err="1"/>
              <a:t>numpy</a:t>
            </a:r>
            <a:r>
              <a:rPr lang="en-GB" altLang="zh-CN" sz="1400" dirty="0"/>
              <a:t>()))</a:t>
            </a:r>
            <a:br>
              <a:rPr lang="en-GB" altLang="zh-CN" sz="1400" dirty="0"/>
            </a:b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049223" y="4208845"/>
            <a:ext cx="302976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</a:rPr>
              <a:t>:</a:t>
            </a:r>
          </a:p>
          <a:p>
            <a:r>
              <a:rPr lang="zh-CN" altLang="en-US" sz="1400" dirty="0"/>
              <a:t>第</a:t>
            </a:r>
            <a:r>
              <a:rPr lang="en-US" altLang="zh-CN" sz="1400" dirty="0"/>
              <a:t>1</a:t>
            </a:r>
            <a:r>
              <a:rPr lang="zh-CN" altLang="en-US" sz="1400" dirty="0"/>
              <a:t>次</a:t>
            </a:r>
            <a:r>
              <a:rPr lang="en-US" altLang="zh-CN" sz="1400" dirty="0"/>
              <a:t>: </a:t>
            </a:r>
            <a:r>
              <a:rPr lang="zh-CN" altLang="en-US" sz="1400" dirty="0"/>
              <a:t>梯度</a:t>
            </a:r>
            <a:r>
              <a:rPr lang="en-US" altLang="zh-CN" sz="1400" dirty="0" err="1"/>
              <a:t>w.grad</a:t>
            </a:r>
            <a:r>
              <a:rPr lang="en-US" altLang="zh-CN" sz="1400" dirty="0"/>
              <a:t>: 1.0000000000, </a:t>
            </a:r>
            <a:r>
              <a:rPr lang="zh-CN" altLang="en-US" sz="1400" dirty="0"/>
              <a:t>更新后的权重</a:t>
            </a:r>
            <a:r>
              <a:rPr lang="en-US" altLang="zh-CN" sz="1400" dirty="0"/>
              <a:t>:0.9900000095</a:t>
            </a:r>
          </a:p>
          <a:p>
            <a:r>
              <a:rPr lang="zh-CN" altLang="en-US" sz="1400" dirty="0"/>
              <a:t>第</a:t>
            </a:r>
            <a:r>
              <a:rPr lang="en-US" altLang="zh-CN" sz="1400" dirty="0"/>
              <a:t>2</a:t>
            </a:r>
            <a:r>
              <a:rPr lang="zh-CN" altLang="en-US" sz="1400" dirty="0"/>
              <a:t>次</a:t>
            </a:r>
            <a:r>
              <a:rPr lang="en-US" altLang="zh-CN" sz="1400" dirty="0"/>
              <a:t>: </a:t>
            </a:r>
            <a:r>
              <a:rPr lang="zh-CN" altLang="en-US" sz="1400" dirty="0"/>
              <a:t>梯度</a:t>
            </a:r>
            <a:r>
              <a:rPr lang="en-US" altLang="zh-CN" sz="1400" dirty="0" err="1"/>
              <a:t>w.grad</a:t>
            </a:r>
            <a:r>
              <a:rPr lang="en-US" altLang="zh-CN" sz="1400" dirty="0"/>
              <a:t>: 0.9900000095, </a:t>
            </a:r>
            <a:r>
              <a:rPr lang="zh-CN" altLang="en-US" sz="1400" dirty="0"/>
              <a:t>更新后的权重</a:t>
            </a:r>
            <a:r>
              <a:rPr lang="en-US" altLang="zh-CN" sz="1400" dirty="0"/>
              <a:t>:0.9711000323</a:t>
            </a:r>
            <a:endParaRPr lang="zh-CN" altLang="en-US" sz="14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梯度下降的优化方法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-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对比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A025C4-8506-D682-C283-EB82F08EB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653" y="1538387"/>
            <a:ext cx="11814693" cy="4569488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710896" y="1173480"/>
            <a:ext cx="6176226" cy="4511040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/>
              <a:t>1.</a:t>
            </a:r>
            <a:r>
              <a:rPr kumimoji="1" lang="zh-CN" altLang="en-US" dirty="0"/>
              <a:t>梯度下降法优化的目的？</a:t>
            </a:r>
            <a:endParaRPr kumimoji="1" lang="en-US" altLang="zh-CN" dirty="0"/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梯度下降法中，可能会碰到平缓区域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鞍点、局部最小值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kumimoji="1" lang="en-US" altLang="zh-CN" dirty="0"/>
              <a:t>2.</a:t>
            </a:r>
            <a:r>
              <a:rPr kumimoji="1" lang="zh-CN" altLang="en-US" dirty="0"/>
              <a:t>梯度下降法的优化有哪些？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zh-CN" altLang="en-US" dirty="0"/>
              <a:t>动量法，</a:t>
            </a:r>
            <a:r>
              <a:rPr kumimoji="1" lang="en-US" altLang="zh-CN" dirty="0" err="1"/>
              <a:t>Adagrad</a:t>
            </a:r>
            <a:r>
              <a:rPr kumimoji="1" lang="en-US" altLang="zh-CN" dirty="0"/>
              <a:t>, </a:t>
            </a:r>
            <a:r>
              <a:rPr kumimoji="1" lang="en-US" altLang="zh-CN" dirty="0" err="1"/>
              <a:t>RMSProp</a:t>
            </a:r>
            <a:r>
              <a:rPr kumimoji="1" lang="zh-CN" altLang="en-US" dirty="0"/>
              <a:t>，</a:t>
            </a:r>
            <a:r>
              <a:rPr kumimoji="1" lang="en-US" altLang="zh-CN" dirty="0"/>
              <a:t>Adam/</a:t>
            </a:r>
            <a:r>
              <a:rPr kumimoji="1" lang="en-US" altLang="zh-CN" dirty="0" err="1"/>
              <a:t>AdamW</a:t>
            </a:r>
            <a:endParaRPr kumimoji="1"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3600" y="846414"/>
            <a:ext cx="10698800" cy="517190"/>
          </a:xfrm>
        </p:spPr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学习率大小对梯度下降路径的影响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CA9FFC17-4C3F-E847-E8E0-3A5249776E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594"/>
            <a:ext cx="12192000" cy="3863248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965F08-8E25-CE4E-A129-C993F5D75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0DB53285-D318-9C02-D235-DCF4328D36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600" y="846414"/>
            <a:ext cx="10698800" cy="517190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学习率衰减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/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调度方法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9" name="图片 8" descr="图表, 直方图, 箱线图&#10;&#10;AI 生成的内容可能不正确。">
            <a:extLst>
              <a:ext uri="{FF2B5EF4-FFF2-40B4-BE49-F238E27FC236}">
                <a16:creationId xmlns:a16="http://schemas.microsoft.com/office/drawing/2014/main" id="{A0796FA5-AC49-207C-6757-8C808F0D23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09000"/>
            <a:ext cx="4003902" cy="316800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0679AEA-76C3-F1C9-7713-EB4D14F80455}"/>
              </a:ext>
            </a:extLst>
          </p:cNvPr>
          <p:cNvSpPr txBox="1"/>
          <p:nvPr/>
        </p:nvSpPr>
        <p:spPr>
          <a:xfrm>
            <a:off x="913099" y="1539801"/>
            <a:ext cx="2541671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optim.lr_scheduler.StepLR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  <p:pic>
        <p:nvPicPr>
          <p:cNvPr id="13" name="图片 12" descr="图表, 直方图, 箱线图&#10;&#10;AI 生成的内容可能不正确。">
            <a:extLst>
              <a:ext uri="{FF2B5EF4-FFF2-40B4-BE49-F238E27FC236}">
                <a16:creationId xmlns:a16="http://schemas.microsoft.com/office/drawing/2014/main" id="{6D57E8EF-301E-4BAA-4C96-CCB56C200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201" y="1809000"/>
            <a:ext cx="4003902" cy="3168000"/>
          </a:xfrm>
          <a:prstGeom prst="rect">
            <a:avLst/>
          </a:prstGeom>
        </p:spPr>
      </p:pic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A0D4B675-46E0-1116-343A-6C76CAD906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4402" y="1809000"/>
            <a:ext cx="4003902" cy="3168000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B1DE5FF5-B3C9-CACE-30DC-1171FB5D3C56}"/>
              </a:ext>
            </a:extLst>
          </p:cNvPr>
          <p:cNvSpPr txBox="1"/>
          <p:nvPr/>
        </p:nvSpPr>
        <p:spPr>
          <a:xfrm>
            <a:off x="4591940" y="1537131"/>
            <a:ext cx="300812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optim.lr_scheduler.MultiStepLR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273E869-432F-407B-A20E-F2736A91620E}"/>
              </a:ext>
            </a:extLst>
          </p:cNvPr>
          <p:cNvSpPr txBox="1"/>
          <p:nvPr/>
        </p:nvSpPr>
        <p:spPr>
          <a:xfrm>
            <a:off x="8653882" y="1537131"/>
            <a:ext cx="3167480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optim.lr_scheduler.ExponentialLR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15736820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44A65-34F9-E278-1107-269F45902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883EF3B-F143-32DB-16CE-6C070A27EC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3600" y="846414"/>
            <a:ext cx="10698800" cy="517190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学习率衰减方法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—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周期重启的余弦退火策略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74949CD-ABF4-C9EB-5B8F-71C678E19BDA}"/>
              </a:ext>
            </a:extLst>
          </p:cNvPr>
          <p:cNvSpPr txBox="1"/>
          <p:nvPr/>
        </p:nvSpPr>
        <p:spPr>
          <a:xfrm>
            <a:off x="3803906" y="2393066"/>
            <a:ext cx="4384928" cy="27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optim.lr_scheduler.CosineAnnealingWarmRestarts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()</a:t>
            </a:r>
          </a:p>
        </p:txBody>
      </p:sp>
      <p:pic>
        <p:nvPicPr>
          <p:cNvPr id="4" name="图片 3" descr="图表, 直方图&#10;&#10;AI 生成的内容可能不正确。">
            <a:extLst>
              <a:ext uri="{FF2B5EF4-FFF2-40B4-BE49-F238E27FC236}">
                <a16:creationId xmlns:a16="http://schemas.microsoft.com/office/drawing/2014/main" id="{535526E7-962E-51BC-CEBB-5BFBC847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55" y="2757609"/>
            <a:ext cx="4549889" cy="3600000"/>
          </a:xfrm>
          <a:prstGeom prst="rect">
            <a:avLst/>
          </a:prstGeom>
        </p:spPr>
      </p:pic>
      <p:pic>
        <p:nvPicPr>
          <p:cNvPr id="6" name="图片 5" descr="图片包含 文本&#10;&#10;AI 生成的内容可能不正确。">
            <a:extLst>
              <a:ext uri="{FF2B5EF4-FFF2-40B4-BE49-F238E27FC236}">
                <a16:creationId xmlns:a16="http://schemas.microsoft.com/office/drawing/2014/main" id="{C5ACF39A-AD06-59A1-FC9E-223794AD9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5894" y="1330077"/>
            <a:ext cx="5626389" cy="92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3922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 anchor="t"/>
          <a:lstStyle/>
          <a:p>
            <a:pPr marL="0" indent="0" algn="l">
              <a:buNone/>
            </a:pPr>
            <a:r>
              <a:rPr lang="en-US" altLang="zh-CN" dirty="0">
                <a:latin typeface="Roboto" panose="02000000000000000000" pitchFamily="2" charset="0"/>
              </a:rPr>
              <a:t>1.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学习率调整的策略有哪些？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09DAE79-986D-8264-E39E-ED8E84200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548" y="2302902"/>
            <a:ext cx="11724904" cy="3020805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1826580"/>
            <a:ext cx="5973445" cy="3204839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神经网络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损失函数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网络优化方法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正则化方法</a:t>
            </a:r>
          </a:p>
          <a:p>
            <a:pPr algn="l"/>
            <a:r>
              <a:rPr kumimoji="1" lang="zh-CN" altLang="en-US" sz="1600" dirty="0">
                <a:sym typeface="+mn-ea"/>
              </a:rPr>
              <a:t>案例</a:t>
            </a:r>
            <a:r>
              <a:rPr kumimoji="1" lang="en-US" altLang="zh-CN" sz="1600" dirty="0">
                <a:sym typeface="+mn-ea"/>
              </a:rPr>
              <a:t>-</a:t>
            </a:r>
            <a:r>
              <a:rPr kumimoji="1" lang="zh-CN" altLang="en-US" sz="1600" dirty="0">
                <a:sym typeface="+mn-ea"/>
              </a:rPr>
              <a:t>价格分类案例</a:t>
            </a:r>
            <a:endParaRPr kumimoji="1" lang="en-US" altLang="zh-CN" sz="1600" dirty="0"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43009" y="38919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01883" y="1575237"/>
            <a:ext cx="6298565" cy="2792576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知道正则化的作用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掌握随机失活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Helvetica Neue"/>
              </a:rPr>
              <a:t>DropOut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策略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知道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BN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层的作用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正则化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正则化：提升模型泛化能力、缓解过拟合的方法。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神经网络表示能力强易过拟合，常用正则化方法包括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L1/L2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正则化、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Dropout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以及特殊网络层。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7279" y="1457271"/>
            <a:ext cx="7485957" cy="2352729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Dropout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正则化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占位符 2"/>
              <p:cNvSpPr>
                <a:spLocks noGrp="1"/>
              </p:cNvSpPr>
              <p:nvPr>
                <p:ph type="body" sz="quarter" idx="11"/>
              </p:nvPr>
            </p:nvSpPr>
            <p:spPr>
              <a:xfrm>
                <a:off x="746600" y="1457271"/>
                <a:ext cx="10698800" cy="5400729"/>
              </a:xfrm>
            </p:spPr>
            <p:txBody>
              <a:bodyPr/>
              <a:lstStyle/>
              <a:p>
                <a:r>
                  <a:rPr lang="zh-CN" altLang="en-US" dirty="0"/>
                  <a:t>在参数规模较大的神经网络中，数据不足时容易发生过拟合。</a:t>
                </a:r>
                <a:r>
                  <a:rPr lang="en-US" altLang="zh-CN" b="1" dirty="0"/>
                  <a:t>Dropout</a:t>
                </a:r>
                <a:r>
                  <a:rPr lang="zh-CN" altLang="en-US" b="1" dirty="0"/>
                  <a:t>（随机失活）</a:t>
                </a:r>
                <a:r>
                  <a:rPr lang="zh-CN" altLang="en-US" dirty="0"/>
                  <a:t> 是一种简单有效的正则化方法。</a:t>
                </a:r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pPr algn="l"/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pPr algn="l"/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pPr algn="l"/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pPr algn="l"/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pPr algn="l"/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pPr algn="l"/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在训练阶段，</a:t>
                </a:r>
                <a:r>
                  <a:rPr lang="en-US" altLang="zh-CN" dirty="0"/>
                  <a:t>Dropout </a:t>
                </a:r>
                <a:r>
                  <a:rPr lang="zh-CN" altLang="en-US" dirty="0"/>
                  <a:t>以概率 </a:t>
                </a:r>
                <a:r>
                  <a:rPr lang="en-US" altLang="zh-CN" i="1" dirty="0"/>
                  <a:t>p</a:t>
                </a:r>
                <a:r>
                  <a:rPr lang="zh-CN" altLang="en-US" dirty="0"/>
                  <a:t> 随机将部分神经元的输出置为 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，并对保留的神经元进行 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</a:rPr>
                      <m:t>1/</m:t>
                    </m:r>
                    <m:d>
                      <m:dPr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zh-CN" altLang="en-U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zh-CN" altLang="en-US" dirty="0"/>
                  <a:t>缩放，相当于在训练不同的子网络；</a:t>
                </a:r>
                <a:endParaRPr lang="en-US" altLang="zh-CN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在测试阶段，</a:t>
                </a:r>
                <a:r>
                  <a:rPr lang="en-US" altLang="zh-CN" dirty="0"/>
                  <a:t>Dropout </a:t>
                </a:r>
                <a:r>
                  <a:rPr lang="zh-CN" altLang="en-US" dirty="0"/>
                  <a:t>关闭，使用完整网络进行预测。</a:t>
                </a:r>
                <a:endParaRPr lang="zh-CN" altLang="en-US" b="0" i="0" dirty="0">
                  <a:solidFill>
                    <a:srgbClr val="333333"/>
                  </a:solidFill>
                  <a:effectLst/>
                  <a:latin typeface="Helvetica Neue"/>
                </a:endParaRPr>
              </a:p>
              <a:p>
                <a:pPr algn="l"/>
                <a:endParaRPr lang="en-US" altLang="zh-CN" dirty="0">
                  <a:solidFill>
                    <a:srgbClr val="333333"/>
                  </a:solidFill>
                  <a:latin typeface="Helvetica Neue"/>
                </a:endParaRPr>
              </a:p>
              <a:p>
                <a:endParaRPr lang="en-US" altLang="zh-CN" b="1" i="0" dirty="0">
                  <a:solidFill>
                    <a:srgbClr val="333333"/>
                  </a:solidFill>
                  <a:effectLst/>
                  <a:latin typeface="Helvetica Neue"/>
                </a:endParaRPr>
              </a:p>
              <a:p>
                <a:endParaRPr lang="en-US" altLang="zh-CN" b="1" dirty="0">
                  <a:solidFill>
                    <a:srgbClr val="333333"/>
                  </a:solidFill>
                  <a:latin typeface="Helvetica Neue"/>
                </a:endParaRPr>
              </a:p>
              <a:p>
                <a:endParaRPr lang="en-US" altLang="zh-CN" b="1" i="0" dirty="0">
                  <a:solidFill>
                    <a:srgbClr val="333333"/>
                  </a:solidFill>
                  <a:effectLst/>
                  <a:latin typeface="Helvetica Neue"/>
                </a:endParaRPr>
              </a:p>
              <a:p>
                <a:endParaRPr lang="en-US" altLang="zh-CN" b="1" dirty="0">
                  <a:solidFill>
                    <a:srgbClr val="333333"/>
                  </a:solidFill>
                  <a:latin typeface="Helvetica Neue"/>
                </a:endParaRPr>
              </a:p>
              <a:p>
                <a:endParaRPr lang="en-US" altLang="zh-CN" b="1" i="0" dirty="0">
                  <a:solidFill>
                    <a:srgbClr val="333333"/>
                  </a:solidFill>
                  <a:effectLst/>
                  <a:latin typeface="Helvetica Neue"/>
                </a:endParaRPr>
              </a:p>
            </p:txBody>
          </p:sp>
        </mc:Choice>
        <mc:Fallback xmlns="">
          <p:sp>
            <p:nvSpPr>
              <p:cNvPr id="3" name="文本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xfrm>
                <a:off x="746600" y="1457271"/>
                <a:ext cx="10698800" cy="5400729"/>
              </a:xfrm>
              <a:blipFill>
                <a:blip r:embed="rId2"/>
                <a:stretch>
                  <a:fillRect l="-2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500" y="2023850"/>
            <a:ext cx="6035563" cy="2133785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Dropout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正则化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46600" y="1442031"/>
            <a:ext cx="6346868" cy="46158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torch.nn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as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def test():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初始化随机失活层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dropout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nn.Dropout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(p=0.4)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   # 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初始化输入数据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: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表示某一层的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weight</a:t>
            </a:r>
            <a:r>
              <a:rPr lang="zh-CN" altLang="en-US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信息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inputs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torch.randint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(0, 10, size=[1, 4]).float()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layer = </a:t>
            </a:r>
            <a:r>
              <a:rPr lang="en-US" altLang="zh-CN" sz="1400" b="1" dirty="0" err="1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nn.Linear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(4,5)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 = layer(inputs)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 = torch.relu(y)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print("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未失活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FC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层的输出结果：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\n", 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y =  dropout(y)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    print("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失活后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FC</a:t>
            </a:r>
            <a:r>
              <a:rPr lang="zh-CN" altLang="en-US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层的输出结果：</a:t>
            </a: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\n", y)</a:t>
            </a:r>
            <a:endParaRPr lang="en-US" altLang="zh-CN" sz="1400" dirty="0">
              <a:solidFill>
                <a:srgbClr val="00B050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93468" y="3865360"/>
            <a:ext cx="5098532" cy="181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</a:rPr>
              <a:t>:</a:t>
            </a:r>
          </a:p>
          <a:p>
            <a:r>
              <a:rPr lang="zh-CN" altLang="en-US" sz="1400" dirty="0"/>
              <a:t>未失活</a:t>
            </a:r>
            <a:r>
              <a:rPr lang="en-US" altLang="zh-CN" sz="1400" dirty="0"/>
              <a:t>FC</a:t>
            </a:r>
            <a:r>
              <a:rPr lang="zh-CN" altLang="en-US" sz="1400" dirty="0"/>
              <a:t>层的输出结果：</a:t>
            </a:r>
          </a:p>
          <a:p>
            <a:r>
              <a:rPr lang="en-US" altLang="zh-CN" sz="1400" dirty="0"/>
              <a:t> tensor([[0.0000, 1.8033, 1.4608, 4.5189, 6.9116]], grad_fn=&lt;ReluBackward0&gt;)</a:t>
            </a:r>
          </a:p>
          <a:p>
            <a:endParaRPr lang="en-US" altLang="zh-CN" sz="1400" dirty="0"/>
          </a:p>
          <a:p>
            <a:r>
              <a:rPr lang="zh-CN" altLang="en-US" sz="1400" dirty="0"/>
              <a:t>失活后</a:t>
            </a:r>
            <a:r>
              <a:rPr lang="en-US" altLang="zh-CN" sz="1400" dirty="0"/>
              <a:t>FC</a:t>
            </a:r>
            <a:r>
              <a:rPr lang="zh-CN" altLang="en-US" sz="1400" dirty="0"/>
              <a:t>层的输出结果：</a:t>
            </a:r>
          </a:p>
          <a:p>
            <a:r>
              <a:rPr lang="en-US" altLang="zh-CN" sz="1400" dirty="0"/>
              <a:t> tensor([[ 0.0000,  3.0055,  2.4346,  7.5315, 11.5193]], grad_fn=&lt;MulBackward0&gt;)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批量归一化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 dirty="0"/>
              <a:t>Batch Normalization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 </a:t>
            </a:r>
            <a:r>
              <a:rPr lang="en-US" altLang="zh-CN" dirty="0">
                <a:solidFill>
                  <a:srgbClr val="333333"/>
                </a:solidFill>
                <a:latin typeface="Helvetica Neue"/>
              </a:rPr>
              <a:t>— 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在计算机视觉领域使用较多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endParaRPr lang="en-US" altLang="zh-CN" b="1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先标准化，再重构（缩放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+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平移）：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λ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和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β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是可学习的参数，相当于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线性变换；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eps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通常为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1e-5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；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E(x)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表示均值；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342900" indent="-342900" algn="l">
              <a:buFont typeface="+mj-lt"/>
              <a:buAutoNum type="arabicPeriod"/>
            </a:pP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Var(x)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表示方差；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8353" y="1660815"/>
            <a:ext cx="8576229" cy="176818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5216" y="4031767"/>
            <a:ext cx="2611384" cy="666936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批量归一化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(</a:t>
            </a:r>
            <a:r>
              <a:rPr lang="en-US" altLang="zh-CN"/>
              <a:t>Batch Normalization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6600" y="1599511"/>
            <a:ext cx="6346868" cy="421576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import torch.nn as nn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Font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m = nn.BatchNorm2d(2, eps=1e-05, momentum=0.1, affine=True) </a:t>
            </a:r>
            <a:r>
              <a:rPr lang="en-US" altLang="zh-CN" sz="1400" dirty="0">
                <a:solidFill>
                  <a:srgbClr val="00B050"/>
                </a:solidFill>
                <a:latin typeface="宋体" panose="02010600030101010101" pitchFamily="2" charset="-122"/>
                <a:ea typeface="阿里巴巴普惠体" panose="00020600040101010101"/>
              </a:rPr>
              <a:t> # affine参数设为True表示weight和bias将被使用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input = torch.randn(1, 2, 3, 4)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print("input--&gt;", input)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output = m(input)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print("output--&gt;", output)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print(output.size())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print(m.weight)</a:t>
            </a:r>
          </a:p>
          <a:p>
            <a:pPr algn="l">
              <a:spcBef>
                <a:spcPts val="360"/>
              </a:spcBef>
              <a:spcAft>
                <a:spcPts val="360"/>
              </a:spcAft>
              <a:buClrTx/>
              <a:buSzTx/>
              <a:buNone/>
            </a:pPr>
            <a:r>
              <a:rPr lang="en-US" altLang="zh-CN" sz="1400" b="1" dirty="0">
                <a:solidFill>
                  <a:srgbClr val="0000FF"/>
                </a:solidFill>
                <a:latin typeface="宋体" panose="02010600030101010101" pitchFamily="2" charset="-122"/>
                <a:ea typeface="阿里巴巴普惠体" panose="00020600040101010101"/>
              </a:rPr>
              <a:t>print(m.bias)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93468" y="1599680"/>
            <a:ext cx="5098532" cy="46158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solidFill>
                  <a:srgbClr val="FF0000"/>
                </a:solidFill>
              </a:rPr>
              <a:t>输出结果</a:t>
            </a:r>
            <a:r>
              <a:rPr lang="en-US" altLang="zh-CN" sz="1400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sz="1400" dirty="0"/>
              <a:t>input--&gt; tensor([[[[-0.2751, -1.2183, -0.5106, -0.1540],</a:t>
            </a:r>
          </a:p>
          <a:p>
            <a:r>
              <a:rPr lang="en-US" altLang="zh-CN" sz="1400" dirty="0"/>
              <a:t>          [-0.4585, -0.5989, -0.6063,  0.5986],</a:t>
            </a:r>
          </a:p>
          <a:p>
            <a:r>
              <a:rPr lang="en-US" altLang="zh-CN" sz="1400" dirty="0"/>
              <a:t>          [-0.4745,  0.1496, -1.1266, -1.2377]],</a:t>
            </a:r>
          </a:p>
          <a:p>
            <a:endParaRPr lang="en-US" altLang="zh-CN" sz="1400" dirty="0"/>
          </a:p>
          <a:p>
            <a:r>
              <a:rPr lang="en-US" altLang="zh-CN" sz="1400" dirty="0"/>
              <a:t>         [[ 0.2580,  1.2065,  1.4598,  0.8387],</a:t>
            </a:r>
          </a:p>
          <a:p>
            <a:r>
              <a:rPr lang="en-US" altLang="zh-CN" sz="1400" dirty="0"/>
              <a:t>          [-0.4586,  0.8938, -0.3328,  0.1192],</a:t>
            </a:r>
          </a:p>
          <a:p>
            <a:r>
              <a:rPr lang="en-US" altLang="zh-CN" sz="1400" dirty="0"/>
              <a:t>          [-0.3265, -0.6263,  0.0419, -1.2231]]]])</a:t>
            </a:r>
          </a:p>
          <a:p>
            <a:r>
              <a:rPr lang="en-US" altLang="zh-CN" sz="1400" dirty="0"/>
              <a:t>output--&gt; tensor([[[[ 0.4164, -1.3889, -0.0343,  0.6484],</a:t>
            </a:r>
          </a:p>
          <a:p>
            <a:r>
              <a:rPr lang="en-US" altLang="zh-CN" sz="1400" dirty="0"/>
              <a:t>          [ 0.0655, -0.2032, -0.2175,  2.0889],</a:t>
            </a:r>
          </a:p>
          <a:p>
            <a:r>
              <a:rPr lang="en-US" altLang="zh-CN" sz="1400" dirty="0"/>
              <a:t>          [ 0.0349,  1.2294, -1.2134, -1.4262]],</a:t>
            </a:r>
          </a:p>
          <a:p>
            <a:endParaRPr lang="en-US" altLang="zh-CN" sz="1400" dirty="0"/>
          </a:p>
          <a:p>
            <a:r>
              <a:rPr lang="en-US" altLang="zh-CN" sz="1400" dirty="0"/>
              <a:t>         [[ 0.1340,  1.3582,  1.6853,  0.8835],</a:t>
            </a:r>
          </a:p>
          <a:p>
            <a:r>
              <a:rPr lang="en-US" altLang="zh-CN" sz="1400" dirty="0"/>
              <a:t>          [-0.7910,  0.9546, -0.6287, -0.0452],</a:t>
            </a:r>
          </a:p>
          <a:p>
            <a:r>
              <a:rPr lang="en-US" altLang="zh-CN" sz="1400" dirty="0"/>
              <a:t>          [-0.6205, -1.0075, -0.1449, -1.7779]]]],</a:t>
            </a:r>
          </a:p>
          <a:p>
            <a:r>
              <a:rPr lang="en-US" altLang="zh-CN" sz="1400" dirty="0"/>
              <a:t>       grad_fn=&lt;NativeBatchNormBackward0&gt;)</a:t>
            </a:r>
          </a:p>
          <a:p>
            <a:r>
              <a:rPr lang="en-US" altLang="zh-CN" sz="1400" dirty="0"/>
              <a:t>torch.Size([1, 2, 3, 4])</a:t>
            </a:r>
          </a:p>
          <a:p>
            <a:r>
              <a:rPr lang="en-US" altLang="zh-CN" sz="1400" dirty="0"/>
              <a:t>Parameter containing:</a:t>
            </a:r>
          </a:p>
          <a:p>
            <a:r>
              <a:rPr lang="en-US" altLang="zh-CN" sz="1400" dirty="0"/>
              <a:t>tensor([1., 1.], requires_grad=True)</a:t>
            </a:r>
          </a:p>
          <a:p>
            <a:r>
              <a:rPr lang="en-US" altLang="zh-CN" sz="1400" dirty="0"/>
              <a:t>Parameter containing:</a:t>
            </a:r>
          </a:p>
          <a:p>
            <a:r>
              <a:rPr lang="en-US" altLang="zh-CN" sz="1400" dirty="0"/>
              <a:t>tensor([0., 0.], requires_grad=True)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460760" y="842629"/>
            <a:ext cx="7731240" cy="5172741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1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、正则化的 作用 或 含义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algn="l">
              <a:buNone/>
            </a:pPr>
            <a:r>
              <a:rPr lang="zh-CN" altLang="en-US" sz="1600" b="0" i="0" dirty="0">
                <a:effectLst/>
                <a:latin typeface="Roboto" panose="02000000000000000000" pitchFamily="2" charset="0"/>
              </a:rPr>
              <a:t>缓解过拟合</a:t>
            </a:r>
          </a:p>
          <a:p>
            <a:pPr marL="0" indent="0">
              <a:buNone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2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、随机失活</a:t>
            </a:r>
            <a:r>
              <a:rPr lang="en-US" altLang="zh-CN" sz="1600" b="0" i="0" dirty="0" err="1">
                <a:solidFill>
                  <a:srgbClr val="333333"/>
                </a:solidFill>
                <a:effectLst/>
                <a:latin typeface="Helvetica Neue"/>
              </a:rPr>
              <a:t>DropOut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策略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>
              <a:buNone/>
            </a:pPr>
            <a:r>
              <a:rPr lang="zh-CN" altLang="en-US" sz="1600" b="0" i="0" dirty="0">
                <a:effectLst/>
                <a:latin typeface="Roboto" panose="02000000000000000000" pitchFamily="2" charset="0"/>
              </a:rPr>
              <a:t>让神经元以超参数</a:t>
            </a:r>
            <a:r>
              <a:rPr lang="en-GB" altLang="zh-CN" sz="1600" b="0" i="0" dirty="0">
                <a:effectLst/>
                <a:latin typeface="Roboto" panose="02000000000000000000" pitchFamily="2" charset="0"/>
              </a:rPr>
              <a:t>p</a:t>
            </a:r>
            <a:r>
              <a:rPr lang="zh-CN" altLang="en-US" sz="1600" b="0" i="0" dirty="0">
                <a:effectLst/>
                <a:latin typeface="Roboto" panose="02000000000000000000" pitchFamily="2" charset="0"/>
              </a:rPr>
              <a:t>的概率停止工作 </a:t>
            </a:r>
            <a:r>
              <a:rPr lang="en-US" altLang="zh-CN" sz="1600" dirty="0">
                <a:latin typeface="Roboto" panose="02000000000000000000" pitchFamily="2" charset="0"/>
              </a:rPr>
              <a:t>- </a:t>
            </a:r>
            <a:r>
              <a:rPr lang="zh-CN" altLang="en-US" sz="1600" b="0" i="0" dirty="0">
                <a:effectLst/>
                <a:latin typeface="Roboto" panose="02000000000000000000" pitchFamily="2" charset="0"/>
              </a:rPr>
              <a:t>激活被置为</a:t>
            </a:r>
            <a:r>
              <a:rPr lang="en-US" altLang="zh-CN" sz="1600" b="0" i="0" dirty="0">
                <a:effectLst/>
                <a:latin typeface="Roboto" panose="02000000000000000000" pitchFamily="2" charset="0"/>
              </a:rPr>
              <a:t>0</a:t>
            </a:r>
          </a:p>
          <a:p>
            <a:pPr marL="0" indent="0">
              <a:buNone/>
            </a:pPr>
            <a:r>
              <a:rPr lang="zh-CN" altLang="en-US" sz="1600" dirty="0">
                <a:solidFill>
                  <a:srgbClr val="333333"/>
                </a:solidFill>
                <a:latin typeface="Roboto" panose="02000000000000000000" pitchFamily="2" charset="0"/>
              </a:rPr>
              <a:t>设置模型模式：</a:t>
            </a:r>
            <a:r>
              <a:rPr lang="en-US" altLang="zh-CN" sz="1600" dirty="0" err="1">
                <a:solidFill>
                  <a:srgbClr val="333333"/>
                </a:solidFill>
                <a:latin typeface="Roboto" panose="02000000000000000000" pitchFamily="2" charset="0"/>
              </a:rPr>
              <a:t>model.train</a:t>
            </a:r>
            <a:r>
              <a:rPr lang="en-US" altLang="zh-CN" sz="1600" dirty="0">
                <a:solidFill>
                  <a:srgbClr val="333333"/>
                </a:solidFill>
                <a:latin typeface="Roboto" panose="02000000000000000000" pitchFamily="2" charset="0"/>
              </a:rPr>
              <a:t>(), </a:t>
            </a:r>
            <a:r>
              <a:rPr lang="en-US" altLang="zh-CN" sz="1600" dirty="0" err="1">
                <a:solidFill>
                  <a:srgbClr val="333333"/>
                </a:solidFill>
                <a:latin typeface="Roboto" panose="02000000000000000000" pitchFamily="2" charset="0"/>
              </a:rPr>
              <a:t>model.eval</a:t>
            </a:r>
            <a:r>
              <a:rPr lang="en-US" altLang="zh-CN" sz="1600" dirty="0">
                <a:solidFill>
                  <a:srgbClr val="333333"/>
                </a:solidFill>
                <a:latin typeface="Roboto" panose="02000000000000000000" pitchFamily="2" charset="0"/>
              </a:rPr>
              <a:t>()</a:t>
            </a:r>
            <a:endParaRPr lang="en-US" altLang="zh-CN" sz="1600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marL="0" indent="0">
              <a:buNone/>
            </a:pPr>
            <a:r>
              <a:rPr lang="en-US" altLang="zh-CN" sz="1600" b="0" i="0" dirty="0">
                <a:solidFill>
                  <a:srgbClr val="333333"/>
                </a:solidFill>
                <a:effectLst/>
                <a:latin typeface="Helvetica Neue"/>
              </a:rPr>
              <a:t>3</a:t>
            </a:r>
            <a:r>
              <a:rPr lang="zh-CN" altLang="en-US" sz="1600" b="0" i="0" dirty="0">
                <a:solidFill>
                  <a:srgbClr val="333333"/>
                </a:solidFill>
                <a:effectLst/>
                <a:latin typeface="Helvetica Neue"/>
              </a:rPr>
              <a:t>、</a:t>
            </a:r>
            <a:r>
              <a:rPr lang="en-US" altLang="zh-CN" sz="1600" dirty="0">
                <a:solidFill>
                  <a:srgbClr val="333333"/>
                </a:solidFill>
                <a:latin typeface="Helvetica Neue"/>
              </a:rPr>
              <a:t>BN</a:t>
            </a:r>
            <a:r>
              <a:rPr lang="zh-CN" altLang="en-US" sz="1600" dirty="0">
                <a:solidFill>
                  <a:srgbClr val="333333"/>
                </a:solidFill>
                <a:latin typeface="Helvetica Neue"/>
              </a:rPr>
              <a:t>层是什么？</a:t>
            </a:r>
            <a:endParaRPr lang="en-US" altLang="zh-CN" sz="1600" dirty="0">
              <a:solidFill>
                <a:srgbClr val="333333"/>
              </a:solidFill>
              <a:latin typeface="Helvetica Neue"/>
            </a:endParaRPr>
          </a:p>
          <a:p>
            <a:pPr marL="0" algn="l">
              <a:buNone/>
            </a:pPr>
            <a:r>
              <a:rPr lang="zh-CN" altLang="en-US" sz="1600" b="0" i="0" dirty="0">
                <a:effectLst/>
                <a:latin typeface="Roboto" panose="02000000000000000000" pitchFamily="2" charset="0"/>
              </a:rPr>
              <a:t>对数据标准化，再对数据重构（缩放+</a:t>
            </a:r>
            <a:r>
              <a:rPr lang="zh-CN" altLang="en-US" sz="1600" dirty="0">
                <a:effectLst/>
                <a:latin typeface="Roboto" panose="02000000000000000000" pitchFamily="2" charset="0"/>
              </a:rPr>
              <a:t>平移</a:t>
            </a:r>
            <a:r>
              <a:rPr lang="en-US" altLang="zh-CN" sz="1600" dirty="0">
                <a:effectLst/>
                <a:latin typeface="Roboto" panose="02000000000000000000" pitchFamily="2" charset="0"/>
              </a:rPr>
              <a:t>,</a:t>
            </a:r>
            <a:r>
              <a:rPr lang="zh-CN" altLang="en-US" sz="1600" dirty="0">
                <a:effectLst/>
                <a:latin typeface="Roboto" panose="02000000000000000000" pitchFamily="2" charset="0"/>
              </a:rPr>
              <a:t>系数可学习）</a:t>
            </a:r>
            <a:endParaRPr lang="zh-CN" altLang="en-US" sz="1600" b="0" i="0" dirty="0">
              <a:effectLst/>
              <a:latin typeface="Roboto" panose="02000000000000000000" pitchFamily="2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081819" y="1826580"/>
            <a:ext cx="5973445" cy="3204839"/>
          </a:xfrm>
        </p:spPr>
        <p:txBody>
          <a:bodyPr/>
          <a:lstStyle/>
          <a:p>
            <a:pPr algn="l"/>
            <a:r>
              <a:rPr kumimoji="1" lang="zh-CN" altLang="en-US" sz="1600" dirty="0">
                <a:solidFill>
                  <a:schemeClr val="tx1"/>
                </a:solidFill>
                <a:sym typeface="+mn-ea"/>
              </a:rPr>
              <a:t>神经网络</a:t>
            </a:r>
            <a:endParaRPr kumimoji="1" lang="en-US" altLang="zh-CN" sz="1600" dirty="0">
              <a:solidFill>
                <a:schemeClr val="tx1"/>
              </a:solidFill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损失函数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网络优化方法</a:t>
            </a:r>
            <a:endParaRPr kumimoji="1" lang="en-US" altLang="zh-CN" sz="1600" dirty="0">
              <a:sym typeface="+mn-ea"/>
            </a:endParaRPr>
          </a:p>
          <a:p>
            <a:pPr algn="l"/>
            <a:r>
              <a:rPr kumimoji="1" lang="zh-CN" altLang="en-US" sz="1600" dirty="0">
                <a:sym typeface="+mn-ea"/>
              </a:rPr>
              <a:t>正则化方法</a:t>
            </a:r>
          </a:p>
          <a:p>
            <a:pPr algn="l"/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案例</a:t>
            </a:r>
            <a:r>
              <a:rPr kumimoji="1" lang="en-US" altLang="zh-CN" sz="1600" dirty="0">
                <a:solidFill>
                  <a:srgbClr val="C00000"/>
                </a:solidFill>
                <a:sym typeface="+mn-ea"/>
              </a:rPr>
              <a:t>-</a:t>
            </a:r>
            <a:r>
              <a:rPr kumimoji="1" lang="zh-CN" altLang="en-US" sz="1600" dirty="0">
                <a:solidFill>
                  <a:srgbClr val="C00000"/>
                </a:solidFill>
                <a:sym typeface="+mn-ea"/>
              </a:rPr>
              <a:t>价格分类案例</a:t>
            </a:r>
            <a:endParaRPr kumimoji="1" lang="en-US" altLang="zh-CN" sz="1600" dirty="0">
              <a:solidFill>
                <a:srgbClr val="C00000"/>
              </a:solidFill>
              <a:sym typeface="+mn-ea"/>
            </a:endParaRPr>
          </a:p>
        </p:txBody>
      </p:sp>
      <p:pic>
        <p:nvPicPr>
          <p:cNvPr id="4" name="图片 3" descr="303b32313537333932333bbcfdcdb7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1274" y="4425315"/>
            <a:ext cx="410210" cy="41021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01883" y="1575237"/>
            <a:ext cx="6298565" cy="2792576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动手实现整个过程</a:t>
            </a:r>
            <a:br>
              <a:rPr lang="zh-CN" altLang="en-US" dirty="0"/>
            </a:b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需求分析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小明创办了一家手机公司，他不知道如何估算手机的价格。为了解决这个问题，他收集了多家公司的手机销售数据。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该数据为二手手机的各个性能，</a:t>
            </a:r>
            <a:r>
              <a:rPr lang="zh-CN" altLang="en-US" dirty="0">
                <a:latin typeface="Roboto" panose="02000000000000000000" pitchFamily="2" charset="0"/>
              </a:rPr>
              <a:t>把手机价格从低到高划分为</a:t>
            </a:r>
            <a:r>
              <a:rPr lang="en-US" altLang="zh-CN" b="0" i="0" dirty="0">
                <a:effectLst/>
                <a:latin typeface="Roboto" panose="02000000000000000000" pitchFamily="2" charset="0"/>
              </a:rPr>
              <a:t>4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个价格区间。特征和标签</a:t>
            </a:r>
            <a:r>
              <a:rPr lang="zh-CN" altLang="en-US" dirty="0">
                <a:latin typeface="Roboto" panose="02000000000000000000" pitchFamily="2" charset="0"/>
              </a:rPr>
              <a:t>如下</a:t>
            </a:r>
            <a:r>
              <a:rPr lang="zh-CN" altLang="en-US" b="0" i="0" dirty="0">
                <a:effectLst/>
                <a:latin typeface="Roboto" panose="02000000000000000000" pitchFamily="2" charset="0"/>
              </a:rPr>
              <a:t>：</a:t>
            </a:r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307" y="2242106"/>
            <a:ext cx="5035550" cy="4546446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需求分析</a:t>
            </a:r>
            <a:endParaRPr lang="en-US" altLang="zh-CN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实现根据手机的性能参数，预测手机的价格区间。这里构建一个全连接的网络。</a:t>
            </a:r>
          </a:p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需要注意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在这个问题中，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不需要预测实际价格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，而是预测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一个价格区间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 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0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、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来表示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，所以该问题是一个</a:t>
            </a:r>
            <a:r>
              <a:rPr lang="zh-CN" altLang="en-US" b="1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多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分类问题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。</a:t>
            </a:r>
            <a:r>
              <a:rPr lang="zh-CN" altLang="en-US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接下来我们按照工作流来完成这个任务：</a:t>
            </a:r>
          </a:p>
          <a:p>
            <a:pPr algn="l"/>
            <a:endParaRPr lang="zh-CN" altLang="en-US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pic>
        <p:nvPicPr>
          <p:cNvPr id="5" name="图片 4" descr="手机屏幕截图&#10;&#10;AI 生成的内容可能不正确。">
            <a:extLst>
              <a:ext uri="{FF2B5EF4-FFF2-40B4-BE49-F238E27FC236}">
                <a16:creationId xmlns:a16="http://schemas.microsoft.com/office/drawing/2014/main" id="{5789997E-3F3C-B11A-49ED-AB7A9ECF21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916" y="1457271"/>
            <a:ext cx="7315332" cy="518416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导入所需的工具包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29200" y="1866585"/>
            <a:ext cx="5600268" cy="3711657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US" altLang="zh-CN" sz="1400" dirty="0">
                <a:solidFill>
                  <a:srgbClr val="00B05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# </a:t>
            </a:r>
            <a:r>
              <a:rPr lang="zh-CN" altLang="en-US" sz="1400" dirty="0">
                <a:solidFill>
                  <a:srgbClr val="00B050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导入相关模块</a:t>
            </a:r>
            <a:endParaRPr lang="en-US" altLang="zh-CN" sz="1400" dirty="0">
              <a:solidFill>
                <a:srgbClr val="00B050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torch.utils.data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TensorDataset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torch.utils.data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DataLoader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torch.nn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nn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torch.optim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optim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from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sklearn.model_selection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train_test_split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matplotlib.pyplot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plt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numpy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np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pandas </a:t>
            </a: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as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pd</a:t>
            </a:r>
            <a:b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import </a:t>
            </a:r>
            <a:r>
              <a:rPr lang="en-GB" altLang="zh-CN" sz="1400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time</a:t>
            </a:r>
            <a:endParaRPr lang="en-US" altLang="zh-CN" sz="1400" b="1" dirty="0">
              <a:solidFill>
                <a:srgbClr val="0000FF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构建数据集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88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数据共有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2000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其中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1600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条数据作为训练集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400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条数据用作测试集。 我们使用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sklearn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的数据集划分工作来完成。并使用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PyTorch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的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TensorDataset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来将数据集构建为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Dataset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对象，方便构造数据集加载对象。</a:t>
            </a:r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29864" y="2376476"/>
            <a:ext cx="7132271" cy="3642023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构建数据集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400" dirty="0" err="1"/>
              <a:t>create_dataset</a:t>
            </a:r>
            <a:r>
              <a:rPr lang="en-GB" altLang="zh-CN" sz="1400" dirty="0"/>
              <a:t>():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使用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pandas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读取数据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data = </a:t>
            </a:r>
            <a:r>
              <a:rPr lang="en-GB" altLang="zh-CN" sz="1400" dirty="0" err="1"/>
              <a:t>pd.read_csv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'data/</a:t>
            </a:r>
            <a:r>
              <a:rPr lang="zh-CN" altLang="en-US" sz="1400" b="1" dirty="0">
                <a:solidFill>
                  <a:srgbClr val="008000"/>
                </a:solidFill>
                <a:effectLst/>
              </a:rPr>
              <a:t>手机价格预测</a:t>
            </a:r>
            <a:r>
              <a:rPr lang="en-US" altLang="zh-CN" sz="1400" b="1" dirty="0">
                <a:solidFill>
                  <a:srgbClr val="008000"/>
                </a:solidFill>
                <a:effectLst/>
              </a:rPr>
              <a:t>.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csv'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特征值和目标值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x, y = </a:t>
            </a:r>
            <a:r>
              <a:rPr lang="en-GB" altLang="zh-CN" sz="1400" dirty="0" err="1"/>
              <a:t>data.iloc</a:t>
            </a:r>
            <a:r>
              <a:rPr lang="en-GB" altLang="zh-CN" sz="1400" dirty="0"/>
              <a:t>[:, :-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400" dirty="0"/>
              <a:t>], </a:t>
            </a:r>
            <a:r>
              <a:rPr lang="en-GB" altLang="zh-CN" sz="1400" dirty="0" err="1"/>
              <a:t>data.iloc</a:t>
            </a:r>
            <a:r>
              <a:rPr lang="en-GB" altLang="zh-CN" sz="1400" dirty="0"/>
              <a:t>[:, -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400" dirty="0"/>
              <a:t>]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类型转换：特征值，目标值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x = </a:t>
            </a:r>
            <a:r>
              <a:rPr lang="en-GB" altLang="zh-CN" sz="1400" dirty="0" err="1"/>
              <a:t>x.astype</a:t>
            </a:r>
            <a:r>
              <a:rPr lang="en-GB" altLang="zh-CN" sz="1400" dirty="0"/>
              <a:t>(np.float32)</a:t>
            </a:r>
            <a:br>
              <a:rPr lang="en-GB" altLang="zh-CN" sz="1400" dirty="0"/>
            </a:br>
            <a:r>
              <a:rPr lang="en-GB" altLang="zh-CN" sz="1400" dirty="0"/>
              <a:t>    y = </a:t>
            </a:r>
            <a:r>
              <a:rPr lang="en-GB" altLang="zh-CN" sz="1400" dirty="0" err="1"/>
              <a:t>y.astype</a:t>
            </a:r>
            <a:r>
              <a:rPr lang="en-GB" altLang="zh-CN" sz="1400" dirty="0"/>
              <a:t>(np.int64)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数据集划分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x_train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x_valid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y_train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y_valid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train_test_split</a:t>
            </a:r>
            <a:r>
              <a:rPr lang="en-GB" altLang="zh-CN" sz="1400" dirty="0"/>
              <a:t>(x, y,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train_size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0.8</a:t>
            </a:r>
            <a:r>
              <a:rPr lang="en-GB" altLang="zh-CN" sz="1400" dirty="0"/>
              <a:t>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random_state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88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构建数据集</a:t>
            </a:r>
            <a:r>
              <a:rPr lang="en-US" altLang="zh-CN" sz="1400" i="1" dirty="0">
                <a:solidFill>
                  <a:srgbClr val="008001"/>
                </a:solidFill>
                <a:effectLst/>
              </a:rPr>
              <a:t>,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转换为</a:t>
            </a:r>
            <a:r>
              <a:rPr lang="en-GB" altLang="zh-CN" sz="1400" i="1" dirty="0" err="1">
                <a:solidFill>
                  <a:srgbClr val="008001"/>
                </a:solidFill>
                <a:effectLst/>
              </a:rPr>
              <a:t>pytorch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的形式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train_dataset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TensorDataset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torch.tensor</a:t>
            </a:r>
            <a:r>
              <a:rPr lang="en-GB" altLang="zh-CN" sz="1400" dirty="0"/>
              <a:t>(</a:t>
            </a:r>
            <a:r>
              <a:rPr lang="en-GB" altLang="zh-CN" sz="1400" dirty="0" err="1"/>
              <a:t>x_train.values</a:t>
            </a:r>
            <a:r>
              <a:rPr lang="en-GB" altLang="zh-CN" sz="1400" dirty="0"/>
              <a:t>), </a:t>
            </a:r>
            <a:r>
              <a:rPr lang="en-GB" altLang="zh-CN" sz="1400" dirty="0" err="1"/>
              <a:t>torch.tensor</a:t>
            </a:r>
            <a:r>
              <a:rPr lang="en-GB" altLang="zh-CN" sz="1400" dirty="0"/>
              <a:t>(</a:t>
            </a:r>
            <a:r>
              <a:rPr lang="en-GB" altLang="zh-CN" sz="1400" dirty="0" err="1"/>
              <a:t>y_train.values</a:t>
            </a:r>
            <a:r>
              <a:rPr lang="en-GB" altLang="zh-CN" sz="1400" dirty="0"/>
              <a:t>))</a:t>
            </a:r>
          </a:p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dirty="0"/>
              <a:t>    </a:t>
            </a:r>
            <a:r>
              <a:rPr lang="en-GB" altLang="zh-CN" sz="1400" dirty="0" err="1"/>
              <a:t>test_dataset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TensorDataset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torch.tensor</a:t>
            </a:r>
            <a:r>
              <a:rPr lang="en-GB" altLang="zh-CN" sz="1400" dirty="0"/>
              <a:t>(</a:t>
            </a:r>
            <a:r>
              <a:rPr lang="en-GB" altLang="zh-CN" sz="1400" dirty="0" err="1"/>
              <a:t>x_test.values</a:t>
            </a:r>
            <a:r>
              <a:rPr lang="en-GB" altLang="zh-CN" sz="1400" dirty="0"/>
              <a:t>), </a:t>
            </a:r>
            <a:r>
              <a:rPr lang="en-GB" altLang="zh-CN" sz="1400" dirty="0" err="1"/>
              <a:t>torch.tensor</a:t>
            </a:r>
            <a:r>
              <a:rPr lang="en-GB" altLang="zh-CN" sz="1400" dirty="0"/>
              <a:t>(</a:t>
            </a:r>
            <a:r>
              <a:rPr lang="en-GB" altLang="zh-CN" sz="1400" dirty="0" err="1"/>
              <a:t>y_test.values</a:t>
            </a:r>
            <a:r>
              <a:rPr lang="en-GB" altLang="zh-CN" sz="1400" dirty="0"/>
              <a:t>))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返回结果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return </a:t>
            </a:r>
            <a:r>
              <a:rPr lang="en-GB" altLang="zh-CN" sz="1400" dirty="0" err="1"/>
              <a:t>train_dataset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valid_dataset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x_train.shape</a:t>
            </a:r>
            <a:r>
              <a:rPr lang="en-GB" altLang="zh-CN" sz="1400" dirty="0"/>
              <a:t>[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400" dirty="0"/>
              <a:t>], </a:t>
            </a:r>
            <a:r>
              <a:rPr lang="en-GB" altLang="zh-CN" sz="1400" dirty="0" err="1">
                <a:solidFill>
                  <a:srgbClr val="000080"/>
                </a:solidFill>
                <a:effectLst/>
              </a:rPr>
              <a:t>len</a:t>
            </a:r>
            <a:r>
              <a:rPr lang="en-GB" altLang="zh-CN" sz="1400" dirty="0"/>
              <a:t>(</a:t>
            </a:r>
            <a:r>
              <a:rPr lang="en-GB" altLang="zh-CN" sz="1400" dirty="0" err="1"/>
              <a:t>np.unique</a:t>
            </a:r>
            <a:r>
              <a:rPr lang="en-GB" altLang="zh-CN" sz="1400" dirty="0"/>
              <a:t>(y))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获取数据的结果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输出结果为：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输入特征数： </a:t>
            </a:r>
            <a:r>
              <a:rPr lang="en-US" altLang="zh-CN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</a:t>
            </a:r>
            <a:r>
              <a:rPr lang="zh-CN" altLang="en-US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 </a:t>
            </a:r>
            <a:endParaRPr lang="en-US" altLang="zh-CN" b="0" i="0" dirty="0">
              <a:solidFill>
                <a:srgbClr val="36464E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r>
              <a:rPr lang="zh-CN" altLang="en-US" b="0" i="0" dirty="0">
                <a:solidFill>
                  <a:srgbClr val="36464E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分类个数： </a:t>
            </a:r>
            <a:r>
              <a:rPr lang="en-US" altLang="zh-CN" b="0" i="0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4</a:t>
            </a:r>
            <a:endParaRPr lang="en-US" altLang="zh-CN" dirty="0">
              <a:solidFill>
                <a:srgbClr val="333333"/>
              </a:solidFill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pPr algn="l"/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886467" y="1732615"/>
            <a:ext cx="7558157" cy="1896801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sz="1600" dirty="0"/>
              <a:t>__name__ == 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'__main__'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808080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808080"/>
                </a:solidFill>
                <a:effectLst/>
              </a:rPr>
              <a:t>获取数据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 err="1"/>
              <a:t>train_dataset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valid_dataset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input_dim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class_num</a:t>
            </a:r>
            <a:r>
              <a:rPr lang="en-GB" altLang="zh-CN" sz="1600" dirty="0"/>
              <a:t> = </a:t>
            </a:r>
            <a:r>
              <a:rPr lang="en-GB" altLang="zh-CN" sz="1600" dirty="0" err="1"/>
              <a:t>create_dataset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zh-CN" altLang="en-US" sz="1600" b="1" dirty="0">
                <a:solidFill>
                  <a:srgbClr val="008000"/>
                </a:solidFill>
                <a:effectLst/>
              </a:rPr>
              <a:t>输入特征数：</a:t>
            </a:r>
            <a:r>
              <a:rPr lang="en-US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en-US" altLang="zh-CN" sz="1600" dirty="0"/>
              <a:t>, </a:t>
            </a:r>
            <a:r>
              <a:rPr lang="en-GB" altLang="zh-CN" sz="1600" dirty="0" err="1"/>
              <a:t>input_dim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600" dirty="0"/>
              <a:t>(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zh-CN" altLang="en-US" sz="1600" b="1" dirty="0">
                <a:solidFill>
                  <a:srgbClr val="008000"/>
                </a:solidFill>
                <a:effectLst/>
              </a:rPr>
              <a:t>分类个数：</a:t>
            </a:r>
            <a:r>
              <a:rPr lang="en-US" altLang="zh-CN" sz="1600" b="1" dirty="0">
                <a:solidFill>
                  <a:srgbClr val="008000"/>
                </a:solidFill>
                <a:effectLst/>
              </a:rPr>
              <a:t>"</a:t>
            </a:r>
            <a:r>
              <a:rPr lang="en-US" altLang="zh-CN" sz="1600" dirty="0"/>
              <a:t>, </a:t>
            </a:r>
            <a:r>
              <a:rPr lang="en-GB" altLang="zh-CN" sz="1600" dirty="0" err="1"/>
              <a:t>class_num</a:t>
            </a:r>
            <a:r>
              <a:rPr lang="en-GB" altLang="zh-CN" sz="1600" dirty="0"/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构建分类网络模型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770036"/>
            <a:ext cx="10698800" cy="3317928"/>
          </a:xfrm>
        </p:spPr>
        <p:txBody>
          <a:bodyPr/>
          <a:lstStyle/>
          <a:p>
            <a:r>
              <a:rPr lang="zh-CN" altLang="en-US" dirty="0"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构建全连接神经网络来进行手机价格分类</a:t>
            </a:r>
            <a:endParaRPr lang="en-US" altLang="zh-CN" dirty="0"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endParaRPr lang="en-US" altLang="zh-CN" b="0" i="0" dirty="0">
              <a:solidFill>
                <a:srgbClr val="333333"/>
              </a:solidFill>
              <a:effectLst/>
              <a:latin typeface="Alibaba PuHuiTi" pitchFamily="18" charset="-122"/>
              <a:ea typeface="Alibaba PuHuiTi" pitchFamily="18" charset="-122"/>
              <a:cs typeface="Alibaba PuHuiTi" pitchFamily="18" charset="-122"/>
            </a:endParaRPr>
          </a:p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网络共有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3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个</a:t>
            </a:r>
            <a:r>
              <a:rPr lang="zh-CN" altLang="en-US" dirty="0">
                <a:solidFill>
                  <a:srgbClr val="333333"/>
                </a:solidFill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线性层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, 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使用</a:t>
            </a:r>
            <a:r>
              <a:rPr lang="en-GB" altLang="zh-CN" dirty="0" err="1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relu</a:t>
            </a:r>
            <a:r>
              <a:rPr lang="zh-CN" altLang="en-US" dirty="0"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激活函数，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具体信息如下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第一层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输入为维度为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20,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输出维度为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256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第二层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输入为维度为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256,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输出维度为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128</a:t>
            </a:r>
          </a:p>
          <a:p>
            <a:pPr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第三层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输入为维度为 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128,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输出维度为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libaba PuHuiTi" pitchFamily="18" charset="-122"/>
                <a:ea typeface="Alibaba PuHuiTi" pitchFamily="18" charset="-122"/>
                <a:cs typeface="Alibaba PuHuiTi" pitchFamily="18" charset="-122"/>
              </a:rPr>
              <a:t>: 4</a:t>
            </a: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BDF4F16-5A67-5DD2-67F3-E604B82BCAFB}"/>
              </a:ext>
            </a:extLst>
          </p:cNvPr>
          <p:cNvSpPr/>
          <p:nvPr/>
        </p:nvSpPr>
        <p:spPr>
          <a:xfrm>
            <a:off x="7135792" y="4312929"/>
            <a:ext cx="2691114" cy="3886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Linear(20,256)+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268CB88-8A2B-4F9B-1D3B-7B40E3E5CC0E}"/>
              </a:ext>
            </a:extLst>
          </p:cNvPr>
          <p:cNvSpPr/>
          <p:nvPr/>
        </p:nvSpPr>
        <p:spPr>
          <a:xfrm>
            <a:off x="7488820" y="4903736"/>
            <a:ext cx="1985058" cy="3886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输入数据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5D773CD-B827-12FE-BAA8-D57594E8D9C3}"/>
              </a:ext>
            </a:extLst>
          </p:cNvPr>
          <p:cNvSpPr/>
          <p:nvPr/>
        </p:nvSpPr>
        <p:spPr>
          <a:xfrm>
            <a:off x="7135792" y="3731698"/>
            <a:ext cx="2691114" cy="3886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Linear(256,128)+</a:t>
            </a:r>
            <a:r>
              <a:rPr lang="en-US" altLang="zh-C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9334F25-C11B-5491-DFDB-C029C49CD357}"/>
              </a:ext>
            </a:extLst>
          </p:cNvPr>
          <p:cNvSpPr/>
          <p:nvPr/>
        </p:nvSpPr>
        <p:spPr>
          <a:xfrm>
            <a:off x="7135792" y="3138643"/>
            <a:ext cx="2691114" cy="3886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Linear(128,4)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E18364-447C-DA9F-4DB9-41BF3A640862}"/>
              </a:ext>
            </a:extLst>
          </p:cNvPr>
          <p:cNvSpPr/>
          <p:nvPr/>
        </p:nvSpPr>
        <p:spPr>
          <a:xfrm>
            <a:off x="7488820" y="2545589"/>
            <a:ext cx="1985058" cy="388641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输出数据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0629E4C-081D-81AE-6219-5DB28D1AE6CC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8481349" y="4701570"/>
            <a:ext cx="0" cy="202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99D9EA59-EDAA-7B2E-3506-D5BD6DCD2DB0}"/>
              </a:ext>
            </a:extLst>
          </p:cNvPr>
          <p:cNvCxnSpPr>
            <a:cxnSpLocks/>
            <a:stCxn id="4" idx="0"/>
            <a:endCxn id="6" idx="2"/>
          </p:cNvCxnSpPr>
          <p:nvPr/>
        </p:nvCxnSpPr>
        <p:spPr>
          <a:xfrm flipV="1">
            <a:off x="8481349" y="4120339"/>
            <a:ext cx="0" cy="1925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F8A70A1D-F797-9F79-3FA8-990AD94183BE}"/>
              </a:ext>
            </a:extLst>
          </p:cNvPr>
          <p:cNvCxnSpPr>
            <a:cxnSpLocks/>
            <a:stCxn id="6" idx="0"/>
            <a:endCxn id="7" idx="2"/>
          </p:cNvCxnSpPr>
          <p:nvPr/>
        </p:nvCxnSpPr>
        <p:spPr>
          <a:xfrm flipV="1">
            <a:off x="8481349" y="3527284"/>
            <a:ext cx="0" cy="204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AC2E50A-9E02-096A-E0D2-50C3EC6E0BC1}"/>
              </a:ext>
            </a:extLst>
          </p:cNvPr>
          <p:cNvCxnSpPr>
            <a:cxnSpLocks/>
            <a:stCxn id="7" idx="0"/>
            <a:endCxn id="8" idx="2"/>
          </p:cNvCxnSpPr>
          <p:nvPr/>
        </p:nvCxnSpPr>
        <p:spPr>
          <a:xfrm flipV="1">
            <a:off x="8481349" y="2934230"/>
            <a:ext cx="0" cy="2044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构建分类网络模型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615881" y="1716450"/>
            <a:ext cx="5636654" cy="45243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构建网络模型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en-GB" altLang="zh-CN" sz="1600" b="1" dirty="0">
                <a:solidFill>
                  <a:srgbClr val="000080"/>
                </a:solidFill>
                <a:effectLst/>
              </a:rPr>
              <a:t>class </a:t>
            </a:r>
            <a:r>
              <a:rPr lang="en-GB" altLang="zh-CN" sz="1600" dirty="0" err="1"/>
              <a:t>PhonePriceModel</a:t>
            </a:r>
            <a:r>
              <a:rPr lang="en-GB" altLang="zh-CN" sz="1600" dirty="0"/>
              <a:t>(</a:t>
            </a:r>
            <a:r>
              <a:rPr lang="en-GB" altLang="zh-CN" sz="1600" dirty="0" err="1"/>
              <a:t>nn.Module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input_dim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output_dim</a:t>
            </a:r>
            <a:r>
              <a:rPr lang="en-GB" altLang="zh-CN" sz="1600" dirty="0"/>
              <a:t>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dirty="0">
                <a:solidFill>
                  <a:srgbClr val="000080"/>
                </a:solidFill>
                <a:effectLst/>
              </a:rPr>
              <a:t>super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PhonePriceModel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).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 err="1">
                <a:solidFill>
                  <a:srgbClr val="B200B2"/>
                </a:solidFill>
                <a:effectLst/>
              </a:rPr>
              <a:t>init</a:t>
            </a:r>
            <a:r>
              <a:rPr lang="en-GB" altLang="zh-CN" sz="1600" dirty="0">
                <a:solidFill>
                  <a:srgbClr val="B200B2"/>
                </a:solidFill>
                <a:effectLst/>
              </a:rPr>
              <a:t>__</a:t>
            </a:r>
            <a:r>
              <a:rPr lang="en-GB" altLang="zh-CN" sz="1600" dirty="0"/>
              <a:t>()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1.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第一层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: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输入为维度为 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20,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输出维度为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: 256</a:t>
            </a:r>
            <a:br>
              <a:rPr lang="en-US" altLang="zh-CN" sz="1600" i="1" dirty="0">
                <a:solidFill>
                  <a:srgbClr val="808080"/>
                </a:solidFill>
                <a:effectLst/>
              </a:rPr>
            </a:br>
            <a:r>
              <a:rPr lang="en-US" altLang="zh-CN" sz="16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.linear1 = </a:t>
            </a:r>
            <a:r>
              <a:rPr lang="en-GB" altLang="zh-CN" sz="1600" dirty="0" err="1"/>
              <a:t>nn.Linear</a:t>
            </a:r>
            <a:r>
              <a:rPr lang="en-GB" altLang="zh-CN" sz="1600" dirty="0"/>
              <a:t>(</a:t>
            </a:r>
            <a:r>
              <a:rPr lang="en-GB" altLang="zh-CN" sz="1600" dirty="0" err="1"/>
              <a:t>input_dim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256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2.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第二层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: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输入为维度为 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256,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输出维度为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: 128</a:t>
            </a:r>
            <a:br>
              <a:rPr lang="en-US" altLang="zh-CN" sz="1600" i="1" dirty="0">
                <a:solidFill>
                  <a:srgbClr val="808080"/>
                </a:solidFill>
                <a:effectLst/>
              </a:rPr>
            </a:br>
            <a:r>
              <a:rPr lang="en-US" altLang="zh-CN" sz="16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.linear2 = </a:t>
            </a:r>
            <a:r>
              <a:rPr lang="en-GB" altLang="zh-CN" sz="1600" dirty="0" err="1"/>
              <a:t>nn.Linear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256</a:t>
            </a:r>
            <a:r>
              <a:rPr lang="en-GB" altLang="zh-CN" sz="1600" dirty="0"/>
              <a:t>,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128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3.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第三层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: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输入为维度为 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128,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输出维度为</a:t>
            </a:r>
            <a:r>
              <a:rPr lang="en-US" altLang="zh-CN" sz="1600" i="1" dirty="0">
                <a:solidFill>
                  <a:srgbClr val="008001"/>
                </a:solidFill>
                <a:effectLst/>
              </a:rPr>
              <a:t>: 4</a:t>
            </a:r>
            <a:br>
              <a:rPr lang="en-US" altLang="zh-CN" sz="1600" i="1" dirty="0">
                <a:solidFill>
                  <a:srgbClr val="008001"/>
                </a:solidFill>
                <a:effectLst/>
              </a:rPr>
            </a:br>
            <a:r>
              <a:rPr lang="en-US" altLang="zh-CN" sz="16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.linear3 = </a:t>
            </a:r>
            <a:r>
              <a:rPr lang="en-GB" altLang="zh-CN" sz="1600" dirty="0" err="1"/>
              <a:t>nn.Linear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128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output_dim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600" dirty="0"/>
              <a:t>forward(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, x):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前向传播过程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600" dirty="0"/>
              <a:t>x = </a:t>
            </a:r>
            <a:r>
              <a:rPr lang="en-GB" altLang="zh-CN" sz="1600" dirty="0" err="1"/>
              <a:t>torch.relu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.linear1(x))</a:t>
            </a:r>
            <a:br>
              <a:rPr lang="en-GB" altLang="zh-CN" sz="1600" dirty="0"/>
            </a:br>
            <a:r>
              <a:rPr lang="en-GB" altLang="zh-CN" sz="1600" dirty="0"/>
              <a:t>        x = </a:t>
            </a:r>
            <a:r>
              <a:rPr lang="en-GB" altLang="zh-CN" sz="1600" dirty="0" err="1"/>
              <a:t>torch.relu</a:t>
            </a:r>
            <a:r>
              <a:rPr lang="en-GB" altLang="zh-CN" sz="1600" dirty="0"/>
              <a:t>(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.linear2(x))</a:t>
            </a:r>
            <a:br>
              <a:rPr lang="en-GB" altLang="zh-CN" sz="1600" dirty="0"/>
            </a:br>
            <a:r>
              <a:rPr lang="en-GB" altLang="zh-CN" sz="1600" dirty="0"/>
              <a:t>        output = </a:t>
            </a:r>
            <a:r>
              <a:rPr lang="en-GB" altLang="zh-CN" sz="1600" dirty="0">
                <a:solidFill>
                  <a:srgbClr val="94558D"/>
                </a:solidFill>
                <a:effectLst/>
              </a:rPr>
              <a:t>self</a:t>
            </a:r>
            <a:r>
              <a:rPr lang="en-GB" altLang="zh-CN" sz="1600" dirty="0"/>
              <a:t>.linear3(x)</a:t>
            </a:r>
            <a:br>
              <a:rPr lang="en-GB" altLang="zh-CN" sz="1600" dirty="0"/>
            </a:br>
            <a:r>
              <a:rPr lang="en-GB" altLang="zh-CN" sz="1600" dirty="0"/>
              <a:t>    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获取数据结果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600" b="1" dirty="0">
                <a:solidFill>
                  <a:srgbClr val="000080"/>
                </a:solidFill>
                <a:effectLst/>
              </a:rPr>
              <a:t>return </a:t>
            </a:r>
            <a:r>
              <a:rPr lang="en-GB" altLang="zh-CN" sz="1600" dirty="0"/>
              <a:t>output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构建分类网络模型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82320" y="1457271"/>
            <a:ext cx="10698800" cy="3317928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模型实例化：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70412" y="1644474"/>
            <a:ext cx="5636654" cy="1527469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600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sz="1600" dirty="0"/>
              <a:t>__name__ == </a:t>
            </a:r>
            <a:r>
              <a:rPr lang="en-GB" altLang="zh-CN" sz="1600" b="1" dirty="0">
                <a:solidFill>
                  <a:srgbClr val="008000"/>
                </a:solidFill>
                <a:effectLst/>
              </a:rPr>
              <a:t>'__main__'</a:t>
            </a:r>
            <a:r>
              <a:rPr lang="en-GB" altLang="zh-CN" sz="1600" dirty="0"/>
              <a:t>:</a:t>
            </a:r>
            <a:br>
              <a:rPr lang="en-GB" altLang="zh-CN" sz="1600" dirty="0"/>
            </a:br>
            <a:r>
              <a:rPr lang="en-GB" altLang="zh-CN" sz="1600" dirty="0"/>
              <a:t>    </a:t>
            </a:r>
            <a:r>
              <a:rPr lang="en-GB" altLang="zh-CN" sz="16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600" i="1" dirty="0">
                <a:solidFill>
                  <a:srgbClr val="008001"/>
                </a:solidFill>
                <a:effectLst/>
              </a:rPr>
              <a:t>模型实例化</a:t>
            </a:r>
            <a:br>
              <a:rPr lang="zh-CN" altLang="en-US" sz="1600" i="1" dirty="0">
                <a:solidFill>
                  <a:srgbClr val="808080"/>
                </a:solidFill>
                <a:effectLst/>
              </a:rPr>
            </a:br>
            <a:r>
              <a:rPr lang="zh-CN" altLang="en-US" sz="16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600" dirty="0"/>
              <a:t>model = </a:t>
            </a:r>
            <a:r>
              <a:rPr lang="en-GB" altLang="zh-CN" sz="1600" dirty="0" err="1"/>
              <a:t>PhonePriceModel</a:t>
            </a:r>
            <a:r>
              <a:rPr lang="en-GB" altLang="zh-CN" sz="1600" dirty="0"/>
              <a:t>(</a:t>
            </a:r>
            <a:r>
              <a:rPr lang="en-GB" altLang="zh-CN" sz="1600" dirty="0" err="1"/>
              <a:t>input_dim</a:t>
            </a:r>
            <a:r>
              <a:rPr lang="en-GB" altLang="zh-CN" sz="1600" dirty="0"/>
              <a:t>, </a:t>
            </a:r>
            <a:r>
              <a:rPr lang="en-GB" altLang="zh-CN" sz="1600" dirty="0" err="1"/>
              <a:t>class_num</a:t>
            </a:r>
            <a:r>
              <a:rPr lang="en-GB" altLang="zh-CN" sz="1600" dirty="0"/>
              <a:t>)</a:t>
            </a:r>
            <a:br>
              <a:rPr lang="en-GB" altLang="zh-CN" sz="1600" dirty="0"/>
            </a:br>
            <a:r>
              <a:rPr lang="en-GB" altLang="zh-CN" sz="1600" dirty="0"/>
              <a:t>    summary(</a:t>
            </a:r>
            <a:r>
              <a:rPr lang="en-GB" altLang="zh-CN" sz="1600" dirty="0" err="1"/>
              <a:t>model,</a:t>
            </a:r>
            <a:r>
              <a:rPr lang="en-GB" altLang="zh-CN" sz="1600" dirty="0" err="1">
                <a:solidFill>
                  <a:srgbClr val="660099"/>
                </a:solidFill>
                <a:effectLst/>
              </a:rPr>
              <a:t>input_size</a:t>
            </a:r>
            <a:r>
              <a:rPr lang="en-GB" altLang="zh-CN" sz="1600" dirty="0"/>
              <a:t>=(</a:t>
            </a:r>
            <a:r>
              <a:rPr lang="en-GB" altLang="zh-CN" sz="1600" dirty="0" err="1"/>
              <a:t>input_dim</a:t>
            </a:r>
            <a:r>
              <a:rPr lang="en-GB" altLang="zh-CN" sz="1600" dirty="0"/>
              <a:t>,),</a:t>
            </a:r>
            <a:r>
              <a:rPr lang="en-GB" altLang="zh-CN" sz="1600" dirty="0" err="1">
                <a:solidFill>
                  <a:srgbClr val="660099"/>
                </a:solidFill>
                <a:effectLst/>
              </a:rPr>
              <a:t>batch_size</a:t>
            </a:r>
            <a:r>
              <a:rPr lang="en-GB" altLang="zh-CN" sz="1600" dirty="0"/>
              <a:t>= </a:t>
            </a:r>
            <a:r>
              <a:rPr lang="en-GB" altLang="zh-CN" sz="1600" dirty="0">
                <a:solidFill>
                  <a:srgbClr val="0000FF"/>
                </a:solidFill>
                <a:effectLst/>
              </a:rPr>
              <a:t>16</a:t>
            </a:r>
            <a:r>
              <a:rPr lang="en-GB" altLang="zh-CN" sz="1600" dirty="0"/>
              <a:t>)</a:t>
            </a:r>
            <a:endParaRPr lang="en-US" altLang="zh-CN" sz="16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7" name="图片 6" descr="表格&#10;&#10;AI 生成的内容可能不正确。">
            <a:extLst>
              <a:ext uri="{FF2B5EF4-FFF2-40B4-BE49-F238E27FC236}">
                <a16:creationId xmlns:a16="http://schemas.microsoft.com/office/drawing/2014/main" id="{FE40562A-5EC6-5514-17BE-E598D9B695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888" y="3263844"/>
            <a:ext cx="5849702" cy="341323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模型训练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网络编写完成之后，需要编写训练函数。训练函数的固定流程：</a:t>
            </a:r>
            <a:r>
              <a:rPr lang="zh-CN" altLang="en-US" b="1" dirty="0">
                <a:solidFill>
                  <a:srgbClr val="333333"/>
                </a:solidFill>
                <a:latin typeface="Helvetica Neue"/>
              </a:rPr>
              <a:t>读取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输入数据、前向传播、计算损失、反向传播、更新参数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添加了记录损失并画图。使用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多分类交叉生损失函数、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SGD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优化方法。最终，将训练好的模型保存到磁盘。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94400" y="2261201"/>
            <a:ext cx="6994728" cy="4707890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US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模型训练过程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400" dirty="0"/>
              <a:t>train(</a:t>
            </a:r>
            <a:r>
              <a:rPr lang="en-GB" altLang="zh-CN" sz="1400" dirty="0" err="1"/>
              <a:t>train_dataset,input_dim,class_num</a:t>
            </a:r>
            <a:r>
              <a:rPr lang="en-GB" altLang="zh-CN" sz="1400" dirty="0"/>
              <a:t>,):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固定随机数种子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torch.manual_seed</a:t>
            </a:r>
            <a:r>
              <a:rPr lang="en-GB" altLang="zh-CN" sz="1400" dirty="0"/>
              <a:t>(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</a:t>
            </a:r>
            <a:r>
              <a:rPr lang="en-GB" altLang="zh-CN" sz="1400" dirty="0"/>
              <a:t>)</a:t>
            </a:r>
          </a:p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400" dirty="0"/>
              <a:t> </a:t>
            </a:r>
            <a:r>
              <a:rPr lang="en-US" altLang="en-GB" sz="1400" dirty="0"/>
              <a:t>   </a:t>
            </a:r>
            <a:r>
              <a:rPr lang="en-GB" altLang="zh-CN" sz="1400" i="1" dirty="0">
                <a:solidFill>
                  <a:srgbClr val="008001"/>
                </a:solidFill>
                <a:effectLst/>
                <a:sym typeface="+mn-ea"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  <a:sym typeface="+mn-ea"/>
              </a:rPr>
              <a:t>初始化数据加载器</a:t>
            </a:r>
            <a:br>
              <a:rPr lang="zh-CN" altLang="en-US" sz="1400" i="1" dirty="0">
                <a:solidFill>
                  <a:srgbClr val="808080"/>
                </a:solidFill>
                <a:effectLst/>
                <a:sym typeface="+mn-ea"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  <a:sym typeface="+mn-ea"/>
              </a:rPr>
              <a:t>    </a:t>
            </a:r>
            <a:r>
              <a:rPr lang="en-GB" altLang="zh-CN" sz="1400" dirty="0" err="1">
                <a:sym typeface="+mn-ea"/>
              </a:rPr>
              <a:t>dataloader</a:t>
            </a:r>
            <a:r>
              <a:rPr lang="en-GB" altLang="zh-CN" sz="1400" dirty="0">
                <a:sym typeface="+mn-ea"/>
              </a:rPr>
              <a:t> = </a:t>
            </a:r>
            <a:r>
              <a:rPr lang="en-GB" altLang="zh-CN" sz="1400" dirty="0" err="1">
                <a:sym typeface="+mn-ea"/>
              </a:rPr>
              <a:t>DataLoader</a:t>
            </a:r>
            <a:r>
              <a:rPr lang="en-GB" altLang="zh-CN" sz="1400" dirty="0">
                <a:sym typeface="+mn-ea"/>
              </a:rPr>
              <a:t>(</a:t>
            </a:r>
            <a:r>
              <a:rPr lang="en-GB" altLang="zh-CN" sz="1400" dirty="0" err="1">
                <a:sym typeface="+mn-ea"/>
              </a:rPr>
              <a:t>train_dataset</a:t>
            </a:r>
            <a:r>
              <a:rPr lang="en-GB" altLang="zh-CN" sz="1400" dirty="0">
                <a:sym typeface="+mn-ea"/>
              </a:rPr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  <a:sym typeface="+mn-ea"/>
              </a:rPr>
              <a:t>shuffle</a:t>
            </a:r>
            <a:r>
              <a:rPr lang="en-GB" altLang="zh-CN" sz="1400" dirty="0">
                <a:sym typeface="+mn-ea"/>
              </a:rPr>
              <a:t>=</a:t>
            </a:r>
            <a:r>
              <a:rPr lang="en-GB" altLang="zh-CN" sz="1400" b="1" dirty="0">
                <a:solidFill>
                  <a:srgbClr val="000080"/>
                </a:solidFill>
                <a:effectLst/>
                <a:sym typeface="+mn-ea"/>
              </a:rPr>
              <a:t>True</a:t>
            </a:r>
            <a:r>
              <a:rPr lang="en-GB" altLang="zh-CN" sz="1400" dirty="0">
                <a:sym typeface="+mn-ea"/>
              </a:rPr>
              <a:t>, </a:t>
            </a:r>
            <a:r>
              <a:rPr lang="en-GB" altLang="zh-CN" sz="1400" dirty="0" err="1">
                <a:solidFill>
                  <a:srgbClr val="660099"/>
                </a:solidFill>
                <a:effectLst/>
                <a:sym typeface="+mn-ea"/>
              </a:rPr>
              <a:t>batch_size</a:t>
            </a:r>
            <a:r>
              <a:rPr lang="en-GB" altLang="zh-CN" sz="1400" dirty="0">
                <a:sym typeface="+mn-ea"/>
              </a:rPr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  <a:sym typeface="+mn-ea"/>
              </a:rPr>
              <a:t>8</a:t>
            </a:r>
            <a:r>
              <a:rPr lang="en-GB" altLang="zh-CN" sz="1400" dirty="0">
                <a:sym typeface="+mn-ea"/>
              </a:rPr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初始化模型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model = </a:t>
            </a:r>
            <a:r>
              <a:rPr lang="en-GB" altLang="zh-CN" sz="1400" dirty="0" err="1"/>
              <a:t>PhonePriceModel</a:t>
            </a:r>
            <a:r>
              <a:rPr lang="en-GB" altLang="zh-CN" sz="1400" dirty="0"/>
              <a:t>(</a:t>
            </a:r>
            <a:r>
              <a:rPr lang="en-GB" altLang="zh-CN" sz="1400" dirty="0" err="1"/>
              <a:t>input_dim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class_num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损失函数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criterion = </a:t>
            </a:r>
            <a:r>
              <a:rPr lang="en-GB" altLang="zh-CN" sz="1400" dirty="0" err="1"/>
              <a:t>nn.CrossEntropyLoss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优化方法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optimizer = </a:t>
            </a:r>
            <a:r>
              <a:rPr lang="en-GB" altLang="zh-CN" sz="1400" dirty="0" err="1"/>
              <a:t>optim.SGD</a:t>
            </a:r>
            <a:r>
              <a:rPr lang="en-GB" altLang="zh-CN" sz="1400" dirty="0"/>
              <a:t>(</a:t>
            </a:r>
            <a:r>
              <a:rPr lang="en-GB" altLang="zh-CN" sz="1400" dirty="0" err="1"/>
              <a:t>model.parameters</a:t>
            </a:r>
            <a:r>
              <a:rPr lang="en-GB" altLang="zh-CN" sz="1400" dirty="0"/>
              <a:t>(),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lr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1e-3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训练轮数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num_epoch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50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编写训练函数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562916" y="939724"/>
            <a:ext cx="8918204" cy="569277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US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遍历每个轮次的数据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en-GB" altLang="zh-CN" sz="1400" b="1" dirty="0">
                <a:solidFill>
                  <a:srgbClr val="000080"/>
                </a:solidFill>
                <a:effectLst/>
              </a:rPr>
              <a:t>for </a:t>
            </a:r>
            <a:r>
              <a:rPr lang="en-GB" altLang="zh-CN" sz="1400" dirty="0" err="1"/>
              <a:t>epoch_idx</a:t>
            </a:r>
            <a:r>
              <a:rPr lang="en-GB" altLang="zh-CN" sz="1400" dirty="0"/>
              <a:t>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in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range</a:t>
            </a:r>
            <a:r>
              <a:rPr lang="en-GB" altLang="zh-CN" sz="1400" dirty="0"/>
              <a:t>(</a:t>
            </a:r>
            <a:r>
              <a:rPr lang="en-GB" altLang="zh-CN" sz="1400" dirty="0" err="1"/>
              <a:t>num_epoch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训练时间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start = </a:t>
            </a:r>
            <a:r>
              <a:rPr lang="en-GB" altLang="zh-CN" sz="1400" dirty="0" err="1"/>
              <a:t>time.time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计算损失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total_loss</a:t>
            </a:r>
            <a:r>
              <a:rPr lang="en-GB" altLang="zh-CN" sz="1400" dirty="0"/>
              <a:t> =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0.0</a:t>
            </a:r>
            <a:br>
              <a:rPr lang="en-GB" altLang="zh-CN" sz="1400" dirty="0">
                <a:solidFill>
                  <a:srgbClr val="0000FF"/>
                </a:solidFill>
                <a:effectLst/>
              </a:rPr>
            </a:br>
            <a:r>
              <a:rPr lang="en-GB" altLang="zh-CN" sz="1400" dirty="0">
                <a:solidFill>
                  <a:srgbClr val="0000FF"/>
                </a:solidFill>
                <a:effectLst/>
              </a:rPr>
              <a:t>    </a:t>
            </a:r>
            <a:r>
              <a:rPr lang="en-GB" altLang="zh-CN" sz="1400" dirty="0" err="1"/>
              <a:t>total_num</a:t>
            </a:r>
            <a:r>
              <a:rPr lang="en-GB" altLang="zh-CN" sz="1400" dirty="0"/>
              <a:t> = </a:t>
            </a:r>
            <a:r>
              <a:rPr lang="en-US" altLang="en-GB" sz="1400" dirty="0"/>
              <a:t>0</a:t>
            </a:r>
            <a:br>
              <a:rPr lang="en-GB" altLang="zh-CN" sz="1400" dirty="0">
                <a:solidFill>
                  <a:srgbClr val="0000FF"/>
                </a:solidFill>
                <a:effectLst/>
              </a:rPr>
            </a:br>
            <a:r>
              <a:rPr lang="en-GB" altLang="zh-CN" sz="1400" dirty="0">
                <a:solidFill>
                  <a:srgbClr val="008001"/>
                </a:solidFill>
                <a:effectLst/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遍历每个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batch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数据进行处理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for </a:t>
            </a:r>
            <a:r>
              <a:rPr lang="en-GB" altLang="zh-CN" sz="1400" dirty="0"/>
              <a:t>x, y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in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将数据送入网络中进行预测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/>
              <a:t>output = model(x)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计算损失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/>
              <a:t>loss = criterion(output, y)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梯度清零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optimizer.zero_grad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反向传播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loss.backward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参数更新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optimizer.step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损失计算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total_num</a:t>
            </a:r>
            <a:r>
              <a:rPr lang="en-GB" altLang="zh-CN" sz="1400" dirty="0"/>
              <a:t> +=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br>
              <a:rPr lang="en-GB" altLang="zh-CN" sz="1400" dirty="0">
                <a:solidFill>
                  <a:srgbClr val="0000FF"/>
                </a:solidFill>
                <a:effectLst/>
              </a:rPr>
            </a:br>
            <a:r>
              <a:rPr lang="en-GB" altLang="zh-CN" sz="1400" dirty="0">
                <a:solidFill>
                  <a:srgbClr val="0000FF"/>
                </a:solidFill>
                <a:effectLst/>
              </a:rPr>
              <a:t>        </a:t>
            </a:r>
            <a:r>
              <a:rPr lang="en-GB" altLang="zh-CN" sz="1400" dirty="0" err="1"/>
              <a:t>total_loss</a:t>
            </a:r>
            <a:r>
              <a:rPr lang="en-GB" altLang="zh-CN" sz="1400" dirty="0"/>
              <a:t> += </a:t>
            </a:r>
            <a:r>
              <a:rPr lang="en-GB" altLang="zh-CN" sz="1400" dirty="0" err="1"/>
              <a:t>loss.item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打印损失变换结果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'epoch: %4s loss: %.2f, time: %.2fs' </a:t>
            </a:r>
            <a:r>
              <a:rPr lang="en-GB" altLang="zh-CN" sz="1400" dirty="0"/>
              <a:t>%(</a:t>
            </a:r>
            <a:r>
              <a:rPr lang="en-GB" altLang="zh-CN" sz="1400" dirty="0" err="1"/>
              <a:t>epoch_idx</a:t>
            </a:r>
            <a:r>
              <a:rPr lang="en-GB" altLang="zh-CN" sz="1400" dirty="0"/>
              <a:t> +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total_loss</a:t>
            </a:r>
            <a:r>
              <a:rPr lang="en-GB" altLang="zh-CN" sz="1400" dirty="0"/>
              <a:t> / </a:t>
            </a:r>
            <a:r>
              <a:rPr lang="en-GB" altLang="zh-CN" sz="1400" dirty="0" err="1"/>
              <a:t>total_num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time.time</a:t>
            </a:r>
            <a:r>
              <a:rPr lang="en-GB" altLang="zh-CN" sz="1400" dirty="0"/>
              <a:t>() - start))</a:t>
            </a:r>
            <a:br>
              <a:rPr lang="en-GB" altLang="zh-CN" sz="1400" dirty="0"/>
            </a:b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模型保存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en-GB" altLang="zh-CN" sz="1400" dirty="0" err="1"/>
              <a:t>torch.save</a:t>
            </a:r>
            <a:r>
              <a:rPr lang="en-GB" altLang="zh-CN" sz="1400" dirty="0"/>
              <a:t>(</a:t>
            </a:r>
            <a:r>
              <a:rPr lang="en-GB" altLang="zh-CN" sz="1400" dirty="0" err="1"/>
              <a:t>model.state_dict</a:t>
            </a:r>
            <a:r>
              <a:rPr lang="en-GB" altLang="zh-CN" sz="1400" dirty="0"/>
              <a:t>(), 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'model/</a:t>
            </a:r>
            <a:r>
              <a:rPr lang="en-GB" altLang="zh-CN" sz="1400" b="1" dirty="0" err="1">
                <a:solidFill>
                  <a:srgbClr val="008000"/>
                </a:solidFill>
                <a:effectLst/>
              </a:rPr>
              <a:t>phone.pth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en-GB" altLang="zh-CN" sz="1400" dirty="0"/>
              <a:t>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模型训练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调用训练函数：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endParaRPr lang="en-US" altLang="zh-CN" dirty="0">
              <a:solidFill>
                <a:srgbClr val="333333"/>
              </a:solidFill>
              <a:latin typeface="Helvetica Neue"/>
            </a:endParaRPr>
          </a:p>
          <a:p>
            <a:pPr algn="l"/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训练结果如下所示：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1966" y="1766671"/>
            <a:ext cx="6994728" cy="1671291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获取数据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train_dataset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valid_dataset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input_dim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class_num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create_dataset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模型训练过程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train(</a:t>
            </a:r>
            <a:r>
              <a:rPr lang="en-GB" altLang="zh-CN" sz="1400" dirty="0" err="1"/>
              <a:t>train_dataset,input_dim,class_num</a:t>
            </a:r>
            <a:r>
              <a:rPr lang="en-GB" altLang="zh-CN" sz="1400" dirty="0"/>
              <a:t> 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1150" y="4078613"/>
            <a:ext cx="42545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编写评估函数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46600" y="1457271"/>
            <a:ext cx="10698800" cy="5400729"/>
          </a:xfrm>
        </p:spPr>
        <p:txBody>
          <a:bodyPr/>
          <a:lstStyle/>
          <a:p>
            <a:pPr algn="l"/>
            <a:r>
              <a:rPr lang="zh-CN" altLang="en-US" b="0" i="0" dirty="0">
                <a:effectLst/>
                <a:latin typeface="Roboto" panose="02000000000000000000" pitchFamily="2" charset="0"/>
              </a:rPr>
              <a:t>使用训练好的模型，对未知的样本的进行预测的过程。我们这里使用前面单独划分出来的验证集来进行评估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</a:t>
            </a:r>
            <a:endParaRPr lang="en-US" altLang="zh-CN" dirty="0">
              <a:solidFill>
                <a:srgbClr val="333333"/>
              </a:solidFill>
              <a:latin typeface="Helvetica Neue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95600" y="1975096"/>
            <a:ext cx="5467430" cy="4615815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</a:rPr>
              <a:t>def </a:t>
            </a:r>
            <a:r>
              <a:rPr lang="en-GB" altLang="zh-CN" sz="1400" dirty="0"/>
              <a:t>test(</a:t>
            </a:r>
            <a:r>
              <a:rPr lang="en-GB" altLang="zh-CN" sz="1400" dirty="0" err="1"/>
              <a:t>valid_dataset,input_dim,class_num</a:t>
            </a:r>
            <a:r>
              <a:rPr lang="en-GB" altLang="zh-CN" sz="1400" dirty="0"/>
              <a:t>):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加载模型和训练好的网络参数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model = </a:t>
            </a:r>
            <a:r>
              <a:rPr lang="en-GB" altLang="zh-CN" sz="1400" dirty="0" err="1"/>
              <a:t>PhonePriceModel</a:t>
            </a:r>
            <a:r>
              <a:rPr lang="en-GB" altLang="zh-CN" sz="1400" dirty="0"/>
              <a:t>(</a:t>
            </a:r>
            <a:r>
              <a:rPr lang="en-GB" altLang="zh-CN" sz="1400" dirty="0" err="1"/>
              <a:t>input_dim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class_num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dirty="0" err="1"/>
              <a:t>model.load_state_dict</a:t>
            </a:r>
            <a:r>
              <a:rPr lang="en-GB" altLang="zh-CN" sz="1400" dirty="0"/>
              <a:t>(</a:t>
            </a:r>
            <a:r>
              <a:rPr lang="en-GB" altLang="zh-CN" sz="1400" dirty="0" err="1"/>
              <a:t>torch.load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en-US" altLang="en-GB" sz="1400" b="1" dirty="0">
                <a:solidFill>
                  <a:srgbClr val="008000"/>
                </a:solidFill>
                <a:effectLst/>
              </a:rPr>
              <a:t>model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/</a:t>
            </a:r>
            <a:r>
              <a:rPr lang="en-GB" altLang="zh-CN" sz="1400" b="1" dirty="0" err="1">
                <a:solidFill>
                  <a:srgbClr val="008000"/>
                </a:solidFill>
                <a:effectLst/>
              </a:rPr>
              <a:t>phone.pth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</a:t>
            </a:r>
            <a:r>
              <a:rPr lang="en-GB" altLang="zh-CN" sz="1400" dirty="0"/>
              <a:t>))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构建加载器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(</a:t>
            </a:r>
            <a:r>
              <a:rPr lang="en-GB" altLang="zh-CN" sz="1400" dirty="0" err="1"/>
              <a:t>valid_dataset</a:t>
            </a:r>
            <a:r>
              <a:rPr lang="en-GB" altLang="zh-CN" sz="1400" dirty="0"/>
              <a:t>, </a:t>
            </a:r>
            <a:r>
              <a:rPr lang="en-GB" altLang="zh-CN" sz="1400" dirty="0" err="1">
                <a:solidFill>
                  <a:srgbClr val="660099"/>
                </a:solidFill>
                <a:effectLst/>
              </a:rPr>
              <a:t>batch_size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8</a:t>
            </a:r>
            <a:r>
              <a:rPr lang="en-GB" altLang="zh-CN" sz="1400" dirty="0"/>
              <a:t>, 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shuffle</a:t>
            </a:r>
            <a:r>
              <a:rPr lang="en-GB" altLang="zh-CN" sz="1400" dirty="0"/>
              <a:t>=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False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评估测试集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/>
              <a:t>correct = 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0</a:t>
            </a:r>
            <a:br>
              <a:rPr lang="en-GB" altLang="zh-CN" sz="1400" dirty="0">
                <a:solidFill>
                  <a:srgbClr val="0000FF"/>
                </a:solidFill>
                <a:effectLst/>
              </a:rPr>
            </a:br>
            <a:r>
              <a:rPr lang="en-GB" altLang="zh-CN" sz="1400" dirty="0">
                <a:solidFill>
                  <a:srgbClr val="0000FF"/>
                </a:solidFill>
                <a:effectLst/>
              </a:rPr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遍历测试集中的数据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for </a:t>
            </a:r>
            <a:r>
              <a:rPr lang="en-GB" altLang="zh-CN" sz="1400" dirty="0"/>
              <a:t>x, y </a:t>
            </a:r>
            <a:r>
              <a:rPr lang="en-GB" altLang="zh-CN" sz="1400" b="1" dirty="0">
                <a:solidFill>
                  <a:srgbClr val="000080"/>
                </a:solidFill>
                <a:effectLst/>
              </a:rPr>
              <a:t>in </a:t>
            </a:r>
            <a:r>
              <a:rPr lang="en-GB" altLang="zh-CN" sz="1400" dirty="0" err="1"/>
              <a:t>dataloader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>
                <a:solidFill>
                  <a:srgbClr val="008001"/>
                </a:solidFill>
              </a:rPr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将其送入网络中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/>
              <a:t>output = model(x)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获取类别结果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 err="1"/>
              <a:t>y_pred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torch.argmax</a:t>
            </a:r>
            <a:r>
              <a:rPr lang="en-GB" altLang="zh-CN" sz="1400" dirty="0"/>
              <a:t>(output, </a:t>
            </a:r>
            <a:r>
              <a:rPr lang="en-GB" altLang="zh-CN" sz="1400" dirty="0">
                <a:solidFill>
                  <a:srgbClr val="660099"/>
                </a:solidFill>
                <a:effectLst/>
              </a:rPr>
              <a:t>dim</a:t>
            </a:r>
            <a:r>
              <a:rPr lang="en-GB" altLang="zh-CN" sz="1400" dirty="0"/>
              <a:t>=</a:t>
            </a:r>
            <a:r>
              <a:rPr lang="en-GB" altLang="zh-CN" sz="1400" dirty="0">
                <a:solidFill>
                  <a:srgbClr val="0000FF"/>
                </a:solidFill>
                <a:effectLst/>
              </a:rPr>
              <a:t>1</a:t>
            </a:r>
            <a:r>
              <a:rPr lang="en-GB" altLang="zh-CN" sz="1400" dirty="0"/>
              <a:t>)</a:t>
            </a:r>
            <a:br>
              <a:rPr lang="en-GB" altLang="zh-CN" sz="1400" dirty="0"/>
            </a:br>
            <a:r>
              <a:rPr lang="en-GB" altLang="zh-CN" sz="1400" dirty="0"/>
              <a:t>    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获取预测正确的个数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    </a:t>
            </a:r>
            <a:r>
              <a:rPr lang="en-GB" altLang="zh-CN" sz="1400" dirty="0"/>
              <a:t>correct += (</a:t>
            </a:r>
            <a:r>
              <a:rPr lang="en-GB" altLang="zh-CN" sz="1400" dirty="0" err="1"/>
              <a:t>y_pred</a:t>
            </a:r>
            <a:r>
              <a:rPr lang="en-GB" altLang="zh-CN" sz="1400" dirty="0"/>
              <a:t> == y).sum()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求预测精度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>
                <a:solidFill>
                  <a:srgbClr val="000080"/>
                </a:solidFill>
                <a:effectLst/>
              </a:rPr>
              <a:t>print</a:t>
            </a:r>
            <a:r>
              <a:rPr lang="en-GB" altLang="zh-CN" sz="1400" dirty="0"/>
              <a:t>(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'Acc: %.5f' </a:t>
            </a:r>
            <a:r>
              <a:rPr lang="en-GB" altLang="zh-CN" sz="1400" dirty="0"/>
              <a:t>% (</a:t>
            </a:r>
            <a:r>
              <a:rPr lang="en-GB" altLang="zh-CN" sz="1400" dirty="0" err="1"/>
              <a:t>correct.item</a:t>
            </a:r>
            <a:r>
              <a:rPr lang="en-GB" altLang="zh-CN" sz="1400" dirty="0"/>
              <a:t>() / </a:t>
            </a:r>
            <a:r>
              <a:rPr lang="en-GB" altLang="zh-CN" sz="1400" dirty="0" err="1">
                <a:solidFill>
                  <a:srgbClr val="000080"/>
                </a:solidFill>
                <a:effectLst/>
              </a:rPr>
              <a:t>len</a:t>
            </a:r>
            <a:r>
              <a:rPr lang="en-GB" altLang="zh-CN" sz="1400" dirty="0"/>
              <a:t>(</a:t>
            </a:r>
            <a:r>
              <a:rPr lang="en-GB" altLang="zh-CN" sz="1400" dirty="0" err="1"/>
              <a:t>valid_dataset</a:t>
            </a:r>
            <a:r>
              <a:rPr lang="en-GB" altLang="zh-CN" sz="1400" dirty="0"/>
              <a:t>)))</a:t>
            </a:r>
            <a:endParaRPr lang="en-US" altLang="zh-CN" sz="1400" b="1" dirty="0">
              <a:solidFill>
                <a:srgbClr val="0000FF"/>
              </a:solidFill>
              <a:latin typeface="宋体" panose="02010600030101010101" pitchFamily="2" charset="-122"/>
              <a:ea typeface="阿里巴巴普惠体" panose="00020600040101010101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472467" y="5625531"/>
            <a:ext cx="3719533" cy="583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rgbClr val="FF0000"/>
                </a:solidFill>
              </a:rPr>
              <a:t>输出结果</a:t>
            </a:r>
            <a:r>
              <a:rPr lang="en-US" altLang="zh-CN" sz="1600" dirty="0">
                <a:solidFill>
                  <a:srgbClr val="FF0000"/>
                </a:solidFill>
              </a:rPr>
              <a:t>:</a:t>
            </a:r>
          </a:p>
          <a:p>
            <a:r>
              <a:rPr lang="en-US" altLang="zh-CN" sz="1600" dirty="0"/>
              <a:t>Acc: 0.64250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6462870" y="1974461"/>
            <a:ext cx="5467430" cy="1169551"/>
          </a:xfrm>
          <a:prstGeom prst="rect">
            <a:avLst/>
          </a:prstGeom>
          <a:solidFill>
            <a:srgbClr val="FFFFE4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spcBef>
                <a:spcPts val="360"/>
              </a:spcBef>
              <a:spcAft>
                <a:spcPts val="360"/>
              </a:spcAft>
            </a:pPr>
            <a:r>
              <a:rPr lang="en-GB" altLang="zh-CN" sz="1400" b="1" dirty="0">
                <a:solidFill>
                  <a:srgbClr val="000080"/>
                </a:solidFill>
                <a:effectLst/>
              </a:rPr>
              <a:t>if </a:t>
            </a:r>
            <a:r>
              <a:rPr lang="en-GB" altLang="zh-CN" sz="1400" dirty="0"/>
              <a:t>__name__ == </a:t>
            </a:r>
            <a:r>
              <a:rPr lang="en-GB" altLang="zh-CN" sz="1400" b="1" dirty="0">
                <a:solidFill>
                  <a:srgbClr val="008000"/>
                </a:solidFill>
                <a:effectLst/>
              </a:rPr>
              <a:t>'__main__'</a:t>
            </a:r>
            <a:r>
              <a:rPr lang="en-GB" altLang="zh-CN" sz="1400" dirty="0"/>
              <a:t>: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获取数据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dirty="0" err="1"/>
              <a:t>train_dataset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valid_dataset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input_dim</a:t>
            </a:r>
            <a:r>
              <a:rPr lang="en-GB" altLang="zh-CN" sz="1400" dirty="0"/>
              <a:t>, </a:t>
            </a:r>
            <a:r>
              <a:rPr lang="en-GB" altLang="zh-CN" sz="1400" dirty="0" err="1"/>
              <a:t>class_num</a:t>
            </a:r>
            <a:r>
              <a:rPr lang="en-GB" altLang="zh-CN" sz="1400" dirty="0"/>
              <a:t> = </a:t>
            </a:r>
            <a:r>
              <a:rPr lang="en-GB" altLang="zh-CN" sz="1400" dirty="0" err="1"/>
              <a:t>create_dataset</a:t>
            </a:r>
            <a:r>
              <a:rPr lang="en-GB" altLang="zh-CN" sz="1400" dirty="0"/>
              <a:t>()</a:t>
            </a:r>
            <a:br>
              <a:rPr lang="en-GB" altLang="zh-CN" sz="1400" dirty="0"/>
            </a:br>
            <a:r>
              <a:rPr lang="en-GB" altLang="zh-CN" sz="1400" dirty="0"/>
              <a:t>    </a:t>
            </a:r>
            <a:r>
              <a:rPr lang="en-GB" altLang="zh-CN" sz="1400" i="1" dirty="0">
                <a:solidFill>
                  <a:srgbClr val="008001"/>
                </a:solidFill>
                <a:effectLst/>
              </a:rPr>
              <a:t># </a:t>
            </a:r>
            <a:r>
              <a:rPr lang="zh-CN" altLang="en-US" sz="1400" i="1" dirty="0">
                <a:solidFill>
                  <a:srgbClr val="008001"/>
                </a:solidFill>
                <a:effectLst/>
              </a:rPr>
              <a:t>模型预测结果</a:t>
            </a:r>
            <a:br>
              <a:rPr lang="zh-CN" altLang="en-US" sz="1400" i="1" dirty="0">
                <a:solidFill>
                  <a:srgbClr val="808080"/>
                </a:solidFill>
                <a:effectLst/>
              </a:rPr>
            </a:br>
            <a:r>
              <a:rPr lang="zh-CN" altLang="en-US" sz="1400" i="1" dirty="0">
                <a:solidFill>
                  <a:srgbClr val="808080"/>
                </a:solidFill>
                <a:effectLst/>
              </a:rPr>
              <a:t>    </a:t>
            </a:r>
            <a:r>
              <a:rPr lang="en-GB" altLang="zh-CN" sz="1400" i="1" dirty="0">
                <a:effectLst/>
              </a:rPr>
              <a:t>test(</a:t>
            </a:r>
            <a:r>
              <a:rPr lang="en-GB" altLang="zh-CN" sz="1400" i="1" dirty="0" err="1">
                <a:effectLst/>
              </a:rPr>
              <a:t>valid_dataset,input_dim,class_num</a:t>
            </a:r>
            <a:r>
              <a:rPr lang="en-GB" altLang="zh-CN" sz="1400" i="1" dirty="0">
                <a:effectLst/>
              </a:rPr>
              <a:t>)</a:t>
            </a:r>
            <a:endParaRPr lang="en-US" altLang="zh-CN" sz="1400" b="1" dirty="0">
              <a:latin typeface="宋体" panose="02010600030101010101" pitchFamily="2" charset="-122"/>
              <a:ea typeface="阿里巴巴普惠体" panose="00020600040101010101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>
          <a:xfrm>
            <a:off x="4473442" y="956361"/>
            <a:ext cx="5760538" cy="939733"/>
          </a:xfrm>
        </p:spPr>
        <p:txBody>
          <a:bodyPr/>
          <a:lstStyle/>
          <a:p>
            <a:pPr algn="l"/>
            <a:r>
              <a:rPr lang="zh-CN" altLang="en-US" b="0" i="0" dirty="0">
                <a:effectLst/>
                <a:latin typeface="Roboto" panose="02000000000000000000" pitchFamily="2" charset="0"/>
              </a:rPr>
              <a:t>案例的整体流程是：</a:t>
            </a:r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43D041D-8AF9-B8D6-EE5E-C48A12F2B1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922" y="2129265"/>
            <a:ext cx="5353325" cy="3422826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5126584" y="763979"/>
            <a:ext cx="5760538" cy="5989122"/>
          </a:xfrm>
        </p:spPr>
        <p:txBody>
          <a:bodyPr/>
          <a:lstStyle/>
          <a:p>
            <a:pPr marL="0" indent="0" algn="l">
              <a:buNone/>
            </a:pP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模型</a:t>
            </a:r>
            <a:r>
              <a:rPr lang="zh-CN" altLang="en-US" dirty="0">
                <a:solidFill>
                  <a:srgbClr val="333333"/>
                </a:solidFill>
                <a:latin typeface="Helvetica Neue"/>
              </a:rPr>
              <a:t>调优方法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Helvetica Neue"/>
              </a:rPr>
              <a:t>: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1.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对输入数据进行标准化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2.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调整优化器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3.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调整学习率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4.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增加批量归一化层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BN1D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5.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增加网络层数、神经元个数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6.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增加训练轮数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7. 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使用</a:t>
            </a: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GPU</a:t>
            </a:r>
            <a:r>
              <a:rPr lang="zh-CN" altLang="en-US" b="1" i="0" dirty="0">
                <a:solidFill>
                  <a:srgbClr val="333333"/>
                </a:solidFill>
                <a:effectLst/>
                <a:latin typeface="Helvetica Neue"/>
              </a:rPr>
              <a:t>加速训练</a:t>
            </a:r>
          </a:p>
          <a:p>
            <a:pPr marL="0" indent="0" algn="l">
              <a:buNone/>
            </a:pPr>
            <a:r>
              <a:rPr lang="en-US" altLang="zh-CN" b="1" i="0" dirty="0">
                <a:solidFill>
                  <a:srgbClr val="333333"/>
                </a:solidFill>
                <a:effectLst/>
                <a:latin typeface="Helvetica Neue"/>
              </a:rPr>
              <a:t>8. ...</a:t>
            </a:r>
            <a:endParaRPr lang="zh-CN" altLang="en-US" b="1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12595</TotalTime>
  <Words>9367</Words>
  <Application>Microsoft Office PowerPoint</Application>
  <PresentationFormat>宽屏</PresentationFormat>
  <Paragraphs>899</Paragraphs>
  <Slides>108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108</vt:i4>
      </vt:variant>
    </vt:vector>
  </HeadingPairs>
  <TitlesOfParts>
    <vt:vector size="140" baseType="lpstr">
      <vt:lpstr>Alibaba PuHuiTi</vt:lpstr>
      <vt:lpstr>Helvetica Neue</vt:lpstr>
      <vt:lpstr>阿里巴巴普惠体</vt:lpstr>
      <vt:lpstr>阿里巴巴普惠体 2.0 45 Light</vt:lpstr>
      <vt:lpstr>阿里巴巴普惠体 B</vt:lpstr>
      <vt:lpstr>阿里巴巴普惠体 M</vt:lpstr>
      <vt:lpstr>阿里巴巴普惠体 R</vt:lpstr>
      <vt:lpstr>等线</vt:lpstr>
      <vt:lpstr>等线 Light</vt:lpstr>
      <vt:lpstr>黑体</vt:lpstr>
      <vt:lpstr>华文楷体</vt:lpstr>
      <vt:lpstr>宋体</vt:lpstr>
      <vt:lpstr>Arial</vt:lpstr>
      <vt:lpstr>Calibri</vt:lpstr>
      <vt:lpstr>Cambria Math</vt:lpstr>
      <vt:lpstr>Open Sans</vt:lpstr>
      <vt:lpstr>Roboto</vt:lpstr>
      <vt:lpstr>Segoe UI</vt:lpstr>
      <vt:lpstr>Times New Roman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神经网络基础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Mingxuan Yang</cp:lastModifiedBy>
  <cp:revision>2636</cp:revision>
  <dcterms:created xsi:type="dcterms:W3CDTF">2022-09-27T09:38:00Z</dcterms:created>
  <dcterms:modified xsi:type="dcterms:W3CDTF">2026-03-07T10:30:23Z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2052-12.1.0.20784</vt:lpwstr>
  </property>
  <property fmtid="{D5CDD505-2E9C-101B-9397-08002B2CF9AE}" pid="4" name="commondata">
    <vt:lpwstr>eyJoZGlkIjoiMDAzZmIwZjU2YjM3ZmIyZjYxNWQ1NTViMjdhYzBlM2EifQ==</vt:lpwstr>
  </property>
</Properties>
</file>